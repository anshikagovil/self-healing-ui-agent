
<file path=[Content_Types].xml><?xml version="1.0" encoding="utf-8"?>
<Types xmlns="http://schemas.openxmlformats.org/package/2006/content-types">
  <Default Extension="fntdata" ContentType="application/x-fontdata"/>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7" r:id="rId8"/>
  </p:sldIdLst>
  <p:sldSz cx="9144000" cy="5143500" type="screen16x9"/>
  <p:notesSz cx="5143500" cy="9144000"/>
  <p:embeddedFontLst>
    <p:embeddedFont>
      <p:font typeface="Inter" panose="020B0604020202020204" charset="0"/>
      <p:regular r:id="rId10"/>
    </p:embeddedFont>
    <p:embeddedFont>
      <p:font typeface="JetBrains Mono" panose="020B0604020202020204" charset="0"/>
      <p:regular r:id="rId11"/>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3" d="100"/>
          <a:sy n="113" d="100"/>
        </p:scale>
        <p:origin x="586"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779327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One sentence framing: "Our robots break every time a website changes. This makes them fix themselves."</a:t>
            </a:r>
          </a:p>
          <a:p>
            <a:r>
              <a:t>Point at the card on the right: the step was written against jobTitle, the release renamed it to positionTitle, and the robot found the new address, proved it on the page and carried on. Nothing in the script was edited.</a:t>
            </a:r>
          </a:p>
          <a:p>
            <a:r>
              <a:t>If someone asks cost up front: "Fifty-four lakh, pays back in about twelve months - slide seven." Then move on.</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This slide is for whoever in the room has never written a selector. The analogy that lands: a selector is a postal address for a button. The building did not move; the street got renamed.</a:t>
            </a:r>
          </a:p>
          <a:p>
            <a:r>
              <a:t>Walk the four cards left to right. The point is the handoffs, not any single number. The 4-12 hour detection window is the one that stings for ops: nobody is watching at two in the morning. These durations are typical, not measured on our estate - offer to instrument them.</a:t>
            </a:r>
          </a:p>
          <a:p>
            <a:r>
              <a:t>Scope: web robots on Selenium or Playwright, both selector languages, repaired at runtime. Nobody is asked to rewrite an automation. Desktop, mainframe and Citrix UIs are not in phase 1, and a control a vendor deleted is reported as gone, never invented.</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This is the pivot. Read it left to right: what the robot already has, what the heal pipeline does with it, and how the result is judged.</a:t>
            </a:r>
          </a:p>
          <a:p>
            <a:r>
              <a:t>Middle column: only step 3 needs an accelerator. Memory and pre-rank are free and deterministic, which is why this runs in six seconds and not sixty. The AI is handed a numbered list harvested from the live page and returns an index - it is structurally incapable of inventing a selector.</a:t>
            </a:r>
          </a:p>
          <a:p>
            <a:r>
              <a:t>Right column: the model advises, a number decides. Below 0.42 we refuse and fail loudly - today's behaviour, so we lose nothing. A locator that was never seen working is never auto-applied at any confidence.</a:t>
            </a:r>
          </a:p>
          <a:p>
            <a:r>
              <a:t>Do not use the model's name. It is not the point and it dates the deck.</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This is the commercial slide disguised as an architecture slide. One GPU, many robots: "We buy the intelligence once, not once per robot."</a:t>
            </a:r>
          </a:p>
          <a:p>
            <a:r>
              <a:t>Left box: the robot host keeps its existing script and gains one client file. No GPU, no model; rollout is a package install.</a:t>
            </a:r>
          </a:p>
          <a:p>
            <a:r>
              <a:t>The arrows between the boxes are the security story: fingerprints of about 45 elements cross the wire - never the page, never a screenshot, never the values the robot is typing - and the service answers with an index, never a selector. The robot binds and proves it on the live page itself.</a:t>
            </a:r>
          </a:p>
          <a:p>
            <a:r>
              <a:t>Right: every component is open source or open weights, on hardware we own. The repair store means a break one robot solves is free for every robot after it.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32-second video, three parts, all on the HR portal: on release 2025.1 the robot files a new hire unattended; on 2026.1 with healing off it stops at the renamed Position Title field; on 2026.1 with healing on, the card says what broke, what it found and how sure it is, and the hire completes.</a:t>
            </a:r>
          </a:p>
          <a:p>
            <a:r>
              <a:t>Design rules: business language, not stack traces; the control being used is ringed on screen; the overlay never intercepts a click, so it observes the run rather than changing it.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Pick the column that matches your room and lead with it. Do not read all eight rows.</a:t>
            </a:r>
          </a:p>
          <a:p>
            <a:r>
              <a:t>For operations: runs stop failing overnight for reasons nobody is awake to fix, and every decision the system made is written down.</a:t>
            </a:r>
          </a:p>
          <a:p>
            <a:r>
              <a:t>For engineering: no rewrite - one client file beside an existing script - and it works with both drivers and both selector languages already in use. The AI picks an index; the page proves it.</a:t>
            </a:r>
          </a:p>
          <a:p>
            <a:r>
              <a:t>The ₹87 L figure is the modelled saving from the ROI slide, not a measurement. The closing line is the strategic argument: the capability is ours, on our hardware, with no bill that grows as we succeed.</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Say the disclaimer before anyone asks. The engineering numbers are measured; these are a model. The dashed border is doing that job visually.
Invite challenge on the six assumptions directly: "If you think eight per cent is wrong, tell me your number and I will rerun this live." That invitation is what makes the slide credible.
The 85% heal rate is deliberately below our demo result. Do not quote 100% here.
Only the last line matters: ₹87 L a year recovered. Everything above is how we got there.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3.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0.png"/><Relationship Id="rId7"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2.png"/><Relationship Id="rId9" Type="http://schemas.openxmlformats.org/officeDocument/2006/relationships/image" Target="../media/image15.png"/></Relationships>
</file>

<file path=ppt/slides/_rels/slide4.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image" Target="../media/image26.png"/><Relationship Id="rId3" Type="http://schemas.openxmlformats.org/officeDocument/2006/relationships/image" Target="../media/image16.png"/><Relationship Id="rId7" Type="http://schemas.openxmlformats.org/officeDocument/2006/relationships/image" Target="../media/image20.png"/><Relationship Id="rId12" Type="http://schemas.openxmlformats.org/officeDocument/2006/relationships/image" Target="../media/image25.png"/><Relationship Id="rId2" Type="http://schemas.openxmlformats.org/officeDocument/2006/relationships/notesSlide" Target="../notesSlides/notesSlide4.xml"/><Relationship Id="rId16" Type="http://schemas.openxmlformats.org/officeDocument/2006/relationships/image" Target="../media/image29.png"/><Relationship Id="rId1" Type="http://schemas.openxmlformats.org/officeDocument/2006/relationships/slideLayout" Target="../slideLayouts/slideLayout1.xml"/><Relationship Id="rId6" Type="http://schemas.openxmlformats.org/officeDocument/2006/relationships/image" Target="../media/image19.png"/><Relationship Id="rId11" Type="http://schemas.openxmlformats.org/officeDocument/2006/relationships/image" Target="../media/image24.png"/><Relationship Id="rId5" Type="http://schemas.openxmlformats.org/officeDocument/2006/relationships/image" Target="../media/image18.png"/><Relationship Id="rId15" Type="http://schemas.openxmlformats.org/officeDocument/2006/relationships/image" Target="../media/image28.png"/><Relationship Id="rId10" Type="http://schemas.openxmlformats.org/officeDocument/2006/relationships/image" Target="../media/image23.png"/><Relationship Id="rId4" Type="http://schemas.openxmlformats.org/officeDocument/2006/relationships/image" Target="../media/image17.png"/><Relationship Id="rId9" Type="http://schemas.openxmlformats.org/officeDocument/2006/relationships/image" Target="../media/image22.png"/><Relationship Id="rId14" Type="http://schemas.openxmlformats.org/officeDocument/2006/relationships/image" Target="../media/image27.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30.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34.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32.png"/><Relationship Id="rId9" Type="http://schemas.openxmlformats.org/officeDocument/2006/relationships/image" Target="../media/image37.png"/></Relationships>
</file>

<file path=ppt/slides/_rels/slide7.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bar"/>
          <p:cNvSpPr/>
          <p:nvPr/>
        </p:nvSpPr>
        <p:spPr>
          <a:xfrm>
            <a:off x="0" y="0"/>
            <a:ext cx="9144000" cy="266730"/>
          </a:xfrm>
          <a:prstGeom prst="rect">
            <a:avLst/>
          </a:prstGeom>
          <a:solidFill>
            <a:srgbClr val="1A2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Header text"/>
          <p:cNvSpPr txBox="1"/>
          <p:nvPr/>
        </p:nvSpPr>
        <p:spPr>
          <a:xfrm>
            <a:off x="666598" y="80924"/>
            <a:ext cx="7616952" cy="182880"/>
          </a:xfrm>
          <a:prstGeom prst="rect">
            <a:avLst/>
          </a:prstGeom>
          <a:noFill/>
        </p:spPr>
        <p:txBody>
          <a:bodyPr wrap="square" lIns="0" tIns="0" rIns="0" bIns="0" anchor="t">
            <a:noAutofit/>
          </a:bodyPr>
          <a:lstStyle/>
          <a:p>
            <a:pPr algn="l"/>
            <a:r>
              <a:rPr sz="855" b="1" i="0" spc="21">
                <a:solidFill>
                  <a:srgbClr val="FFFFFF"/>
                </a:solidFill>
                <a:latin typeface="Inter"/>
              </a:rPr>
              <a:t>SAMSUNG SDS</a:t>
            </a:r>
            <a:r>
              <a:rPr sz="855" b="0" i="0" spc="21">
                <a:solidFill>
                  <a:srgbClr val="B9C6DA"/>
                </a:solidFill>
                <a:latin typeface="Inter"/>
              </a:rPr>
              <a:t>   |   </a:t>
            </a:r>
            <a:r>
              <a:rPr sz="855" b="1" i="0" spc="21">
                <a:solidFill>
                  <a:srgbClr val="B9C6DA"/>
                </a:solidFill>
                <a:latin typeface="Inter"/>
              </a:rPr>
              <a:t>AI USE CASE  ·  DEVELOPMENT APPROVAL REQUEST</a:t>
            </a:r>
          </a:p>
        </p:txBody>
      </p:sp>
      <p:sp>
        <p:nvSpPr>
          <p:cNvPr id="4" name="Template dash 1"/>
          <p:cNvSpPr/>
          <p:nvPr/>
        </p:nvSpPr>
        <p:spPr>
          <a:xfrm>
            <a:off x="666598" y="404805"/>
            <a:ext cx="300015" cy="38130"/>
          </a:xfrm>
          <a:prstGeom prst="rect">
            <a:avLst/>
          </a:prstGeom>
          <a:solidFill>
            <a:srgbClr val="1616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mplate dash 2"/>
          <p:cNvSpPr/>
          <p:nvPr/>
        </p:nvSpPr>
        <p:spPr>
          <a:xfrm>
            <a:off x="999988" y="404805"/>
            <a:ext cx="300015" cy="38130"/>
          </a:xfrm>
          <a:prstGeom prst="rect">
            <a:avLst/>
          </a:prstGeom>
          <a:solidFill>
            <a:srgbClr val="2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mplate dash 3"/>
          <p:cNvSpPr/>
          <p:nvPr/>
        </p:nvSpPr>
        <p:spPr>
          <a:xfrm>
            <a:off x="1333378" y="404805"/>
            <a:ext cx="300015" cy="38130"/>
          </a:xfrm>
          <a:prstGeom prst="rect">
            <a:avLst/>
          </a:prstGeom>
          <a:solidFill>
            <a:srgbClr val="5F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mplate dash 4"/>
          <p:cNvSpPr/>
          <p:nvPr/>
        </p:nvSpPr>
        <p:spPr>
          <a:xfrm>
            <a:off x="1666768" y="404805"/>
            <a:ext cx="300015" cy="38130"/>
          </a:xfrm>
          <a:prstGeom prst="rect">
            <a:avLst/>
          </a:prstGeom>
          <a:solidFill>
            <a:srgbClr val="C170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Confidential"/>
          <p:cNvSpPr txBox="1"/>
          <p:nvPr/>
        </p:nvSpPr>
        <p:spPr>
          <a:xfrm>
            <a:off x="3143250" y="4934102"/>
            <a:ext cx="2857500" cy="137160"/>
          </a:xfrm>
          <a:prstGeom prst="rect">
            <a:avLst/>
          </a:prstGeom>
          <a:noFill/>
        </p:spPr>
        <p:txBody>
          <a:bodyPr wrap="square" lIns="0" tIns="0" rIns="0" bIns="0" anchor="t">
            <a:noAutofit/>
          </a:bodyPr>
          <a:lstStyle/>
          <a:p>
            <a:pPr algn="ctr"/>
            <a:r>
              <a:rPr sz="606" b="0" i="0" spc="57">
                <a:solidFill>
                  <a:srgbClr val="7A7F8A"/>
                </a:solidFill>
                <a:latin typeface="Inter"/>
              </a:rPr>
              <a:t>Confidential</a:t>
            </a:r>
          </a:p>
        </p:txBody>
      </p:sp>
      <p:sp>
        <p:nvSpPr>
          <p:cNvPr id="9" name="Footer brand"/>
          <p:cNvSpPr txBox="1"/>
          <p:nvPr/>
        </p:nvSpPr>
        <p:spPr>
          <a:xfrm>
            <a:off x="5619902" y="4895698"/>
            <a:ext cx="2857500" cy="192024"/>
          </a:xfrm>
          <a:prstGeom prst="rect">
            <a:avLst/>
          </a:prstGeom>
          <a:noFill/>
        </p:spPr>
        <p:txBody>
          <a:bodyPr wrap="square" lIns="0" tIns="0" rIns="0" bIns="0" anchor="t">
            <a:noAutofit/>
          </a:bodyPr>
          <a:lstStyle/>
          <a:p>
            <a:pPr algn="r"/>
            <a:r>
              <a:rPr sz="855" b="1" i="0" spc="14">
                <a:solidFill>
                  <a:srgbClr val="1428A0"/>
                </a:solidFill>
                <a:latin typeface="Inter"/>
              </a:rPr>
              <a:t>SAMSUNG SDS</a:t>
            </a:r>
          </a:p>
        </p:txBody>
      </p:sp>
      <p:sp>
        <p:nvSpPr>
          <p:cNvPr id="10" name="Cover title"/>
          <p:cNvSpPr txBox="1"/>
          <p:nvPr/>
        </p:nvSpPr>
        <p:spPr>
          <a:xfrm>
            <a:off x="667512" y="1097280"/>
            <a:ext cx="4846320" cy="1188720"/>
          </a:xfrm>
          <a:prstGeom prst="rect">
            <a:avLst/>
          </a:prstGeom>
          <a:noFill/>
        </p:spPr>
        <p:txBody>
          <a:bodyPr wrap="square" lIns="0" tIns="0" rIns="0" bIns="0" anchor="t">
            <a:noAutofit/>
          </a:bodyPr>
          <a:lstStyle/>
          <a:p>
            <a:pPr algn="l">
              <a:lnSpc>
                <a:spcPct val="95000"/>
              </a:lnSpc>
            </a:pPr>
            <a:r>
              <a:rPr sz="4000" b="1" i="0" spc="-150" dirty="0">
                <a:solidFill>
                  <a:srgbClr val="1A1A1E"/>
                </a:solidFill>
                <a:latin typeface="Inter"/>
              </a:rPr>
              <a:t>Self-Healing</a:t>
            </a:r>
            <a:r>
              <a:rPr lang="en-US" sz="4000" b="1" i="0" spc="-150" dirty="0">
                <a:solidFill>
                  <a:srgbClr val="1A1A1E"/>
                </a:solidFill>
                <a:latin typeface="Inter"/>
              </a:rPr>
              <a:t> AI Agent</a:t>
            </a:r>
            <a:endParaRPr sz="4000" b="1" i="0" spc="-150" dirty="0">
              <a:solidFill>
                <a:srgbClr val="1A1A1E"/>
              </a:solidFill>
              <a:latin typeface="Inter"/>
            </a:endParaRPr>
          </a:p>
          <a:p>
            <a:pPr algn="l">
              <a:lnSpc>
                <a:spcPct val="95000"/>
              </a:lnSpc>
            </a:pPr>
            <a:r>
              <a:rPr lang="en-US" sz="4000" b="1" i="0" spc="-150" dirty="0">
                <a:solidFill>
                  <a:srgbClr val="1A1A1E"/>
                </a:solidFill>
                <a:latin typeface="Inter"/>
              </a:rPr>
              <a:t>for </a:t>
            </a:r>
            <a:r>
              <a:rPr sz="4000" b="1" i="0" spc="-150" dirty="0">
                <a:solidFill>
                  <a:srgbClr val="1A1A1E"/>
                </a:solidFill>
                <a:latin typeface="Inter"/>
              </a:rPr>
              <a:t>UI Automation</a:t>
            </a:r>
          </a:p>
        </p:txBody>
      </p:sp>
      <p:sp>
        <p:nvSpPr>
          <p:cNvPr id="11" name="Cover rule"/>
          <p:cNvSpPr/>
          <p:nvPr/>
        </p:nvSpPr>
        <p:spPr>
          <a:xfrm>
            <a:off x="667512" y="2395728"/>
            <a:ext cx="457200" cy="23774"/>
          </a:xfrm>
          <a:prstGeom prst="round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Cover subtitle"/>
          <p:cNvSpPr txBox="1"/>
          <p:nvPr/>
        </p:nvSpPr>
        <p:spPr>
          <a:xfrm>
            <a:off x="667511" y="2596896"/>
            <a:ext cx="5083049" cy="548640"/>
          </a:xfrm>
          <a:prstGeom prst="rect">
            <a:avLst/>
          </a:prstGeom>
          <a:noFill/>
        </p:spPr>
        <p:txBody>
          <a:bodyPr wrap="square" lIns="0" tIns="0" rIns="0" bIns="0" anchor="t">
            <a:noAutofit/>
          </a:bodyPr>
          <a:lstStyle/>
          <a:p>
            <a:pPr algn="l">
              <a:lnSpc>
                <a:spcPct val="125000"/>
              </a:lnSpc>
            </a:pPr>
            <a:r>
              <a:rPr lang="en-US" sz="1100" b="0" i="0" dirty="0">
                <a:solidFill>
                  <a:srgbClr val="4A5668"/>
                </a:solidFill>
                <a:latin typeface="Inter"/>
              </a:rPr>
              <a:t>Repairs broken UI selectors while the robot runs, on hardware we already own.</a:t>
            </a:r>
            <a:endParaRPr sz="1100" b="0" i="0" dirty="0">
              <a:solidFill>
                <a:srgbClr val="4A5668"/>
              </a:solidFill>
              <a:latin typeface="Inte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bar"/>
          <p:cNvSpPr/>
          <p:nvPr/>
        </p:nvSpPr>
        <p:spPr>
          <a:xfrm>
            <a:off x="0" y="0"/>
            <a:ext cx="9144000" cy="266730"/>
          </a:xfrm>
          <a:prstGeom prst="rect">
            <a:avLst/>
          </a:prstGeom>
          <a:solidFill>
            <a:srgbClr val="1A2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Header text"/>
          <p:cNvSpPr txBox="1"/>
          <p:nvPr/>
        </p:nvSpPr>
        <p:spPr>
          <a:xfrm>
            <a:off x="666598" y="80924"/>
            <a:ext cx="7616952" cy="182880"/>
          </a:xfrm>
          <a:prstGeom prst="rect">
            <a:avLst/>
          </a:prstGeom>
          <a:noFill/>
        </p:spPr>
        <p:txBody>
          <a:bodyPr wrap="square" lIns="0" tIns="0" rIns="0" bIns="0" anchor="t">
            <a:noAutofit/>
          </a:bodyPr>
          <a:lstStyle/>
          <a:p>
            <a:pPr algn="l"/>
            <a:r>
              <a:rPr sz="855" b="1" i="0" spc="21">
                <a:solidFill>
                  <a:srgbClr val="FFFFFF"/>
                </a:solidFill>
                <a:latin typeface="Inter"/>
              </a:rPr>
              <a:t>SAMSUNG SDS</a:t>
            </a:r>
            <a:r>
              <a:rPr sz="855" b="0" i="0" spc="21">
                <a:solidFill>
                  <a:srgbClr val="B9C6DA"/>
                </a:solidFill>
                <a:latin typeface="Inter"/>
              </a:rPr>
              <a:t>   |   </a:t>
            </a:r>
            <a:r>
              <a:rPr sz="855" b="1" i="0" spc="21">
                <a:solidFill>
                  <a:srgbClr val="B9C6DA"/>
                </a:solidFill>
                <a:latin typeface="Inter"/>
              </a:rPr>
              <a:t>USE CASE  ·  PROBLEM STATEMENT &amp; SCOPE</a:t>
            </a:r>
          </a:p>
        </p:txBody>
      </p:sp>
      <p:sp>
        <p:nvSpPr>
          <p:cNvPr id="4" name="Template dash 1"/>
          <p:cNvSpPr/>
          <p:nvPr/>
        </p:nvSpPr>
        <p:spPr>
          <a:xfrm>
            <a:off x="666598" y="404805"/>
            <a:ext cx="300015" cy="38130"/>
          </a:xfrm>
          <a:prstGeom prst="rect">
            <a:avLst/>
          </a:prstGeom>
          <a:solidFill>
            <a:srgbClr val="1616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mplate dash 2"/>
          <p:cNvSpPr/>
          <p:nvPr/>
        </p:nvSpPr>
        <p:spPr>
          <a:xfrm>
            <a:off x="999988" y="404805"/>
            <a:ext cx="300015" cy="38130"/>
          </a:xfrm>
          <a:prstGeom prst="rect">
            <a:avLst/>
          </a:prstGeom>
          <a:solidFill>
            <a:srgbClr val="2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mplate dash 3"/>
          <p:cNvSpPr/>
          <p:nvPr/>
        </p:nvSpPr>
        <p:spPr>
          <a:xfrm>
            <a:off x="1333378" y="404805"/>
            <a:ext cx="300015" cy="38130"/>
          </a:xfrm>
          <a:prstGeom prst="rect">
            <a:avLst/>
          </a:prstGeom>
          <a:solidFill>
            <a:srgbClr val="5F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mplate dash 4"/>
          <p:cNvSpPr/>
          <p:nvPr/>
        </p:nvSpPr>
        <p:spPr>
          <a:xfrm>
            <a:off x="1666768" y="404805"/>
            <a:ext cx="300015" cy="38130"/>
          </a:xfrm>
          <a:prstGeom prst="rect">
            <a:avLst/>
          </a:prstGeom>
          <a:solidFill>
            <a:srgbClr val="C170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Confidential"/>
          <p:cNvSpPr txBox="1"/>
          <p:nvPr/>
        </p:nvSpPr>
        <p:spPr>
          <a:xfrm>
            <a:off x="3143250" y="4934102"/>
            <a:ext cx="2857500" cy="137160"/>
          </a:xfrm>
          <a:prstGeom prst="rect">
            <a:avLst/>
          </a:prstGeom>
          <a:noFill/>
        </p:spPr>
        <p:txBody>
          <a:bodyPr wrap="square" lIns="0" tIns="0" rIns="0" bIns="0" anchor="t">
            <a:noAutofit/>
          </a:bodyPr>
          <a:lstStyle/>
          <a:p>
            <a:pPr algn="ctr"/>
            <a:r>
              <a:rPr sz="606" b="0" i="0" spc="57">
                <a:solidFill>
                  <a:srgbClr val="7A7F8A"/>
                </a:solidFill>
                <a:latin typeface="Inter"/>
              </a:rPr>
              <a:t>Confidential</a:t>
            </a:r>
          </a:p>
        </p:txBody>
      </p:sp>
      <p:sp>
        <p:nvSpPr>
          <p:cNvPr id="9" name="Page number"/>
          <p:cNvSpPr txBox="1"/>
          <p:nvPr/>
        </p:nvSpPr>
        <p:spPr>
          <a:xfrm>
            <a:off x="7315200" y="4753051"/>
            <a:ext cx="1161288" cy="109728"/>
          </a:xfrm>
          <a:prstGeom prst="rect">
            <a:avLst/>
          </a:prstGeom>
          <a:noFill/>
        </p:spPr>
        <p:txBody>
          <a:bodyPr wrap="square" lIns="0" tIns="0" rIns="0" bIns="0" anchor="t">
            <a:noAutofit/>
          </a:bodyPr>
          <a:lstStyle/>
          <a:p>
            <a:pPr algn="r"/>
            <a:r>
              <a:rPr sz="534" b="0" i="0" spc="78">
                <a:solidFill>
                  <a:srgbClr val="7A7F8A"/>
                </a:solidFill>
                <a:latin typeface="Inter"/>
              </a:rPr>
              <a:t>PAGE 02 / 07</a:t>
            </a:r>
          </a:p>
        </p:txBody>
      </p:sp>
      <p:sp>
        <p:nvSpPr>
          <p:cNvPr id="10" name="Footer brand"/>
          <p:cNvSpPr txBox="1"/>
          <p:nvPr/>
        </p:nvSpPr>
        <p:spPr>
          <a:xfrm>
            <a:off x="5619902" y="4895698"/>
            <a:ext cx="2857500" cy="192024"/>
          </a:xfrm>
          <a:prstGeom prst="rect">
            <a:avLst/>
          </a:prstGeom>
          <a:noFill/>
        </p:spPr>
        <p:txBody>
          <a:bodyPr wrap="square" lIns="0" tIns="0" rIns="0" bIns="0" anchor="t">
            <a:noAutofit/>
          </a:bodyPr>
          <a:lstStyle/>
          <a:p>
            <a:pPr algn="r"/>
            <a:r>
              <a:rPr sz="855" b="1" i="0" spc="14">
                <a:solidFill>
                  <a:srgbClr val="1428A0"/>
                </a:solidFill>
                <a:latin typeface="Inter"/>
              </a:rPr>
              <a:t>SAMSUNG SDS</a:t>
            </a:r>
          </a:p>
        </p:txBody>
      </p:sp>
      <p:sp>
        <p:nvSpPr>
          <p:cNvPr id="11" name="Title"/>
          <p:cNvSpPr txBox="1"/>
          <p:nvPr/>
        </p:nvSpPr>
        <p:spPr>
          <a:xfrm>
            <a:off x="667512" y="548640"/>
            <a:ext cx="7808976" cy="384048"/>
          </a:xfrm>
          <a:prstGeom prst="rect">
            <a:avLst/>
          </a:prstGeom>
          <a:noFill/>
        </p:spPr>
        <p:txBody>
          <a:bodyPr wrap="square" lIns="0" tIns="0" rIns="0" bIns="0" anchor="t">
            <a:noAutofit/>
          </a:bodyPr>
          <a:lstStyle/>
          <a:p>
            <a:pPr algn="l"/>
            <a:r>
              <a:rPr lang="en-US" sz="2000" b="1" i="0" spc="-60" dirty="0">
                <a:solidFill>
                  <a:srgbClr val="1A1A1E"/>
                </a:solidFill>
                <a:latin typeface="Inter"/>
              </a:rPr>
              <a:t>Even a minor UI change can disrupt an entire automation.</a:t>
            </a:r>
            <a:endParaRPr sz="2000" b="1" i="0" spc="-60" dirty="0">
              <a:solidFill>
                <a:srgbClr val="1A1A1E"/>
              </a:solidFill>
              <a:latin typeface="Inter"/>
            </a:endParaRPr>
          </a:p>
        </p:txBody>
      </p:sp>
      <p:sp>
        <p:nvSpPr>
          <p:cNvPr id="12" name="Subtitle"/>
          <p:cNvSpPr txBox="1"/>
          <p:nvPr/>
        </p:nvSpPr>
        <p:spPr>
          <a:xfrm>
            <a:off x="667512" y="941832"/>
            <a:ext cx="7808976" cy="201168"/>
          </a:xfrm>
          <a:prstGeom prst="rect">
            <a:avLst/>
          </a:prstGeom>
          <a:noFill/>
        </p:spPr>
        <p:txBody>
          <a:bodyPr wrap="square" lIns="0" tIns="0" rIns="0" bIns="0" anchor="t">
            <a:noAutofit/>
          </a:bodyPr>
          <a:lstStyle/>
          <a:p>
            <a:pPr algn="l"/>
            <a:r>
              <a:rPr sz="950" b="0" i="0" dirty="0">
                <a:solidFill>
                  <a:srgbClr val="4A5668"/>
                </a:solidFill>
                <a:latin typeface="Inter"/>
              </a:rPr>
              <a:t>A renamed field stops the robot, even though the field is still there.</a:t>
            </a:r>
          </a:p>
        </p:txBody>
      </p:sp>
      <p:sp>
        <p:nvSpPr>
          <p:cNvPr id="13" name="TextBox 12"/>
          <p:cNvSpPr txBox="1"/>
          <p:nvPr/>
        </p:nvSpPr>
        <p:spPr>
          <a:xfrm>
            <a:off x="667512" y="1276685"/>
            <a:ext cx="5687568" cy="177211"/>
          </a:xfrm>
          <a:prstGeom prst="rect">
            <a:avLst/>
          </a:prstGeom>
          <a:noFill/>
        </p:spPr>
        <p:txBody>
          <a:bodyPr wrap="square" lIns="0" tIns="0" rIns="0" bIns="0" anchor="t">
            <a:noAutofit/>
          </a:bodyPr>
          <a:lstStyle/>
          <a:p>
            <a:pPr algn="l"/>
            <a:r>
              <a:rPr sz="900" b="1" i="0" spc="90" dirty="0">
                <a:solidFill>
                  <a:schemeClr val="accent1">
                    <a:lumMod val="75000"/>
                  </a:schemeClr>
                </a:solidFill>
                <a:latin typeface="Inter"/>
              </a:rPr>
              <a:t>ONE BROKEN SELECTOR, FIXED BY HAND</a:t>
            </a:r>
          </a:p>
        </p:txBody>
      </p:sp>
      <p:sp>
        <p:nvSpPr>
          <p:cNvPr id="14" name="Rounded Rectangle 13"/>
          <p:cNvSpPr/>
          <p:nvPr/>
        </p:nvSpPr>
        <p:spPr>
          <a:xfrm>
            <a:off x="667512" y="1517904"/>
            <a:ext cx="1828800" cy="932688"/>
          </a:xfrm>
          <a:prstGeom prst="roundRect">
            <a:avLst>
              <a:gd name="adj" fmla="val 6000"/>
            </a:avLst>
          </a:prstGeom>
          <a:solidFill>
            <a:srgbClr val="F4F6FA"/>
          </a:solidFill>
          <a:ln w="762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813816" y="1664208"/>
            <a:ext cx="347472" cy="347472"/>
          </a:xfrm>
          <a:prstGeom prst="ellipse">
            <a:avLst/>
          </a:prstGeom>
          <a:solidFill>
            <a:srgbClr val="C170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 name="Picture 15" descr="LuSiren_w.png"/>
          <p:cNvPicPr>
            <a:picLocks noChangeAspect="1"/>
          </p:cNvPicPr>
          <p:nvPr/>
        </p:nvPicPr>
        <p:blipFill>
          <a:blip r:embed="rId3"/>
          <a:stretch>
            <a:fillRect/>
          </a:stretch>
        </p:blipFill>
        <p:spPr>
          <a:xfrm>
            <a:off x="897209" y="1747601"/>
            <a:ext cx="180685" cy="180685"/>
          </a:xfrm>
          <a:prstGeom prst="rect">
            <a:avLst/>
          </a:prstGeom>
        </p:spPr>
      </p:pic>
      <p:sp>
        <p:nvSpPr>
          <p:cNvPr id="17" name="TextBox 16"/>
          <p:cNvSpPr txBox="1"/>
          <p:nvPr/>
        </p:nvSpPr>
        <p:spPr>
          <a:xfrm>
            <a:off x="1252728" y="1700784"/>
            <a:ext cx="1097280" cy="182880"/>
          </a:xfrm>
          <a:prstGeom prst="rect">
            <a:avLst/>
          </a:prstGeom>
          <a:noFill/>
        </p:spPr>
        <p:txBody>
          <a:bodyPr wrap="square" lIns="0" tIns="0" rIns="0" bIns="0" anchor="t">
            <a:noAutofit/>
          </a:bodyPr>
          <a:lstStyle/>
          <a:p>
            <a:pPr algn="l"/>
            <a:r>
              <a:rPr sz="1150" b="1" i="0">
                <a:solidFill>
                  <a:srgbClr val="1A1A1E"/>
                </a:solidFill>
                <a:latin typeface="Inter"/>
              </a:rPr>
              <a:t>Failure</a:t>
            </a:r>
          </a:p>
        </p:txBody>
      </p:sp>
      <p:sp>
        <p:nvSpPr>
          <p:cNvPr id="18" name="TextBox 17"/>
          <p:cNvSpPr txBox="1"/>
          <p:nvPr/>
        </p:nvSpPr>
        <p:spPr>
          <a:xfrm>
            <a:off x="2039112" y="1700784"/>
            <a:ext cx="310896" cy="146304"/>
          </a:xfrm>
          <a:prstGeom prst="rect">
            <a:avLst/>
          </a:prstGeom>
          <a:noFill/>
        </p:spPr>
        <p:txBody>
          <a:bodyPr wrap="square" lIns="0" tIns="0" rIns="0" bIns="0" anchor="t">
            <a:noAutofit/>
          </a:bodyPr>
          <a:lstStyle/>
          <a:p>
            <a:pPr algn="r"/>
            <a:r>
              <a:rPr sz="650" b="1" i="0">
                <a:solidFill>
                  <a:srgbClr val="9A5620"/>
                </a:solidFill>
                <a:latin typeface="JetBrains Mono"/>
              </a:rPr>
              <a:t>01</a:t>
            </a:r>
          </a:p>
        </p:txBody>
      </p:sp>
      <p:sp>
        <p:nvSpPr>
          <p:cNvPr id="20" name="TextBox 19"/>
          <p:cNvSpPr txBox="1"/>
          <p:nvPr/>
        </p:nvSpPr>
        <p:spPr>
          <a:xfrm>
            <a:off x="813816" y="2103120"/>
            <a:ext cx="1536192" cy="256032"/>
          </a:xfrm>
          <a:prstGeom prst="rect">
            <a:avLst/>
          </a:prstGeom>
          <a:noFill/>
        </p:spPr>
        <p:txBody>
          <a:bodyPr wrap="square" lIns="0" tIns="0" rIns="0" bIns="0" anchor="t">
            <a:noAutofit/>
          </a:bodyPr>
          <a:lstStyle/>
          <a:p>
            <a:pPr algn="l"/>
            <a:r>
              <a:rPr sz="1500" b="1" i="0" spc="-20" dirty="0">
                <a:solidFill>
                  <a:srgbClr val="C1702D"/>
                </a:solidFill>
                <a:latin typeface="Inter"/>
              </a:rPr>
              <a:t>4</a:t>
            </a:r>
            <a:r>
              <a:rPr lang="en-US" sz="1500" b="1" i="0" spc="-20" dirty="0">
                <a:solidFill>
                  <a:srgbClr val="C1702D"/>
                </a:solidFill>
                <a:latin typeface="Inter"/>
              </a:rPr>
              <a:t>-8</a:t>
            </a:r>
            <a:r>
              <a:rPr sz="1500" b="1" i="0" spc="-20" dirty="0">
                <a:solidFill>
                  <a:srgbClr val="C1702D"/>
                </a:solidFill>
                <a:latin typeface="Inter"/>
              </a:rPr>
              <a:t> h</a:t>
            </a:r>
            <a:r>
              <a:rPr sz="800" b="0" i="0" dirty="0">
                <a:solidFill>
                  <a:srgbClr val="5A6472"/>
                </a:solidFill>
                <a:latin typeface="Inter"/>
              </a:rPr>
              <a:t>  to notice</a:t>
            </a:r>
          </a:p>
        </p:txBody>
      </p:sp>
      <p:pic>
        <p:nvPicPr>
          <p:cNvPr id="21" name="Picture 20" descr="LuArrowRight_m.png"/>
          <p:cNvPicPr>
            <a:picLocks noChangeAspect="1"/>
          </p:cNvPicPr>
          <p:nvPr/>
        </p:nvPicPr>
        <p:blipFill>
          <a:blip r:embed="rId4"/>
          <a:stretch>
            <a:fillRect/>
          </a:stretch>
        </p:blipFill>
        <p:spPr>
          <a:xfrm>
            <a:off x="2514600" y="1920240"/>
            <a:ext cx="128016" cy="128016"/>
          </a:xfrm>
          <a:prstGeom prst="rect">
            <a:avLst/>
          </a:prstGeom>
        </p:spPr>
      </p:pic>
      <p:sp>
        <p:nvSpPr>
          <p:cNvPr id="22" name="Rounded Rectangle 21"/>
          <p:cNvSpPr/>
          <p:nvPr/>
        </p:nvSpPr>
        <p:spPr>
          <a:xfrm>
            <a:off x="2660904" y="1517904"/>
            <a:ext cx="1828800" cy="932688"/>
          </a:xfrm>
          <a:prstGeom prst="roundRect">
            <a:avLst>
              <a:gd name="adj" fmla="val 6000"/>
            </a:avLst>
          </a:prstGeom>
          <a:solidFill>
            <a:srgbClr val="F4F6FA"/>
          </a:solidFill>
          <a:ln w="762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2807208" y="1664208"/>
            <a:ext cx="347472" cy="347472"/>
          </a:xfrm>
          <a:prstGeom prst="ellipse">
            <a:avLst/>
          </a:prstGeom>
          <a:solidFill>
            <a:srgbClr val="C170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4" name="Picture 23" descr="LuSearch_w.png"/>
          <p:cNvPicPr>
            <a:picLocks noChangeAspect="1"/>
          </p:cNvPicPr>
          <p:nvPr/>
        </p:nvPicPr>
        <p:blipFill>
          <a:blip r:embed="rId5"/>
          <a:stretch>
            <a:fillRect/>
          </a:stretch>
        </p:blipFill>
        <p:spPr>
          <a:xfrm>
            <a:off x="2890601" y="1747601"/>
            <a:ext cx="180685" cy="180685"/>
          </a:xfrm>
          <a:prstGeom prst="rect">
            <a:avLst/>
          </a:prstGeom>
        </p:spPr>
      </p:pic>
      <p:sp>
        <p:nvSpPr>
          <p:cNvPr id="25" name="TextBox 24"/>
          <p:cNvSpPr txBox="1"/>
          <p:nvPr/>
        </p:nvSpPr>
        <p:spPr>
          <a:xfrm>
            <a:off x="3246120" y="1700784"/>
            <a:ext cx="1097280" cy="182880"/>
          </a:xfrm>
          <a:prstGeom prst="rect">
            <a:avLst/>
          </a:prstGeom>
          <a:noFill/>
        </p:spPr>
        <p:txBody>
          <a:bodyPr wrap="square" lIns="0" tIns="0" rIns="0" bIns="0" anchor="t">
            <a:noAutofit/>
          </a:bodyPr>
          <a:lstStyle/>
          <a:p>
            <a:pPr algn="l"/>
            <a:r>
              <a:rPr sz="1150" b="1" i="0">
                <a:solidFill>
                  <a:srgbClr val="1A1A1E"/>
                </a:solidFill>
                <a:latin typeface="Inter"/>
              </a:rPr>
              <a:t>Triage</a:t>
            </a:r>
          </a:p>
        </p:txBody>
      </p:sp>
      <p:sp>
        <p:nvSpPr>
          <p:cNvPr id="26" name="TextBox 25"/>
          <p:cNvSpPr txBox="1"/>
          <p:nvPr/>
        </p:nvSpPr>
        <p:spPr>
          <a:xfrm>
            <a:off x="4032504" y="1700784"/>
            <a:ext cx="310896" cy="146304"/>
          </a:xfrm>
          <a:prstGeom prst="rect">
            <a:avLst/>
          </a:prstGeom>
          <a:noFill/>
        </p:spPr>
        <p:txBody>
          <a:bodyPr wrap="square" lIns="0" tIns="0" rIns="0" bIns="0" anchor="t">
            <a:noAutofit/>
          </a:bodyPr>
          <a:lstStyle/>
          <a:p>
            <a:pPr algn="r"/>
            <a:r>
              <a:rPr sz="650" b="1" i="0">
                <a:solidFill>
                  <a:srgbClr val="9A5620"/>
                </a:solidFill>
                <a:latin typeface="JetBrains Mono"/>
              </a:rPr>
              <a:t>02</a:t>
            </a:r>
          </a:p>
        </p:txBody>
      </p:sp>
      <p:sp>
        <p:nvSpPr>
          <p:cNvPr id="28" name="TextBox 27"/>
          <p:cNvSpPr txBox="1"/>
          <p:nvPr/>
        </p:nvSpPr>
        <p:spPr>
          <a:xfrm>
            <a:off x="2807208" y="2103120"/>
            <a:ext cx="1536192" cy="256032"/>
          </a:xfrm>
          <a:prstGeom prst="rect">
            <a:avLst/>
          </a:prstGeom>
          <a:noFill/>
        </p:spPr>
        <p:txBody>
          <a:bodyPr wrap="square" lIns="0" tIns="0" rIns="0" bIns="0" anchor="t">
            <a:noAutofit/>
          </a:bodyPr>
          <a:lstStyle/>
          <a:p>
            <a:pPr algn="l"/>
            <a:r>
              <a:rPr lang="en-US" sz="1500" b="1" i="0" spc="-20" dirty="0">
                <a:solidFill>
                  <a:srgbClr val="C1702D"/>
                </a:solidFill>
                <a:latin typeface="Inter"/>
              </a:rPr>
              <a:t>30-</a:t>
            </a:r>
            <a:r>
              <a:rPr sz="1500" b="1" i="0" spc="-20" dirty="0">
                <a:solidFill>
                  <a:srgbClr val="C1702D"/>
                </a:solidFill>
                <a:latin typeface="Inter"/>
              </a:rPr>
              <a:t>45 min</a:t>
            </a:r>
            <a:r>
              <a:rPr sz="800" b="0" i="0" dirty="0">
                <a:solidFill>
                  <a:srgbClr val="5A6472"/>
                </a:solidFill>
                <a:latin typeface="Inter"/>
              </a:rPr>
              <a:t>  to diagnose</a:t>
            </a:r>
          </a:p>
        </p:txBody>
      </p:sp>
      <p:pic>
        <p:nvPicPr>
          <p:cNvPr id="29" name="Picture 28" descr="LuArrowRight_m.png"/>
          <p:cNvPicPr>
            <a:picLocks noChangeAspect="1"/>
          </p:cNvPicPr>
          <p:nvPr/>
        </p:nvPicPr>
        <p:blipFill>
          <a:blip r:embed="rId4"/>
          <a:stretch>
            <a:fillRect/>
          </a:stretch>
        </p:blipFill>
        <p:spPr>
          <a:xfrm>
            <a:off x="4507992" y="1920240"/>
            <a:ext cx="128016" cy="128016"/>
          </a:xfrm>
          <a:prstGeom prst="rect">
            <a:avLst/>
          </a:prstGeom>
        </p:spPr>
      </p:pic>
      <p:sp>
        <p:nvSpPr>
          <p:cNvPr id="30" name="Rounded Rectangle 29"/>
          <p:cNvSpPr/>
          <p:nvPr/>
        </p:nvSpPr>
        <p:spPr>
          <a:xfrm>
            <a:off x="4654296" y="1517904"/>
            <a:ext cx="1828800" cy="932688"/>
          </a:xfrm>
          <a:prstGeom prst="roundRect">
            <a:avLst>
              <a:gd name="adj" fmla="val 6000"/>
            </a:avLst>
          </a:prstGeom>
          <a:solidFill>
            <a:srgbClr val="F4F6FA"/>
          </a:solidFill>
          <a:ln w="762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4800600" y="1664208"/>
            <a:ext cx="347472" cy="347472"/>
          </a:xfrm>
          <a:prstGeom prst="ellipse">
            <a:avLst/>
          </a:prstGeom>
          <a:solidFill>
            <a:srgbClr val="C170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2" name="Picture 31" descr="LuWrench_w.png"/>
          <p:cNvPicPr>
            <a:picLocks noChangeAspect="1"/>
          </p:cNvPicPr>
          <p:nvPr/>
        </p:nvPicPr>
        <p:blipFill>
          <a:blip r:embed="rId6"/>
          <a:stretch>
            <a:fillRect/>
          </a:stretch>
        </p:blipFill>
        <p:spPr>
          <a:xfrm>
            <a:off x="4883993" y="1747601"/>
            <a:ext cx="180685" cy="180685"/>
          </a:xfrm>
          <a:prstGeom prst="rect">
            <a:avLst/>
          </a:prstGeom>
        </p:spPr>
      </p:pic>
      <p:sp>
        <p:nvSpPr>
          <p:cNvPr id="33" name="TextBox 32"/>
          <p:cNvSpPr txBox="1"/>
          <p:nvPr/>
        </p:nvSpPr>
        <p:spPr>
          <a:xfrm>
            <a:off x="5239512" y="1700784"/>
            <a:ext cx="1097280" cy="182880"/>
          </a:xfrm>
          <a:prstGeom prst="rect">
            <a:avLst/>
          </a:prstGeom>
          <a:noFill/>
        </p:spPr>
        <p:txBody>
          <a:bodyPr wrap="square" lIns="0" tIns="0" rIns="0" bIns="0" anchor="t">
            <a:noAutofit/>
          </a:bodyPr>
          <a:lstStyle/>
          <a:p>
            <a:pPr algn="l"/>
            <a:r>
              <a:rPr sz="1150" b="1" i="0">
                <a:solidFill>
                  <a:srgbClr val="1A1A1E"/>
                </a:solidFill>
                <a:latin typeface="Inter"/>
              </a:rPr>
              <a:t>Repair</a:t>
            </a:r>
          </a:p>
        </p:txBody>
      </p:sp>
      <p:sp>
        <p:nvSpPr>
          <p:cNvPr id="34" name="TextBox 33"/>
          <p:cNvSpPr txBox="1"/>
          <p:nvPr/>
        </p:nvSpPr>
        <p:spPr>
          <a:xfrm>
            <a:off x="6025896" y="1700784"/>
            <a:ext cx="310896" cy="146304"/>
          </a:xfrm>
          <a:prstGeom prst="rect">
            <a:avLst/>
          </a:prstGeom>
          <a:noFill/>
        </p:spPr>
        <p:txBody>
          <a:bodyPr wrap="square" lIns="0" tIns="0" rIns="0" bIns="0" anchor="t">
            <a:noAutofit/>
          </a:bodyPr>
          <a:lstStyle/>
          <a:p>
            <a:pPr algn="r"/>
            <a:r>
              <a:rPr sz="650" b="1" i="0">
                <a:solidFill>
                  <a:srgbClr val="9A5620"/>
                </a:solidFill>
                <a:latin typeface="JetBrains Mono"/>
              </a:rPr>
              <a:t>03</a:t>
            </a:r>
          </a:p>
        </p:txBody>
      </p:sp>
      <p:sp>
        <p:nvSpPr>
          <p:cNvPr id="36" name="TextBox 35"/>
          <p:cNvSpPr txBox="1"/>
          <p:nvPr/>
        </p:nvSpPr>
        <p:spPr>
          <a:xfrm>
            <a:off x="4800600" y="2103120"/>
            <a:ext cx="1536192" cy="256032"/>
          </a:xfrm>
          <a:prstGeom prst="rect">
            <a:avLst/>
          </a:prstGeom>
          <a:noFill/>
        </p:spPr>
        <p:txBody>
          <a:bodyPr wrap="square" lIns="0" tIns="0" rIns="0" bIns="0" anchor="t">
            <a:noAutofit/>
          </a:bodyPr>
          <a:lstStyle/>
          <a:p>
            <a:pPr algn="l"/>
            <a:r>
              <a:rPr sz="1500" b="1" i="0" spc="-20" dirty="0">
                <a:solidFill>
                  <a:srgbClr val="C1702D"/>
                </a:solidFill>
                <a:latin typeface="Inter"/>
              </a:rPr>
              <a:t>2</a:t>
            </a:r>
            <a:r>
              <a:rPr lang="en-US" sz="1500" b="1" spc="-20" dirty="0">
                <a:solidFill>
                  <a:srgbClr val="C1702D"/>
                </a:solidFill>
                <a:latin typeface="Inter"/>
              </a:rPr>
              <a:t>-</a:t>
            </a:r>
            <a:r>
              <a:rPr sz="1500" b="1" i="0" spc="-20" dirty="0">
                <a:solidFill>
                  <a:srgbClr val="C1702D"/>
                </a:solidFill>
                <a:latin typeface="Inter"/>
              </a:rPr>
              <a:t>4 h</a:t>
            </a:r>
            <a:r>
              <a:rPr sz="800" b="0" i="0" dirty="0">
                <a:solidFill>
                  <a:srgbClr val="5A6472"/>
                </a:solidFill>
                <a:latin typeface="Inter"/>
              </a:rPr>
              <a:t>  to fix</a:t>
            </a:r>
          </a:p>
        </p:txBody>
      </p:sp>
      <p:pic>
        <p:nvPicPr>
          <p:cNvPr id="37" name="Picture 36" descr="LuArrowRight_m.png"/>
          <p:cNvPicPr>
            <a:picLocks noChangeAspect="1"/>
          </p:cNvPicPr>
          <p:nvPr/>
        </p:nvPicPr>
        <p:blipFill>
          <a:blip r:embed="rId4"/>
          <a:stretch>
            <a:fillRect/>
          </a:stretch>
        </p:blipFill>
        <p:spPr>
          <a:xfrm>
            <a:off x="6501384" y="1920240"/>
            <a:ext cx="128016" cy="128016"/>
          </a:xfrm>
          <a:prstGeom prst="rect">
            <a:avLst/>
          </a:prstGeom>
        </p:spPr>
      </p:pic>
      <p:sp>
        <p:nvSpPr>
          <p:cNvPr id="38" name="Rounded Rectangle 37"/>
          <p:cNvSpPr/>
          <p:nvPr/>
        </p:nvSpPr>
        <p:spPr>
          <a:xfrm>
            <a:off x="6647688" y="1517904"/>
            <a:ext cx="1828800" cy="932688"/>
          </a:xfrm>
          <a:prstGeom prst="roundRect">
            <a:avLst>
              <a:gd name="adj" fmla="val 6000"/>
            </a:avLst>
          </a:prstGeom>
          <a:solidFill>
            <a:srgbClr val="F4F6FA"/>
          </a:solidFill>
          <a:ln w="762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6793992" y="1664208"/>
            <a:ext cx="347472" cy="347472"/>
          </a:xfrm>
          <a:prstGeom prst="ellipse">
            <a:avLst/>
          </a:prstGeom>
          <a:solidFill>
            <a:srgbClr val="C170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0" name="Picture 39" descr="LuRocket_w.png"/>
          <p:cNvPicPr>
            <a:picLocks noChangeAspect="1"/>
          </p:cNvPicPr>
          <p:nvPr/>
        </p:nvPicPr>
        <p:blipFill>
          <a:blip r:embed="rId7"/>
          <a:stretch>
            <a:fillRect/>
          </a:stretch>
        </p:blipFill>
        <p:spPr>
          <a:xfrm>
            <a:off x="6877385" y="1747601"/>
            <a:ext cx="180685" cy="180685"/>
          </a:xfrm>
          <a:prstGeom prst="rect">
            <a:avLst/>
          </a:prstGeom>
        </p:spPr>
      </p:pic>
      <p:sp>
        <p:nvSpPr>
          <p:cNvPr id="41" name="TextBox 40"/>
          <p:cNvSpPr txBox="1"/>
          <p:nvPr/>
        </p:nvSpPr>
        <p:spPr>
          <a:xfrm>
            <a:off x="7232904" y="1700784"/>
            <a:ext cx="1097280" cy="182880"/>
          </a:xfrm>
          <a:prstGeom prst="rect">
            <a:avLst/>
          </a:prstGeom>
          <a:noFill/>
        </p:spPr>
        <p:txBody>
          <a:bodyPr wrap="square" lIns="0" tIns="0" rIns="0" bIns="0" anchor="t">
            <a:noAutofit/>
          </a:bodyPr>
          <a:lstStyle/>
          <a:p>
            <a:pPr algn="l"/>
            <a:r>
              <a:rPr sz="1150" b="1" i="0">
                <a:solidFill>
                  <a:srgbClr val="1A1A1E"/>
                </a:solidFill>
                <a:latin typeface="Inter"/>
              </a:rPr>
              <a:t>Redeploy</a:t>
            </a:r>
          </a:p>
        </p:txBody>
      </p:sp>
      <p:sp>
        <p:nvSpPr>
          <p:cNvPr id="42" name="TextBox 41"/>
          <p:cNvSpPr txBox="1"/>
          <p:nvPr/>
        </p:nvSpPr>
        <p:spPr>
          <a:xfrm>
            <a:off x="8019288" y="1700784"/>
            <a:ext cx="310896" cy="146304"/>
          </a:xfrm>
          <a:prstGeom prst="rect">
            <a:avLst/>
          </a:prstGeom>
          <a:noFill/>
        </p:spPr>
        <p:txBody>
          <a:bodyPr wrap="square" lIns="0" tIns="0" rIns="0" bIns="0" anchor="t">
            <a:noAutofit/>
          </a:bodyPr>
          <a:lstStyle/>
          <a:p>
            <a:pPr algn="r"/>
            <a:r>
              <a:rPr sz="650" b="1" i="0">
                <a:solidFill>
                  <a:srgbClr val="9A5620"/>
                </a:solidFill>
                <a:latin typeface="JetBrains Mono"/>
              </a:rPr>
              <a:t>04</a:t>
            </a:r>
          </a:p>
        </p:txBody>
      </p:sp>
      <p:sp>
        <p:nvSpPr>
          <p:cNvPr id="44" name="TextBox 43"/>
          <p:cNvSpPr txBox="1"/>
          <p:nvPr/>
        </p:nvSpPr>
        <p:spPr>
          <a:xfrm>
            <a:off x="6793992" y="2103120"/>
            <a:ext cx="1536192" cy="256032"/>
          </a:xfrm>
          <a:prstGeom prst="rect">
            <a:avLst/>
          </a:prstGeom>
          <a:noFill/>
        </p:spPr>
        <p:txBody>
          <a:bodyPr wrap="square" lIns="0" tIns="0" rIns="0" bIns="0" anchor="t">
            <a:noAutofit/>
          </a:bodyPr>
          <a:lstStyle/>
          <a:p>
            <a:pPr algn="l"/>
            <a:r>
              <a:rPr lang="en-US" sz="1500" b="1" spc="-20" dirty="0">
                <a:solidFill>
                  <a:srgbClr val="C1702D"/>
                </a:solidFill>
                <a:latin typeface="Inter"/>
              </a:rPr>
              <a:t>2-</a:t>
            </a:r>
            <a:r>
              <a:rPr lang="en-US" sz="1500" b="1" i="0" spc="-20" dirty="0">
                <a:solidFill>
                  <a:srgbClr val="C1702D"/>
                </a:solidFill>
                <a:latin typeface="Inter"/>
              </a:rPr>
              <a:t>4</a:t>
            </a:r>
            <a:r>
              <a:rPr sz="1500" b="1" i="0" spc="-20" dirty="0">
                <a:solidFill>
                  <a:srgbClr val="C1702D"/>
                </a:solidFill>
                <a:latin typeface="Inter"/>
              </a:rPr>
              <a:t> </a:t>
            </a:r>
            <a:r>
              <a:rPr lang="en-US" sz="1500" b="1" i="0" spc="-20" dirty="0">
                <a:solidFill>
                  <a:srgbClr val="C1702D"/>
                </a:solidFill>
                <a:latin typeface="Inter"/>
              </a:rPr>
              <a:t>h</a:t>
            </a:r>
            <a:r>
              <a:rPr sz="800" b="0" i="0" dirty="0">
                <a:solidFill>
                  <a:srgbClr val="5A6472"/>
                </a:solidFill>
                <a:latin typeface="Inter"/>
              </a:rPr>
              <a:t>  to land</a:t>
            </a:r>
          </a:p>
        </p:txBody>
      </p:sp>
      <p:sp>
        <p:nvSpPr>
          <p:cNvPr id="45" name="TextBox 44"/>
          <p:cNvSpPr txBox="1"/>
          <p:nvPr/>
        </p:nvSpPr>
        <p:spPr>
          <a:xfrm>
            <a:off x="667512" y="2953512"/>
            <a:ext cx="5486400" cy="146304"/>
          </a:xfrm>
          <a:prstGeom prst="rect">
            <a:avLst/>
          </a:prstGeom>
          <a:noFill/>
        </p:spPr>
        <p:txBody>
          <a:bodyPr wrap="square" lIns="0" tIns="0" rIns="0" bIns="0" anchor="t">
            <a:noAutofit/>
          </a:bodyPr>
          <a:lstStyle/>
          <a:p>
            <a:pPr algn="l"/>
            <a:r>
              <a:rPr sz="700" b="1" i="0" spc="90">
                <a:solidFill>
                  <a:srgbClr val="1428A0"/>
                </a:solidFill>
                <a:latin typeface="Inter"/>
              </a:rPr>
              <a:t>SCOPE OF THE PROJECT</a:t>
            </a:r>
          </a:p>
        </p:txBody>
      </p:sp>
      <p:sp>
        <p:nvSpPr>
          <p:cNvPr id="46" name="Rounded Rectangle 45"/>
          <p:cNvSpPr/>
          <p:nvPr/>
        </p:nvSpPr>
        <p:spPr>
          <a:xfrm>
            <a:off x="667512" y="3136392"/>
            <a:ext cx="5029200" cy="1481328"/>
          </a:xfrm>
          <a:prstGeom prst="roundRect">
            <a:avLst>
              <a:gd name="adj" fmla="val 6000"/>
            </a:avLst>
          </a:prstGeom>
          <a:solidFill>
            <a:srgbClr val="F4F6FA"/>
          </a:solidFill>
          <a:ln w="762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p:cNvSpPr/>
          <p:nvPr/>
        </p:nvSpPr>
        <p:spPr>
          <a:xfrm>
            <a:off x="850392" y="3282696"/>
            <a:ext cx="237744" cy="237744"/>
          </a:xfrm>
          <a:prstGeom prst="ellipse">
            <a:avLst/>
          </a:prstGeom>
          <a:solidFill>
            <a:srgbClr val="5F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8" name="Picture 47" descr="LuCheck_w.png"/>
          <p:cNvPicPr>
            <a:picLocks noChangeAspect="1"/>
          </p:cNvPicPr>
          <p:nvPr/>
        </p:nvPicPr>
        <p:blipFill>
          <a:blip r:embed="rId8"/>
          <a:stretch>
            <a:fillRect/>
          </a:stretch>
        </p:blipFill>
        <p:spPr>
          <a:xfrm>
            <a:off x="907451" y="3339755"/>
            <a:ext cx="123627" cy="123627"/>
          </a:xfrm>
          <a:prstGeom prst="rect">
            <a:avLst/>
          </a:prstGeom>
        </p:spPr>
      </p:pic>
      <p:sp>
        <p:nvSpPr>
          <p:cNvPr id="49" name="TextBox 48"/>
          <p:cNvSpPr txBox="1"/>
          <p:nvPr/>
        </p:nvSpPr>
        <p:spPr>
          <a:xfrm>
            <a:off x="1161288" y="3332988"/>
            <a:ext cx="2743200" cy="146304"/>
          </a:xfrm>
          <a:prstGeom prst="rect">
            <a:avLst/>
          </a:prstGeom>
          <a:noFill/>
        </p:spPr>
        <p:txBody>
          <a:bodyPr wrap="square" lIns="0" tIns="0" rIns="0" bIns="0" anchor="t">
            <a:noAutofit/>
          </a:bodyPr>
          <a:lstStyle/>
          <a:p>
            <a:pPr algn="l"/>
            <a:r>
              <a:rPr sz="750" b="1" i="0" spc="90">
                <a:solidFill>
                  <a:srgbClr val="4A6E24"/>
                </a:solidFill>
                <a:latin typeface="Inter"/>
              </a:rPr>
              <a:t>IN SCOPE</a:t>
            </a:r>
          </a:p>
        </p:txBody>
      </p:sp>
      <p:pic>
        <p:nvPicPr>
          <p:cNvPr id="50" name="Picture 49" descr="LuCheck_g.png"/>
          <p:cNvPicPr>
            <a:picLocks noChangeAspect="1"/>
          </p:cNvPicPr>
          <p:nvPr/>
        </p:nvPicPr>
        <p:blipFill>
          <a:blip r:embed="rId9"/>
          <a:stretch>
            <a:fillRect/>
          </a:stretch>
        </p:blipFill>
        <p:spPr>
          <a:xfrm>
            <a:off x="868680" y="3689604"/>
            <a:ext cx="137160" cy="137160"/>
          </a:xfrm>
          <a:prstGeom prst="rect">
            <a:avLst/>
          </a:prstGeom>
        </p:spPr>
      </p:pic>
      <p:sp>
        <p:nvSpPr>
          <p:cNvPr id="51" name="TextBox 50"/>
          <p:cNvSpPr txBox="1"/>
          <p:nvPr/>
        </p:nvSpPr>
        <p:spPr>
          <a:xfrm>
            <a:off x="1088136" y="3675887"/>
            <a:ext cx="2148840" cy="182880"/>
          </a:xfrm>
          <a:prstGeom prst="rect">
            <a:avLst/>
          </a:prstGeom>
          <a:noFill/>
        </p:spPr>
        <p:txBody>
          <a:bodyPr wrap="square" lIns="0" tIns="0" rIns="0" bIns="0" anchor="t">
            <a:noAutofit/>
          </a:bodyPr>
          <a:lstStyle/>
          <a:p>
            <a:pPr algn="l"/>
            <a:r>
              <a:rPr lang="en-US" sz="900" dirty="0">
                <a:solidFill>
                  <a:srgbClr val="1A1A1E"/>
                </a:solidFill>
                <a:latin typeface="Inter"/>
              </a:rPr>
              <a:t>W</a:t>
            </a:r>
            <a:r>
              <a:rPr sz="900" b="0" i="0" dirty="0">
                <a:solidFill>
                  <a:srgbClr val="1A1A1E"/>
                </a:solidFill>
                <a:latin typeface="Inter"/>
              </a:rPr>
              <a:t>eb bots</a:t>
            </a:r>
          </a:p>
        </p:txBody>
      </p:sp>
      <p:pic>
        <p:nvPicPr>
          <p:cNvPr id="52" name="Picture 51" descr="LuCheck_g.png"/>
          <p:cNvPicPr>
            <a:picLocks noChangeAspect="1"/>
          </p:cNvPicPr>
          <p:nvPr/>
        </p:nvPicPr>
        <p:blipFill>
          <a:blip r:embed="rId9"/>
          <a:stretch>
            <a:fillRect/>
          </a:stretch>
        </p:blipFill>
        <p:spPr>
          <a:xfrm>
            <a:off x="868680" y="3991355"/>
            <a:ext cx="137160" cy="137160"/>
          </a:xfrm>
          <a:prstGeom prst="rect">
            <a:avLst/>
          </a:prstGeom>
        </p:spPr>
      </p:pic>
      <p:sp>
        <p:nvSpPr>
          <p:cNvPr id="53" name="TextBox 52"/>
          <p:cNvSpPr txBox="1"/>
          <p:nvPr/>
        </p:nvSpPr>
        <p:spPr>
          <a:xfrm>
            <a:off x="1088136" y="3977639"/>
            <a:ext cx="2148840" cy="182880"/>
          </a:xfrm>
          <a:prstGeom prst="rect">
            <a:avLst/>
          </a:prstGeom>
          <a:noFill/>
        </p:spPr>
        <p:txBody>
          <a:bodyPr wrap="square" lIns="0" tIns="0" rIns="0" bIns="0" anchor="t">
            <a:noAutofit/>
          </a:bodyPr>
          <a:lstStyle/>
          <a:p>
            <a:pPr algn="l"/>
            <a:r>
              <a:rPr sz="900" b="0" i="0" dirty="0">
                <a:solidFill>
                  <a:srgbClr val="1A1A1E"/>
                </a:solidFill>
                <a:latin typeface="Inter"/>
              </a:rPr>
              <a:t>CSS and XPath</a:t>
            </a:r>
          </a:p>
        </p:txBody>
      </p:sp>
      <p:pic>
        <p:nvPicPr>
          <p:cNvPr id="54" name="Picture 53" descr="LuCheck_g.png"/>
          <p:cNvPicPr>
            <a:picLocks noChangeAspect="1"/>
          </p:cNvPicPr>
          <p:nvPr/>
        </p:nvPicPr>
        <p:blipFill>
          <a:blip r:embed="rId9"/>
          <a:stretch>
            <a:fillRect/>
          </a:stretch>
        </p:blipFill>
        <p:spPr>
          <a:xfrm>
            <a:off x="868680" y="4293107"/>
            <a:ext cx="137160" cy="137160"/>
          </a:xfrm>
          <a:prstGeom prst="rect">
            <a:avLst/>
          </a:prstGeom>
        </p:spPr>
      </p:pic>
      <p:sp>
        <p:nvSpPr>
          <p:cNvPr id="55" name="TextBox 54"/>
          <p:cNvSpPr txBox="1"/>
          <p:nvPr/>
        </p:nvSpPr>
        <p:spPr>
          <a:xfrm>
            <a:off x="1088136" y="4279392"/>
            <a:ext cx="2148840" cy="182880"/>
          </a:xfrm>
          <a:prstGeom prst="rect">
            <a:avLst/>
          </a:prstGeom>
          <a:noFill/>
        </p:spPr>
        <p:txBody>
          <a:bodyPr wrap="square" lIns="0" tIns="0" rIns="0" bIns="0" anchor="t">
            <a:noAutofit/>
          </a:bodyPr>
          <a:lstStyle/>
          <a:p>
            <a:pPr algn="l"/>
            <a:r>
              <a:rPr sz="900" b="0" i="0">
                <a:solidFill>
                  <a:srgbClr val="1A1A1E"/>
                </a:solidFill>
                <a:latin typeface="Inter"/>
              </a:rPr>
              <a:t>Runtime repair, inline</a:t>
            </a:r>
          </a:p>
        </p:txBody>
      </p:sp>
      <p:pic>
        <p:nvPicPr>
          <p:cNvPr id="56" name="Picture 55" descr="LuCheck_g.png"/>
          <p:cNvPicPr>
            <a:picLocks noChangeAspect="1"/>
          </p:cNvPicPr>
          <p:nvPr/>
        </p:nvPicPr>
        <p:blipFill>
          <a:blip r:embed="rId9"/>
          <a:stretch>
            <a:fillRect/>
          </a:stretch>
        </p:blipFill>
        <p:spPr>
          <a:xfrm>
            <a:off x="3264408" y="3689604"/>
            <a:ext cx="137160" cy="137160"/>
          </a:xfrm>
          <a:prstGeom prst="rect">
            <a:avLst/>
          </a:prstGeom>
        </p:spPr>
      </p:pic>
      <p:sp>
        <p:nvSpPr>
          <p:cNvPr id="57" name="TextBox 56"/>
          <p:cNvSpPr txBox="1"/>
          <p:nvPr/>
        </p:nvSpPr>
        <p:spPr>
          <a:xfrm>
            <a:off x="3483864" y="3675887"/>
            <a:ext cx="2148840" cy="182880"/>
          </a:xfrm>
          <a:prstGeom prst="rect">
            <a:avLst/>
          </a:prstGeom>
          <a:noFill/>
        </p:spPr>
        <p:txBody>
          <a:bodyPr wrap="square" lIns="0" tIns="0" rIns="0" bIns="0" anchor="t">
            <a:noAutofit/>
          </a:bodyPr>
          <a:lstStyle/>
          <a:p>
            <a:pPr algn="l"/>
            <a:r>
              <a:rPr sz="900" b="0" i="0">
                <a:solidFill>
                  <a:srgbClr val="1A1A1E"/>
                </a:solidFill>
                <a:latin typeface="Inter"/>
              </a:rPr>
              <a:t>Fleet-wide repair memory</a:t>
            </a:r>
          </a:p>
        </p:txBody>
      </p:sp>
      <p:pic>
        <p:nvPicPr>
          <p:cNvPr id="58" name="Picture 57" descr="LuCheck_g.png"/>
          <p:cNvPicPr>
            <a:picLocks noChangeAspect="1"/>
          </p:cNvPicPr>
          <p:nvPr/>
        </p:nvPicPr>
        <p:blipFill>
          <a:blip r:embed="rId9"/>
          <a:stretch>
            <a:fillRect/>
          </a:stretch>
        </p:blipFill>
        <p:spPr>
          <a:xfrm>
            <a:off x="3264408" y="3991355"/>
            <a:ext cx="137160" cy="137160"/>
          </a:xfrm>
          <a:prstGeom prst="rect">
            <a:avLst/>
          </a:prstGeom>
        </p:spPr>
      </p:pic>
      <p:sp>
        <p:nvSpPr>
          <p:cNvPr id="59" name="TextBox 58"/>
          <p:cNvSpPr txBox="1"/>
          <p:nvPr/>
        </p:nvSpPr>
        <p:spPr>
          <a:xfrm>
            <a:off x="3483864" y="3977639"/>
            <a:ext cx="2148840" cy="182880"/>
          </a:xfrm>
          <a:prstGeom prst="rect">
            <a:avLst/>
          </a:prstGeom>
          <a:noFill/>
        </p:spPr>
        <p:txBody>
          <a:bodyPr wrap="square" lIns="0" tIns="0" rIns="0" bIns="0" anchor="t">
            <a:noAutofit/>
          </a:bodyPr>
          <a:lstStyle/>
          <a:p>
            <a:pPr algn="l"/>
            <a:r>
              <a:rPr sz="900" b="0" i="0">
                <a:solidFill>
                  <a:srgbClr val="1A1A1E"/>
                </a:solidFill>
                <a:latin typeface="Inter"/>
              </a:rPr>
              <a:t>Audit trail</a:t>
            </a:r>
          </a:p>
        </p:txBody>
      </p:sp>
      <p:pic>
        <p:nvPicPr>
          <p:cNvPr id="60" name="Picture 59" descr="LuCheck_g.png"/>
          <p:cNvPicPr>
            <a:picLocks noChangeAspect="1"/>
          </p:cNvPicPr>
          <p:nvPr/>
        </p:nvPicPr>
        <p:blipFill>
          <a:blip r:embed="rId9"/>
          <a:stretch>
            <a:fillRect/>
          </a:stretch>
        </p:blipFill>
        <p:spPr>
          <a:xfrm>
            <a:off x="3264408" y="4293107"/>
            <a:ext cx="137160" cy="137160"/>
          </a:xfrm>
          <a:prstGeom prst="rect">
            <a:avLst/>
          </a:prstGeom>
        </p:spPr>
      </p:pic>
      <p:sp>
        <p:nvSpPr>
          <p:cNvPr id="61" name="TextBox 60"/>
          <p:cNvSpPr txBox="1"/>
          <p:nvPr/>
        </p:nvSpPr>
        <p:spPr>
          <a:xfrm>
            <a:off x="3483864" y="4279392"/>
            <a:ext cx="2148840" cy="182880"/>
          </a:xfrm>
          <a:prstGeom prst="rect">
            <a:avLst/>
          </a:prstGeom>
          <a:noFill/>
        </p:spPr>
        <p:txBody>
          <a:bodyPr wrap="square" lIns="0" tIns="0" rIns="0" bIns="0" anchor="t">
            <a:noAutofit/>
          </a:bodyPr>
          <a:lstStyle/>
          <a:p>
            <a:pPr algn="l"/>
            <a:r>
              <a:rPr sz="900" b="0" i="0">
                <a:solidFill>
                  <a:srgbClr val="1A1A1E"/>
                </a:solidFill>
                <a:latin typeface="Inter"/>
              </a:rPr>
              <a:t>On-prem AI, no cloud</a:t>
            </a:r>
          </a:p>
        </p:txBody>
      </p:sp>
      <p:sp>
        <p:nvSpPr>
          <p:cNvPr id="62" name="Rounded Rectangle 61"/>
          <p:cNvSpPr/>
          <p:nvPr/>
        </p:nvSpPr>
        <p:spPr>
          <a:xfrm>
            <a:off x="5861304" y="3136392"/>
            <a:ext cx="2615184" cy="1481328"/>
          </a:xfrm>
          <a:prstGeom prst="roundRect">
            <a:avLst>
              <a:gd name="adj" fmla="val 6000"/>
            </a:avLst>
          </a:prstGeom>
          <a:solidFill>
            <a:srgbClr val="F4F6FA"/>
          </a:solidFill>
          <a:ln w="762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Oval 62"/>
          <p:cNvSpPr/>
          <p:nvPr/>
        </p:nvSpPr>
        <p:spPr>
          <a:xfrm>
            <a:off x="6044184" y="3282696"/>
            <a:ext cx="237744" cy="237744"/>
          </a:xfrm>
          <a:prstGeom prst="ellipse">
            <a:avLst/>
          </a:prstGeom>
          <a:solidFill>
            <a:srgbClr val="7A7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4" name="Picture 63" descr="LuMinus_w.png"/>
          <p:cNvPicPr>
            <a:picLocks noChangeAspect="1"/>
          </p:cNvPicPr>
          <p:nvPr/>
        </p:nvPicPr>
        <p:blipFill>
          <a:blip r:embed="rId10"/>
          <a:stretch>
            <a:fillRect/>
          </a:stretch>
        </p:blipFill>
        <p:spPr>
          <a:xfrm>
            <a:off x="6101243" y="3339755"/>
            <a:ext cx="123627" cy="123627"/>
          </a:xfrm>
          <a:prstGeom prst="rect">
            <a:avLst/>
          </a:prstGeom>
        </p:spPr>
      </p:pic>
      <p:sp>
        <p:nvSpPr>
          <p:cNvPr id="65" name="TextBox 64"/>
          <p:cNvSpPr txBox="1"/>
          <p:nvPr/>
        </p:nvSpPr>
        <p:spPr>
          <a:xfrm>
            <a:off x="6355080" y="3332988"/>
            <a:ext cx="2011680" cy="146304"/>
          </a:xfrm>
          <a:prstGeom prst="rect">
            <a:avLst/>
          </a:prstGeom>
          <a:noFill/>
        </p:spPr>
        <p:txBody>
          <a:bodyPr wrap="square" lIns="0" tIns="0" rIns="0" bIns="0" anchor="t">
            <a:noAutofit/>
          </a:bodyPr>
          <a:lstStyle/>
          <a:p>
            <a:pPr algn="l"/>
            <a:r>
              <a:rPr sz="750" b="1" i="0" spc="90">
                <a:solidFill>
                  <a:srgbClr val="5A6472"/>
                </a:solidFill>
                <a:latin typeface="Inter"/>
              </a:rPr>
              <a:t>NOT IN PHASE 1</a:t>
            </a:r>
          </a:p>
        </p:txBody>
      </p:sp>
      <p:pic>
        <p:nvPicPr>
          <p:cNvPr id="66" name="Picture 65" descr="LuMinus_m.png"/>
          <p:cNvPicPr>
            <a:picLocks noChangeAspect="1"/>
          </p:cNvPicPr>
          <p:nvPr/>
        </p:nvPicPr>
        <p:blipFill>
          <a:blip r:embed="rId11"/>
          <a:stretch>
            <a:fillRect/>
          </a:stretch>
        </p:blipFill>
        <p:spPr>
          <a:xfrm>
            <a:off x="6062472" y="3689604"/>
            <a:ext cx="137160" cy="137160"/>
          </a:xfrm>
          <a:prstGeom prst="rect">
            <a:avLst/>
          </a:prstGeom>
        </p:spPr>
      </p:pic>
      <p:sp>
        <p:nvSpPr>
          <p:cNvPr id="67" name="TextBox 66"/>
          <p:cNvSpPr txBox="1"/>
          <p:nvPr/>
        </p:nvSpPr>
        <p:spPr>
          <a:xfrm>
            <a:off x="6281928" y="3675887"/>
            <a:ext cx="2103120" cy="182880"/>
          </a:xfrm>
          <a:prstGeom prst="rect">
            <a:avLst/>
          </a:prstGeom>
          <a:noFill/>
        </p:spPr>
        <p:txBody>
          <a:bodyPr wrap="square" lIns="0" tIns="0" rIns="0" bIns="0" anchor="t">
            <a:noAutofit/>
          </a:bodyPr>
          <a:lstStyle/>
          <a:p>
            <a:pPr algn="l"/>
            <a:r>
              <a:rPr sz="900" b="0" i="0">
                <a:solidFill>
                  <a:srgbClr val="4A5668"/>
                </a:solidFill>
                <a:latin typeface="Inter"/>
              </a:rPr>
              <a:t>Rewriting automations</a:t>
            </a:r>
          </a:p>
        </p:txBody>
      </p:sp>
      <p:pic>
        <p:nvPicPr>
          <p:cNvPr id="68" name="Picture 67" descr="LuMinus_m.png"/>
          <p:cNvPicPr>
            <a:picLocks noChangeAspect="1"/>
          </p:cNvPicPr>
          <p:nvPr/>
        </p:nvPicPr>
        <p:blipFill>
          <a:blip r:embed="rId11"/>
          <a:stretch>
            <a:fillRect/>
          </a:stretch>
        </p:blipFill>
        <p:spPr>
          <a:xfrm>
            <a:off x="6062472" y="3991355"/>
            <a:ext cx="137160" cy="137160"/>
          </a:xfrm>
          <a:prstGeom prst="rect">
            <a:avLst/>
          </a:prstGeom>
        </p:spPr>
      </p:pic>
      <p:sp>
        <p:nvSpPr>
          <p:cNvPr id="69" name="TextBox 68"/>
          <p:cNvSpPr txBox="1"/>
          <p:nvPr/>
        </p:nvSpPr>
        <p:spPr>
          <a:xfrm>
            <a:off x="6281928" y="3977639"/>
            <a:ext cx="2103120" cy="182880"/>
          </a:xfrm>
          <a:prstGeom prst="rect">
            <a:avLst/>
          </a:prstGeom>
          <a:noFill/>
        </p:spPr>
        <p:txBody>
          <a:bodyPr wrap="square" lIns="0" tIns="0" rIns="0" bIns="0" anchor="t">
            <a:noAutofit/>
          </a:bodyPr>
          <a:lstStyle/>
          <a:p>
            <a:pPr algn="l"/>
            <a:r>
              <a:rPr sz="900" b="0" i="0">
                <a:solidFill>
                  <a:srgbClr val="4A5668"/>
                </a:solidFill>
                <a:latin typeface="Inter"/>
              </a:rPr>
              <a:t>Desktop, mainframe, Citrix</a:t>
            </a:r>
          </a:p>
        </p:txBody>
      </p:sp>
      <p:pic>
        <p:nvPicPr>
          <p:cNvPr id="70" name="Picture 69" descr="LuMinus_m.png"/>
          <p:cNvPicPr>
            <a:picLocks noChangeAspect="1"/>
          </p:cNvPicPr>
          <p:nvPr/>
        </p:nvPicPr>
        <p:blipFill>
          <a:blip r:embed="rId11"/>
          <a:stretch>
            <a:fillRect/>
          </a:stretch>
        </p:blipFill>
        <p:spPr>
          <a:xfrm>
            <a:off x="6062472" y="4293107"/>
            <a:ext cx="137160" cy="137160"/>
          </a:xfrm>
          <a:prstGeom prst="rect">
            <a:avLst/>
          </a:prstGeom>
        </p:spPr>
      </p:pic>
      <p:sp>
        <p:nvSpPr>
          <p:cNvPr id="71" name="TextBox 70"/>
          <p:cNvSpPr txBox="1"/>
          <p:nvPr/>
        </p:nvSpPr>
        <p:spPr>
          <a:xfrm>
            <a:off x="6281928" y="4279392"/>
            <a:ext cx="2103120" cy="182880"/>
          </a:xfrm>
          <a:prstGeom prst="rect">
            <a:avLst/>
          </a:prstGeom>
          <a:noFill/>
        </p:spPr>
        <p:txBody>
          <a:bodyPr wrap="square" lIns="0" tIns="0" rIns="0" bIns="0" anchor="t">
            <a:noAutofit/>
          </a:bodyPr>
          <a:lstStyle/>
          <a:p>
            <a:pPr algn="l"/>
            <a:r>
              <a:rPr lang="en-US" sz="900" b="0" i="0" dirty="0">
                <a:solidFill>
                  <a:srgbClr val="4A5668"/>
                </a:solidFill>
                <a:latin typeface="Inter"/>
              </a:rPr>
              <a:t>Deleted page elements</a:t>
            </a:r>
          </a:p>
        </p:txBody>
      </p:sp>
      <p:sp>
        <p:nvSpPr>
          <p:cNvPr id="72" name="Total strip"/>
          <p:cNvSpPr/>
          <p:nvPr/>
        </p:nvSpPr>
        <p:spPr>
          <a:xfrm>
            <a:off x="667512" y="2542032"/>
            <a:ext cx="7808975" cy="274320"/>
          </a:xfrm>
          <a:prstGeom prst="roundRect">
            <a:avLst>
              <a:gd name="adj" fmla="val 50000"/>
            </a:avLst>
          </a:prstGeom>
          <a:solidFill>
            <a:srgbClr val="F4F6FA"/>
          </a:solidFill>
          <a:ln w="762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otal text"/>
          <p:cNvSpPr txBox="1"/>
          <p:nvPr/>
        </p:nvSpPr>
        <p:spPr>
          <a:xfrm>
            <a:off x="667512" y="2542032"/>
            <a:ext cx="7808975" cy="274320"/>
          </a:xfrm>
          <a:prstGeom prst="rect">
            <a:avLst/>
          </a:prstGeom>
          <a:noFill/>
        </p:spPr>
        <p:txBody>
          <a:bodyPr wrap="square" lIns="0" tIns="0" rIns="0" bIns="0" anchor="ctr">
            <a:spAutoFit/>
          </a:bodyPr>
          <a:lstStyle/>
          <a:p>
            <a:pPr algn="ctr"/>
            <a:r>
              <a:rPr sz="950" b="1">
                <a:solidFill>
                  <a:srgbClr val="1A1A1E"/>
                </a:solidFill>
                <a:latin typeface="Inter"/>
              </a:rPr>
              <a:t>Today: </a:t>
            </a:r>
            <a:r>
              <a:rPr sz="950" b="1">
                <a:solidFill>
                  <a:srgbClr val="C1702D"/>
                </a:solidFill>
                <a:latin typeface="Inter"/>
              </a:rPr>
              <a:t>1-2 days</a:t>
            </a:r>
            <a:r>
              <a:rPr sz="950" b="1">
                <a:solidFill>
                  <a:srgbClr val="1A1A1E"/>
                </a:solidFill>
                <a:latin typeface="Inter"/>
              </a:rPr>
              <a:t> per broken selector      With healing: </a:t>
            </a:r>
            <a:r>
              <a:rPr sz="950" b="1">
                <a:solidFill>
                  <a:srgbClr val="4A6E24"/>
                </a:solidFill>
                <a:latin typeface="Inter"/>
              </a:rPr>
              <a:t>~6 seconds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bar"/>
          <p:cNvSpPr/>
          <p:nvPr/>
        </p:nvSpPr>
        <p:spPr>
          <a:xfrm>
            <a:off x="0" y="0"/>
            <a:ext cx="9144000" cy="266730"/>
          </a:xfrm>
          <a:prstGeom prst="rect">
            <a:avLst/>
          </a:prstGeom>
          <a:solidFill>
            <a:srgbClr val="1A2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Header text"/>
          <p:cNvSpPr txBox="1"/>
          <p:nvPr/>
        </p:nvSpPr>
        <p:spPr>
          <a:xfrm>
            <a:off x="666598" y="80924"/>
            <a:ext cx="7616952" cy="182880"/>
          </a:xfrm>
          <a:prstGeom prst="rect">
            <a:avLst/>
          </a:prstGeom>
          <a:noFill/>
        </p:spPr>
        <p:txBody>
          <a:bodyPr wrap="square" lIns="0" tIns="0" rIns="0" bIns="0" anchor="t">
            <a:noAutofit/>
          </a:bodyPr>
          <a:lstStyle/>
          <a:p>
            <a:pPr algn="l"/>
            <a:r>
              <a:rPr sz="855" b="1" i="0" spc="21">
                <a:solidFill>
                  <a:srgbClr val="FFFFFF"/>
                </a:solidFill>
                <a:latin typeface="Inter"/>
              </a:rPr>
              <a:t>SAMSUNG SDS</a:t>
            </a:r>
            <a:r>
              <a:rPr sz="855" b="0" i="0" spc="21">
                <a:solidFill>
                  <a:srgbClr val="B9C6DA"/>
                </a:solidFill>
                <a:latin typeface="Inter"/>
              </a:rPr>
              <a:t>   |   </a:t>
            </a:r>
            <a:r>
              <a:rPr sz="855" b="1" i="0" spc="21">
                <a:solidFill>
                  <a:srgbClr val="B9C6DA"/>
                </a:solidFill>
                <a:latin typeface="Inter"/>
              </a:rPr>
              <a:t>HOW IT WORKS  ·  HEAL AUTOMATION</a:t>
            </a:r>
          </a:p>
        </p:txBody>
      </p:sp>
      <p:sp>
        <p:nvSpPr>
          <p:cNvPr id="4" name="Template dash 1"/>
          <p:cNvSpPr/>
          <p:nvPr/>
        </p:nvSpPr>
        <p:spPr>
          <a:xfrm>
            <a:off x="666598" y="404805"/>
            <a:ext cx="300015" cy="38130"/>
          </a:xfrm>
          <a:prstGeom prst="rect">
            <a:avLst/>
          </a:prstGeom>
          <a:solidFill>
            <a:srgbClr val="1616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mplate dash 2"/>
          <p:cNvSpPr/>
          <p:nvPr/>
        </p:nvSpPr>
        <p:spPr>
          <a:xfrm>
            <a:off x="999988" y="404805"/>
            <a:ext cx="300015" cy="38130"/>
          </a:xfrm>
          <a:prstGeom prst="rect">
            <a:avLst/>
          </a:prstGeom>
          <a:solidFill>
            <a:srgbClr val="2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mplate dash 3"/>
          <p:cNvSpPr/>
          <p:nvPr/>
        </p:nvSpPr>
        <p:spPr>
          <a:xfrm>
            <a:off x="1333378" y="404805"/>
            <a:ext cx="300015" cy="38130"/>
          </a:xfrm>
          <a:prstGeom prst="rect">
            <a:avLst/>
          </a:prstGeom>
          <a:solidFill>
            <a:srgbClr val="5F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mplate dash 4"/>
          <p:cNvSpPr/>
          <p:nvPr/>
        </p:nvSpPr>
        <p:spPr>
          <a:xfrm>
            <a:off x="1666768" y="404805"/>
            <a:ext cx="300015" cy="38130"/>
          </a:xfrm>
          <a:prstGeom prst="rect">
            <a:avLst/>
          </a:prstGeom>
          <a:solidFill>
            <a:srgbClr val="C170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Confidential"/>
          <p:cNvSpPr txBox="1"/>
          <p:nvPr/>
        </p:nvSpPr>
        <p:spPr>
          <a:xfrm>
            <a:off x="3143250" y="4934102"/>
            <a:ext cx="2857500" cy="137160"/>
          </a:xfrm>
          <a:prstGeom prst="rect">
            <a:avLst/>
          </a:prstGeom>
          <a:noFill/>
        </p:spPr>
        <p:txBody>
          <a:bodyPr wrap="square" lIns="0" tIns="0" rIns="0" bIns="0" anchor="t">
            <a:noAutofit/>
          </a:bodyPr>
          <a:lstStyle/>
          <a:p>
            <a:pPr algn="ctr"/>
            <a:r>
              <a:rPr sz="606" b="0" i="0" spc="57">
                <a:solidFill>
                  <a:srgbClr val="7A7F8A"/>
                </a:solidFill>
                <a:latin typeface="Inter"/>
              </a:rPr>
              <a:t>Confidential</a:t>
            </a:r>
          </a:p>
        </p:txBody>
      </p:sp>
      <p:sp>
        <p:nvSpPr>
          <p:cNvPr id="9" name="Page number"/>
          <p:cNvSpPr txBox="1"/>
          <p:nvPr/>
        </p:nvSpPr>
        <p:spPr>
          <a:xfrm>
            <a:off x="7315200" y="4753051"/>
            <a:ext cx="1161288" cy="109728"/>
          </a:xfrm>
          <a:prstGeom prst="rect">
            <a:avLst/>
          </a:prstGeom>
          <a:noFill/>
        </p:spPr>
        <p:txBody>
          <a:bodyPr wrap="square" lIns="0" tIns="0" rIns="0" bIns="0" anchor="t">
            <a:noAutofit/>
          </a:bodyPr>
          <a:lstStyle/>
          <a:p>
            <a:pPr algn="r"/>
            <a:r>
              <a:rPr sz="534" b="0" i="0" spc="78">
                <a:solidFill>
                  <a:srgbClr val="7A7F8A"/>
                </a:solidFill>
                <a:latin typeface="Inter"/>
              </a:rPr>
              <a:t>PAGE 03 / 07</a:t>
            </a:r>
          </a:p>
        </p:txBody>
      </p:sp>
      <p:sp>
        <p:nvSpPr>
          <p:cNvPr id="10" name="Footer brand"/>
          <p:cNvSpPr txBox="1"/>
          <p:nvPr/>
        </p:nvSpPr>
        <p:spPr>
          <a:xfrm>
            <a:off x="5619902" y="4895698"/>
            <a:ext cx="2857500" cy="192024"/>
          </a:xfrm>
          <a:prstGeom prst="rect">
            <a:avLst/>
          </a:prstGeom>
          <a:noFill/>
        </p:spPr>
        <p:txBody>
          <a:bodyPr wrap="square" lIns="0" tIns="0" rIns="0" bIns="0" anchor="t">
            <a:noAutofit/>
          </a:bodyPr>
          <a:lstStyle/>
          <a:p>
            <a:pPr algn="r"/>
            <a:r>
              <a:rPr sz="855" b="1" i="0" spc="14">
                <a:solidFill>
                  <a:srgbClr val="1428A0"/>
                </a:solidFill>
                <a:latin typeface="Inter"/>
              </a:rPr>
              <a:t>SAMSUNG SDS</a:t>
            </a:r>
          </a:p>
        </p:txBody>
      </p:sp>
      <p:sp>
        <p:nvSpPr>
          <p:cNvPr id="11" name="Title"/>
          <p:cNvSpPr txBox="1"/>
          <p:nvPr/>
        </p:nvSpPr>
        <p:spPr>
          <a:xfrm>
            <a:off x="667512" y="548640"/>
            <a:ext cx="7808976" cy="384048"/>
          </a:xfrm>
          <a:prstGeom prst="rect">
            <a:avLst/>
          </a:prstGeom>
          <a:noFill/>
        </p:spPr>
        <p:txBody>
          <a:bodyPr wrap="square" lIns="0" tIns="0" rIns="0" bIns="0" anchor="t">
            <a:noAutofit/>
          </a:bodyPr>
          <a:lstStyle/>
          <a:p>
            <a:pPr algn="l"/>
            <a:r>
              <a:rPr sz="2000" b="1" i="0" spc="-60" dirty="0">
                <a:solidFill>
                  <a:srgbClr val="1A1A1E"/>
                </a:solidFill>
                <a:latin typeface="Inter"/>
              </a:rPr>
              <a:t>The robot repairs itself in about six seconds.</a:t>
            </a:r>
          </a:p>
        </p:txBody>
      </p:sp>
      <p:sp>
        <p:nvSpPr>
          <p:cNvPr id="12" name="Subtitle"/>
          <p:cNvSpPr txBox="1"/>
          <p:nvPr/>
        </p:nvSpPr>
        <p:spPr>
          <a:xfrm>
            <a:off x="667512" y="941832"/>
            <a:ext cx="7808976" cy="201168"/>
          </a:xfrm>
          <a:prstGeom prst="rect">
            <a:avLst/>
          </a:prstGeom>
          <a:noFill/>
        </p:spPr>
        <p:txBody>
          <a:bodyPr wrap="square" lIns="0" tIns="0" rIns="0" bIns="0" anchor="t">
            <a:noAutofit/>
          </a:bodyPr>
          <a:lstStyle/>
          <a:p>
            <a:pPr algn="l"/>
            <a:r>
              <a:rPr sz="950" b="0" i="0" dirty="0">
                <a:solidFill>
                  <a:srgbClr val="4A5668"/>
                </a:solidFill>
                <a:latin typeface="Inter"/>
              </a:rPr>
              <a:t>When a selector breaks, </a:t>
            </a:r>
            <a:r>
              <a:rPr sz="950" b="1" i="0" dirty="0">
                <a:solidFill>
                  <a:srgbClr val="4A5668"/>
                </a:solidFill>
                <a:latin typeface="Inter"/>
              </a:rPr>
              <a:t>healing steps in before the step fails.</a:t>
            </a:r>
          </a:p>
        </p:txBody>
      </p:sp>
      <p:sp>
        <p:nvSpPr>
          <p:cNvPr id="13" name="Rounded Rectangle 12"/>
          <p:cNvSpPr/>
          <p:nvPr/>
        </p:nvSpPr>
        <p:spPr>
          <a:xfrm>
            <a:off x="667512" y="1298448"/>
            <a:ext cx="2395728" cy="2615184"/>
          </a:xfrm>
          <a:prstGeom prst="roundRect">
            <a:avLst>
              <a:gd name="adj" fmla="val 4500"/>
            </a:avLst>
          </a:prstGeom>
          <a:solidFill>
            <a:srgbClr val="F4F6FA"/>
          </a:solidFill>
          <a:ln w="762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832104" y="1463040"/>
            <a:ext cx="402336" cy="402336"/>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LuScanSearch_w.png"/>
          <p:cNvPicPr>
            <a:picLocks noChangeAspect="1"/>
          </p:cNvPicPr>
          <p:nvPr/>
        </p:nvPicPr>
        <p:blipFill>
          <a:blip r:embed="rId3"/>
          <a:stretch>
            <a:fillRect/>
          </a:stretch>
        </p:blipFill>
        <p:spPr>
          <a:xfrm>
            <a:off x="928665" y="1559601"/>
            <a:ext cx="209215" cy="209215"/>
          </a:xfrm>
          <a:prstGeom prst="rect">
            <a:avLst/>
          </a:prstGeom>
        </p:spPr>
      </p:pic>
      <p:sp>
        <p:nvSpPr>
          <p:cNvPr id="16" name="TextBox 15"/>
          <p:cNvSpPr txBox="1"/>
          <p:nvPr/>
        </p:nvSpPr>
        <p:spPr>
          <a:xfrm>
            <a:off x="1344168" y="1481328"/>
            <a:ext cx="1645920" cy="146304"/>
          </a:xfrm>
          <a:prstGeom prst="rect">
            <a:avLst/>
          </a:prstGeom>
          <a:noFill/>
        </p:spPr>
        <p:txBody>
          <a:bodyPr wrap="square" lIns="0" tIns="0" rIns="0" bIns="0" anchor="t">
            <a:noAutofit/>
          </a:bodyPr>
          <a:lstStyle/>
          <a:p>
            <a:pPr algn="l"/>
            <a:r>
              <a:rPr sz="700" b="1" i="0" spc="90">
                <a:solidFill>
                  <a:srgbClr val="1428A0"/>
                </a:solidFill>
                <a:latin typeface="Inter"/>
              </a:rPr>
              <a:t>01  INPUT</a:t>
            </a:r>
          </a:p>
        </p:txBody>
      </p:sp>
      <p:sp>
        <p:nvSpPr>
          <p:cNvPr id="17" name="TextBox 16"/>
          <p:cNvSpPr txBox="1"/>
          <p:nvPr/>
        </p:nvSpPr>
        <p:spPr>
          <a:xfrm>
            <a:off x="1271016" y="1636776"/>
            <a:ext cx="1719072" cy="201168"/>
          </a:xfrm>
          <a:prstGeom prst="rect">
            <a:avLst/>
          </a:prstGeom>
          <a:noFill/>
        </p:spPr>
        <p:txBody>
          <a:bodyPr wrap="square" lIns="0" tIns="0" rIns="0" bIns="0" anchor="t">
            <a:noAutofit/>
          </a:bodyPr>
          <a:lstStyle/>
          <a:p>
            <a:pPr algn="l"/>
            <a:r>
              <a:rPr sz="1150" b="1" i="0" dirty="0">
                <a:solidFill>
                  <a:srgbClr val="1A1A1E"/>
                </a:solidFill>
                <a:latin typeface="Inter"/>
              </a:rPr>
              <a:t>What it already knows</a:t>
            </a:r>
          </a:p>
        </p:txBody>
      </p:sp>
      <p:sp>
        <p:nvSpPr>
          <p:cNvPr id="18" name="Rectangle 17"/>
          <p:cNvSpPr/>
          <p:nvPr/>
        </p:nvSpPr>
        <p:spPr>
          <a:xfrm>
            <a:off x="832104" y="2011680"/>
            <a:ext cx="2066544" cy="7315"/>
          </a:xfrm>
          <a:prstGeom prst="rect">
            <a:avLst/>
          </a:prstGeom>
          <a:solidFill>
            <a:srgbClr val="D7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9" name="Picture 18" descr="LuArrowRight_m.png"/>
          <p:cNvPicPr>
            <a:picLocks noChangeAspect="1"/>
          </p:cNvPicPr>
          <p:nvPr/>
        </p:nvPicPr>
        <p:blipFill>
          <a:blip r:embed="rId4"/>
          <a:stretch>
            <a:fillRect/>
          </a:stretch>
        </p:blipFill>
        <p:spPr>
          <a:xfrm>
            <a:off x="3127248" y="2514600"/>
            <a:ext cx="182880" cy="182880"/>
          </a:xfrm>
          <a:prstGeom prst="rect">
            <a:avLst/>
          </a:prstGeom>
        </p:spPr>
      </p:pic>
      <p:sp>
        <p:nvSpPr>
          <p:cNvPr id="20" name="Rounded Rectangle 19"/>
          <p:cNvSpPr/>
          <p:nvPr/>
        </p:nvSpPr>
        <p:spPr>
          <a:xfrm>
            <a:off x="3374136" y="1298448"/>
            <a:ext cx="2395728" cy="2615184"/>
          </a:xfrm>
          <a:prstGeom prst="roundRect">
            <a:avLst>
              <a:gd name="adj" fmla="val 4500"/>
            </a:avLst>
          </a:prstGeom>
          <a:solidFill>
            <a:srgbClr val="F4F6FA"/>
          </a:solidFill>
          <a:ln w="762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3538728" y="1463040"/>
            <a:ext cx="402336" cy="402336"/>
          </a:xfrm>
          <a:prstGeom prst="ellipse">
            <a:avLst/>
          </a:prstGeom>
          <a:solidFill>
            <a:srgbClr val="2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2" name="Picture 21" descr="LuCpu_w.png"/>
          <p:cNvPicPr>
            <a:picLocks noChangeAspect="1"/>
          </p:cNvPicPr>
          <p:nvPr/>
        </p:nvPicPr>
        <p:blipFill>
          <a:blip r:embed="rId5"/>
          <a:stretch>
            <a:fillRect/>
          </a:stretch>
        </p:blipFill>
        <p:spPr>
          <a:xfrm>
            <a:off x="3635289" y="1559601"/>
            <a:ext cx="209215" cy="209215"/>
          </a:xfrm>
          <a:prstGeom prst="rect">
            <a:avLst/>
          </a:prstGeom>
        </p:spPr>
      </p:pic>
      <p:sp>
        <p:nvSpPr>
          <p:cNvPr id="23" name="TextBox 22"/>
          <p:cNvSpPr txBox="1"/>
          <p:nvPr/>
        </p:nvSpPr>
        <p:spPr>
          <a:xfrm>
            <a:off x="4050792" y="1481328"/>
            <a:ext cx="1645920" cy="146304"/>
          </a:xfrm>
          <a:prstGeom prst="rect">
            <a:avLst/>
          </a:prstGeom>
          <a:noFill/>
        </p:spPr>
        <p:txBody>
          <a:bodyPr wrap="square" lIns="0" tIns="0" rIns="0" bIns="0" anchor="t">
            <a:noAutofit/>
          </a:bodyPr>
          <a:lstStyle/>
          <a:p>
            <a:pPr algn="l"/>
            <a:r>
              <a:rPr sz="700" b="1" i="0" spc="90">
                <a:solidFill>
                  <a:srgbClr val="2A5C9E"/>
                </a:solidFill>
                <a:latin typeface="Inter"/>
              </a:rPr>
              <a:t>02  AUTOMATION</a:t>
            </a:r>
          </a:p>
        </p:txBody>
      </p:sp>
      <p:sp>
        <p:nvSpPr>
          <p:cNvPr id="24" name="TextBox 23"/>
          <p:cNvSpPr txBox="1"/>
          <p:nvPr/>
        </p:nvSpPr>
        <p:spPr>
          <a:xfrm>
            <a:off x="4050792" y="1636776"/>
            <a:ext cx="1645920" cy="201168"/>
          </a:xfrm>
          <a:prstGeom prst="rect">
            <a:avLst/>
          </a:prstGeom>
          <a:noFill/>
        </p:spPr>
        <p:txBody>
          <a:bodyPr wrap="square" lIns="0" tIns="0" rIns="0" bIns="0" anchor="t">
            <a:noAutofit/>
          </a:bodyPr>
          <a:lstStyle/>
          <a:p>
            <a:pPr algn="l"/>
            <a:r>
              <a:rPr sz="1150" b="1" i="0" dirty="0">
                <a:solidFill>
                  <a:srgbClr val="1A1A1E"/>
                </a:solidFill>
                <a:latin typeface="Inter"/>
              </a:rPr>
              <a:t>The heal</a:t>
            </a:r>
            <a:r>
              <a:rPr lang="en-US" sz="1150" b="1" i="0" dirty="0">
                <a:solidFill>
                  <a:srgbClr val="1A1A1E"/>
                </a:solidFill>
                <a:latin typeface="Inter"/>
              </a:rPr>
              <a:t>ing</a:t>
            </a:r>
            <a:r>
              <a:rPr sz="1150" b="1" i="0" dirty="0">
                <a:solidFill>
                  <a:srgbClr val="1A1A1E"/>
                </a:solidFill>
                <a:latin typeface="Inter"/>
              </a:rPr>
              <a:t> pipeline</a:t>
            </a:r>
          </a:p>
        </p:txBody>
      </p:sp>
      <p:sp>
        <p:nvSpPr>
          <p:cNvPr id="25" name="Rectangle 24"/>
          <p:cNvSpPr/>
          <p:nvPr/>
        </p:nvSpPr>
        <p:spPr>
          <a:xfrm>
            <a:off x="3538728" y="2011680"/>
            <a:ext cx="2066544" cy="7315"/>
          </a:xfrm>
          <a:prstGeom prst="rect">
            <a:avLst/>
          </a:prstGeom>
          <a:solidFill>
            <a:srgbClr val="D7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6" name="Picture 25" descr="LuArrowRight_m.png"/>
          <p:cNvPicPr>
            <a:picLocks noChangeAspect="1"/>
          </p:cNvPicPr>
          <p:nvPr/>
        </p:nvPicPr>
        <p:blipFill>
          <a:blip r:embed="rId4"/>
          <a:stretch>
            <a:fillRect/>
          </a:stretch>
        </p:blipFill>
        <p:spPr>
          <a:xfrm>
            <a:off x="5833872" y="2514600"/>
            <a:ext cx="182880" cy="182880"/>
          </a:xfrm>
          <a:prstGeom prst="rect">
            <a:avLst/>
          </a:prstGeom>
        </p:spPr>
      </p:pic>
      <p:sp>
        <p:nvSpPr>
          <p:cNvPr id="27" name="Rounded Rectangle 26"/>
          <p:cNvSpPr/>
          <p:nvPr/>
        </p:nvSpPr>
        <p:spPr>
          <a:xfrm>
            <a:off x="6080760" y="1298448"/>
            <a:ext cx="2395728" cy="2615184"/>
          </a:xfrm>
          <a:prstGeom prst="roundRect">
            <a:avLst>
              <a:gd name="adj" fmla="val 4500"/>
            </a:avLst>
          </a:prstGeom>
          <a:solidFill>
            <a:srgbClr val="F4F6FA"/>
          </a:solidFill>
          <a:ln w="762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6245352" y="1463040"/>
            <a:ext cx="402336" cy="402336"/>
          </a:xfrm>
          <a:prstGeom prst="ellipse">
            <a:avLst/>
          </a:prstGeom>
          <a:solidFill>
            <a:srgbClr val="5F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9" name="Picture 28" descr="LuChartColumn_w.png"/>
          <p:cNvPicPr>
            <a:picLocks noChangeAspect="1"/>
          </p:cNvPicPr>
          <p:nvPr/>
        </p:nvPicPr>
        <p:blipFill>
          <a:blip r:embed="rId6"/>
          <a:stretch>
            <a:fillRect/>
          </a:stretch>
        </p:blipFill>
        <p:spPr>
          <a:xfrm>
            <a:off x="6341913" y="1559601"/>
            <a:ext cx="209215" cy="209215"/>
          </a:xfrm>
          <a:prstGeom prst="rect">
            <a:avLst/>
          </a:prstGeom>
        </p:spPr>
      </p:pic>
      <p:sp>
        <p:nvSpPr>
          <p:cNvPr id="30" name="TextBox 29"/>
          <p:cNvSpPr txBox="1"/>
          <p:nvPr/>
        </p:nvSpPr>
        <p:spPr>
          <a:xfrm>
            <a:off x="6757416" y="1481328"/>
            <a:ext cx="1645920" cy="146304"/>
          </a:xfrm>
          <a:prstGeom prst="rect">
            <a:avLst/>
          </a:prstGeom>
          <a:noFill/>
        </p:spPr>
        <p:txBody>
          <a:bodyPr wrap="square" lIns="0" tIns="0" rIns="0" bIns="0" anchor="t">
            <a:noAutofit/>
          </a:bodyPr>
          <a:lstStyle/>
          <a:p>
            <a:pPr algn="l"/>
            <a:r>
              <a:rPr sz="700" b="1" i="0" spc="90">
                <a:solidFill>
                  <a:srgbClr val="5F8B2F"/>
                </a:solidFill>
                <a:latin typeface="Inter"/>
              </a:rPr>
              <a:t>03  ANALYSIS</a:t>
            </a:r>
          </a:p>
        </p:txBody>
      </p:sp>
      <p:sp>
        <p:nvSpPr>
          <p:cNvPr id="31" name="TextBox 30"/>
          <p:cNvSpPr txBox="1"/>
          <p:nvPr/>
        </p:nvSpPr>
        <p:spPr>
          <a:xfrm>
            <a:off x="6757416" y="1636776"/>
            <a:ext cx="1645920" cy="201168"/>
          </a:xfrm>
          <a:prstGeom prst="rect">
            <a:avLst/>
          </a:prstGeom>
          <a:noFill/>
        </p:spPr>
        <p:txBody>
          <a:bodyPr wrap="square" lIns="0" tIns="0" rIns="0" bIns="0" anchor="t">
            <a:noAutofit/>
          </a:bodyPr>
          <a:lstStyle/>
          <a:p>
            <a:pPr algn="l"/>
            <a:r>
              <a:rPr sz="1150" b="1" i="0">
                <a:solidFill>
                  <a:srgbClr val="1A1A1E"/>
                </a:solidFill>
                <a:latin typeface="Inter"/>
              </a:rPr>
              <a:t>Decide, record, learn</a:t>
            </a:r>
          </a:p>
        </p:txBody>
      </p:sp>
      <p:sp>
        <p:nvSpPr>
          <p:cNvPr id="32" name="Rectangle 31"/>
          <p:cNvSpPr/>
          <p:nvPr/>
        </p:nvSpPr>
        <p:spPr>
          <a:xfrm>
            <a:off x="6245352" y="2011680"/>
            <a:ext cx="2066544" cy="7315"/>
          </a:xfrm>
          <a:prstGeom prst="rect">
            <a:avLst/>
          </a:prstGeom>
          <a:solidFill>
            <a:srgbClr val="D7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50392" y="2157984"/>
            <a:ext cx="2048256" cy="1691640"/>
          </a:xfrm>
          <a:prstGeom prst="rect">
            <a:avLst/>
          </a:prstGeom>
          <a:noFill/>
        </p:spPr>
        <p:txBody>
          <a:bodyPr wrap="square" lIns="0" tIns="0" rIns="0" bIns="0" anchor="t">
            <a:noAutofit/>
          </a:bodyPr>
          <a:lstStyle/>
          <a:p>
            <a:pPr marL="118872" indent="-118872" algn="l">
              <a:lnSpc>
                <a:spcPct val="110000"/>
              </a:lnSpc>
              <a:spcAft>
                <a:spcPts val="700"/>
              </a:spcAft>
              <a:buClr>
                <a:srgbClr val="1428A0"/>
              </a:buClr>
              <a:buSzPct val="100000"/>
              <a:buFont typeface="Arial"/>
              <a:buChar char="•"/>
            </a:pPr>
            <a:r>
              <a:rPr sz="900" b="0" i="0">
                <a:solidFill>
                  <a:srgbClr val="1A1A1E"/>
                </a:solidFill>
                <a:latin typeface="Inter"/>
              </a:rPr>
              <a:t>Broken selector</a:t>
            </a:r>
          </a:p>
          <a:p>
            <a:pPr marL="118872" indent="-118872" algn="l">
              <a:lnSpc>
                <a:spcPct val="110000"/>
              </a:lnSpc>
              <a:spcAft>
                <a:spcPts val="700"/>
              </a:spcAft>
              <a:buClr>
                <a:srgbClr val="1428A0"/>
              </a:buClr>
              <a:buSzPct val="100000"/>
              <a:buFont typeface="Arial"/>
              <a:buChar char="•"/>
            </a:pPr>
            <a:r>
              <a:rPr sz="900" b="0" i="0">
                <a:solidFill>
                  <a:srgbClr val="1A1A1E"/>
                </a:solidFill>
                <a:latin typeface="Inter"/>
              </a:rPr>
              <a:t>Field description</a:t>
            </a:r>
          </a:p>
          <a:p>
            <a:pPr marL="118872" indent="-118872" algn="l">
              <a:lnSpc>
                <a:spcPct val="110000"/>
              </a:lnSpc>
              <a:spcAft>
                <a:spcPts val="700"/>
              </a:spcAft>
              <a:buClr>
                <a:srgbClr val="1428A0"/>
              </a:buClr>
              <a:buSzPct val="100000"/>
              <a:buFont typeface="Arial"/>
              <a:buChar char="•"/>
            </a:pPr>
            <a:r>
              <a:rPr sz="900" b="0" i="0">
                <a:solidFill>
                  <a:srgbClr val="1A1A1E"/>
                </a:solidFill>
                <a:latin typeface="Inter"/>
              </a:rPr>
              <a:t>Live page, ~900 elements</a:t>
            </a:r>
          </a:p>
          <a:p>
            <a:pPr marL="118872" indent="-118872" algn="l">
              <a:lnSpc>
                <a:spcPct val="110000"/>
              </a:lnSpc>
              <a:buClr>
                <a:srgbClr val="1428A0"/>
              </a:buClr>
              <a:buSzPct val="100000"/>
              <a:buFont typeface="Arial"/>
              <a:buChar char="•"/>
            </a:pPr>
            <a:r>
              <a:rPr sz="900" b="0" i="0">
                <a:solidFill>
                  <a:srgbClr val="1A1A1E"/>
                </a:solidFill>
                <a:latin typeface="Inter"/>
              </a:rPr>
              <a:t>Last good fingerprint</a:t>
            </a:r>
          </a:p>
        </p:txBody>
      </p:sp>
      <p:sp>
        <p:nvSpPr>
          <p:cNvPr id="34" name="Oval 33"/>
          <p:cNvSpPr/>
          <p:nvPr/>
        </p:nvSpPr>
        <p:spPr>
          <a:xfrm>
            <a:off x="3557016" y="2167128"/>
            <a:ext cx="201168" cy="201168"/>
          </a:xfrm>
          <a:prstGeom prst="ellipse">
            <a:avLst/>
          </a:prstGeom>
          <a:solidFill>
            <a:srgbClr val="2A5C9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750" b="1" i="0">
                <a:solidFill>
                  <a:srgbClr val="FFFFFF"/>
                </a:solidFill>
                <a:latin typeface="Inter"/>
              </a:rPr>
              <a:t>1</a:t>
            </a:r>
          </a:p>
        </p:txBody>
      </p:sp>
      <p:sp>
        <p:nvSpPr>
          <p:cNvPr id="35" name="TextBox 34"/>
          <p:cNvSpPr txBox="1"/>
          <p:nvPr/>
        </p:nvSpPr>
        <p:spPr>
          <a:xfrm>
            <a:off x="3849624" y="2157984"/>
            <a:ext cx="1188720" cy="164592"/>
          </a:xfrm>
          <a:prstGeom prst="rect">
            <a:avLst/>
          </a:prstGeom>
          <a:noFill/>
        </p:spPr>
        <p:txBody>
          <a:bodyPr wrap="square" lIns="0" tIns="0" rIns="0" bIns="0" anchor="t">
            <a:noAutofit/>
          </a:bodyPr>
          <a:lstStyle/>
          <a:p>
            <a:pPr algn="l"/>
            <a:r>
              <a:rPr sz="900" b="1" i="0">
                <a:solidFill>
                  <a:srgbClr val="1A1A1E"/>
                </a:solidFill>
                <a:latin typeface="Inter"/>
              </a:rPr>
              <a:t>Memory</a:t>
            </a:r>
          </a:p>
        </p:txBody>
      </p:sp>
      <p:sp>
        <p:nvSpPr>
          <p:cNvPr id="36" name="TextBox 35"/>
          <p:cNvSpPr txBox="1"/>
          <p:nvPr/>
        </p:nvSpPr>
        <p:spPr>
          <a:xfrm>
            <a:off x="4946904" y="2167128"/>
            <a:ext cx="658368" cy="146304"/>
          </a:xfrm>
          <a:prstGeom prst="rect">
            <a:avLst/>
          </a:prstGeom>
          <a:noFill/>
        </p:spPr>
        <p:txBody>
          <a:bodyPr wrap="square" lIns="0" tIns="0" rIns="0" bIns="0" anchor="t">
            <a:noAutofit/>
          </a:bodyPr>
          <a:lstStyle/>
          <a:p>
            <a:pPr algn="r"/>
            <a:r>
              <a:rPr sz="750" b="1" i="0">
                <a:solidFill>
                  <a:srgbClr val="2A5C9E"/>
                </a:solidFill>
                <a:latin typeface="JetBrains Mono"/>
              </a:rPr>
              <a:t>instant</a:t>
            </a:r>
          </a:p>
        </p:txBody>
      </p:sp>
      <p:sp>
        <p:nvSpPr>
          <p:cNvPr id="37" name="TextBox 36"/>
          <p:cNvSpPr txBox="1"/>
          <p:nvPr/>
        </p:nvSpPr>
        <p:spPr>
          <a:xfrm>
            <a:off x="3849624" y="2331720"/>
            <a:ext cx="1755648" cy="164592"/>
          </a:xfrm>
          <a:prstGeom prst="rect">
            <a:avLst/>
          </a:prstGeom>
          <a:noFill/>
        </p:spPr>
        <p:txBody>
          <a:bodyPr wrap="square" lIns="0" tIns="0" rIns="0" bIns="0" anchor="t">
            <a:noAutofit/>
          </a:bodyPr>
          <a:lstStyle/>
          <a:p>
            <a:pPr algn="l"/>
            <a:r>
              <a:rPr sz="800" b="0" i="0">
                <a:solidFill>
                  <a:srgbClr val="4A5668"/>
                </a:solidFill>
                <a:latin typeface="Inter"/>
              </a:rPr>
              <a:t>Reuse a proven fix.</a:t>
            </a:r>
          </a:p>
        </p:txBody>
      </p:sp>
      <p:sp>
        <p:nvSpPr>
          <p:cNvPr id="38" name="Oval 37"/>
          <p:cNvSpPr/>
          <p:nvPr/>
        </p:nvSpPr>
        <p:spPr>
          <a:xfrm>
            <a:off x="3557016" y="2596896"/>
            <a:ext cx="201168" cy="201168"/>
          </a:xfrm>
          <a:prstGeom prst="ellipse">
            <a:avLst/>
          </a:prstGeom>
          <a:solidFill>
            <a:srgbClr val="2A5C9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750" b="1" i="0">
                <a:solidFill>
                  <a:srgbClr val="FFFFFF"/>
                </a:solidFill>
                <a:latin typeface="Inter"/>
              </a:rPr>
              <a:t>2</a:t>
            </a:r>
          </a:p>
        </p:txBody>
      </p:sp>
      <p:sp>
        <p:nvSpPr>
          <p:cNvPr id="39" name="TextBox 38"/>
          <p:cNvSpPr txBox="1"/>
          <p:nvPr/>
        </p:nvSpPr>
        <p:spPr>
          <a:xfrm>
            <a:off x="3849624" y="2587752"/>
            <a:ext cx="1188720" cy="164592"/>
          </a:xfrm>
          <a:prstGeom prst="rect">
            <a:avLst/>
          </a:prstGeom>
          <a:noFill/>
        </p:spPr>
        <p:txBody>
          <a:bodyPr wrap="square" lIns="0" tIns="0" rIns="0" bIns="0" anchor="t">
            <a:noAutofit/>
          </a:bodyPr>
          <a:lstStyle/>
          <a:p>
            <a:pPr algn="l"/>
            <a:r>
              <a:rPr sz="900" b="1" i="0">
                <a:solidFill>
                  <a:srgbClr val="1A1A1E"/>
                </a:solidFill>
                <a:latin typeface="Inter"/>
              </a:rPr>
              <a:t>Pre-rank</a:t>
            </a:r>
          </a:p>
        </p:txBody>
      </p:sp>
      <p:sp>
        <p:nvSpPr>
          <p:cNvPr id="40" name="TextBox 39"/>
          <p:cNvSpPr txBox="1"/>
          <p:nvPr/>
        </p:nvSpPr>
        <p:spPr>
          <a:xfrm>
            <a:off x="4946904" y="2596896"/>
            <a:ext cx="658368" cy="146304"/>
          </a:xfrm>
          <a:prstGeom prst="rect">
            <a:avLst/>
          </a:prstGeom>
          <a:noFill/>
        </p:spPr>
        <p:txBody>
          <a:bodyPr wrap="square" lIns="0" tIns="0" rIns="0" bIns="0" anchor="t">
            <a:noAutofit/>
          </a:bodyPr>
          <a:lstStyle/>
          <a:p>
            <a:pPr algn="r"/>
            <a:r>
              <a:rPr sz="750" b="1" i="0">
                <a:solidFill>
                  <a:srgbClr val="2A5C9E"/>
                </a:solidFill>
                <a:latin typeface="JetBrains Mono"/>
              </a:rPr>
              <a:t>0.3 s</a:t>
            </a:r>
          </a:p>
        </p:txBody>
      </p:sp>
      <p:sp>
        <p:nvSpPr>
          <p:cNvPr id="41" name="TextBox 40"/>
          <p:cNvSpPr txBox="1"/>
          <p:nvPr/>
        </p:nvSpPr>
        <p:spPr>
          <a:xfrm>
            <a:off x="3849624" y="2761488"/>
            <a:ext cx="1755648" cy="164592"/>
          </a:xfrm>
          <a:prstGeom prst="rect">
            <a:avLst/>
          </a:prstGeom>
          <a:noFill/>
        </p:spPr>
        <p:txBody>
          <a:bodyPr wrap="square" lIns="0" tIns="0" rIns="0" bIns="0" anchor="t">
            <a:noAutofit/>
          </a:bodyPr>
          <a:lstStyle/>
          <a:p>
            <a:pPr algn="l"/>
            <a:r>
              <a:rPr sz="800" b="0" i="0">
                <a:solidFill>
                  <a:srgbClr val="4A5668"/>
                </a:solidFill>
                <a:latin typeface="Inter"/>
              </a:rPr>
              <a:t>900 elements down to 45.</a:t>
            </a:r>
          </a:p>
        </p:txBody>
      </p:sp>
      <p:sp>
        <p:nvSpPr>
          <p:cNvPr id="42" name="Oval 41"/>
          <p:cNvSpPr/>
          <p:nvPr/>
        </p:nvSpPr>
        <p:spPr>
          <a:xfrm>
            <a:off x="3557016" y="3026664"/>
            <a:ext cx="201168" cy="201168"/>
          </a:xfrm>
          <a:prstGeom prst="ellipse">
            <a:avLst/>
          </a:prstGeom>
          <a:solidFill>
            <a:srgbClr val="2A5C9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750" b="1" i="0">
                <a:solidFill>
                  <a:srgbClr val="FFFFFF"/>
                </a:solidFill>
                <a:latin typeface="Inter"/>
              </a:rPr>
              <a:t>3</a:t>
            </a:r>
          </a:p>
        </p:txBody>
      </p:sp>
      <p:sp>
        <p:nvSpPr>
          <p:cNvPr id="43" name="TextBox 42"/>
          <p:cNvSpPr txBox="1"/>
          <p:nvPr/>
        </p:nvSpPr>
        <p:spPr>
          <a:xfrm>
            <a:off x="3849624" y="3017520"/>
            <a:ext cx="1188720" cy="164592"/>
          </a:xfrm>
          <a:prstGeom prst="rect">
            <a:avLst/>
          </a:prstGeom>
          <a:noFill/>
        </p:spPr>
        <p:txBody>
          <a:bodyPr wrap="square" lIns="0" tIns="0" rIns="0" bIns="0" anchor="t">
            <a:noAutofit/>
          </a:bodyPr>
          <a:lstStyle/>
          <a:p>
            <a:pPr algn="l"/>
            <a:r>
              <a:rPr sz="900" b="1" i="0">
                <a:solidFill>
                  <a:srgbClr val="1A1A1E"/>
                </a:solidFill>
                <a:latin typeface="Inter"/>
              </a:rPr>
              <a:t>AI adjudicator</a:t>
            </a:r>
          </a:p>
        </p:txBody>
      </p:sp>
      <p:sp>
        <p:nvSpPr>
          <p:cNvPr id="44" name="TextBox 43"/>
          <p:cNvSpPr txBox="1"/>
          <p:nvPr/>
        </p:nvSpPr>
        <p:spPr>
          <a:xfrm>
            <a:off x="4946904" y="3026664"/>
            <a:ext cx="658368" cy="146304"/>
          </a:xfrm>
          <a:prstGeom prst="rect">
            <a:avLst/>
          </a:prstGeom>
          <a:noFill/>
        </p:spPr>
        <p:txBody>
          <a:bodyPr wrap="square" lIns="0" tIns="0" rIns="0" bIns="0" anchor="t">
            <a:noAutofit/>
          </a:bodyPr>
          <a:lstStyle/>
          <a:p>
            <a:pPr algn="r"/>
            <a:r>
              <a:rPr sz="750" b="1" i="0">
                <a:solidFill>
                  <a:srgbClr val="2A5C9E"/>
                </a:solidFill>
                <a:latin typeface="JetBrains Mono"/>
              </a:rPr>
              <a:t>~5 s</a:t>
            </a:r>
          </a:p>
        </p:txBody>
      </p:sp>
      <p:sp>
        <p:nvSpPr>
          <p:cNvPr id="45" name="TextBox 44"/>
          <p:cNvSpPr txBox="1"/>
          <p:nvPr/>
        </p:nvSpPr>
        <p:spPr>
          <a:xfrm>
            <a:off x="3849624" y="3191256"/>
            <a:ext cx="1755648" cy="164592"/>
          </a:xfrm>
          <a:prstGeom prst="rect">
            <a:avLst/>
          </a:prstGeom>
          <a:noFill/>
        </p:spPr>
        <p:txBody>
          <a:bodyPr wrap="square" lIns="0" tIns="0" rIns="0" bIns="0" anchor="t">
            <a:noAutofit/>
          </a:bodyPr>
          <a:lstStyle/>
          <a:p>
            <a:pPr algn="l"/>
            <a:r>
              <a:rPr sz="800" b="0" i="0">
                <a:solidFill>
                  <a:srgbClr val="4A5668"/>
                </a:solidFill>
                <a:latin typeface="Inter"/>
              </a:rPr>
              <a:t>Picks one, by index.</a:t>
            </a:r>
          </a:p>
        </p:txBody>
      </p:sp>
      <p:sp>
        <p:nvSpPr>
          <p:cNvPr id="46" name="Oval 45"/>
          <p:cNvSpPr/>
          <p:nvPr/>
        </p:nvSpPr>
        <p:spPr>
          <a:xfrm>
            <a:off x="3557016" y="3456432"/>
            <a:ext cx="201168" cy="201168"/>
          </a:xfrm>
          <a:prstGeom prst="ellipse">
            <a:avLst/>
          </a:prstGeom>
          <a:solidFill>
            <a:srgbClr val="2A5C9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750" b="1" i="0">
                <a:solidFill>
                  <a:srgbClr val="FFFFFF"/>
                </a:solidFill>
                <a:latin typeface="Inter"/>
              </a:rPr>
              <a:t>4</a:t>
            </a:r>
          </a:p>
        </p:txBody>
      </p:sp>
      <p:sp>
        <p:nvSpPr>
          <p:cNvPr id="47" name="TextBox 46"/>
          <p:cNvSpPr txBox="1"/>
          <p:nvPr/>
        </p:nvSpPr>
        <p:spPr>
          <a:xfrm>
            <a:off x="3849624" y="3447288"/>
            <a:ext cx="1188720" cy="164592"/>
          </a:xfrm>
          <a:prstGeom prst="rect">
            <a:avLst/>
          </a:prstGeom>
          <a:noFill/>
        </p:spPr>
        <p:txBody>
          <a:bodyPr wrap="square" lIns="0" tIns="0" rIns="0" bIns="0" anchor="t">
            <a:noAutofit/>
          </a:bodyPr>
          <a:lstStyle/>
          <a:p>
            <a:pPr algn="l"/>
            <a:r>
              <a:rPr sz="900" b="1" i="0">
                <a:solidFill>
                  <a:srgbClr val="1A1A1E"/>
                </a:solidFill>
                <a:latin typeface="Inter"/>
              </a:rPr>
              <a:t>Bind + validate</a:t>
            </a:r>
          </a:p>
        </p:txBody>
      </p:sp>
      <p:sp>
        <p:nvSpPr>
          <p:cNvPr id="48" name="TextBox 47"/>
          <p:cNvSpPr txBox="1"/>
          <p:nvPr/>
        </p:nvSpPr>
        <p:spPr>
          <a:xfrm>
            <a:off x="4946904" y="3456432"/>
            <a:ext cx="658368" cy="146304"/>
          </a:xfrm>
          <a:prstGeom prst="rect">
            <a:avLst/>
          </a:prstGeom>
          <a:noFill/>
        </p:spPr>
        <p:txBody>
          <a:bodyPr wrap="square" lIns="0" tIns="0" rIns="0" bIns="0" anchor="t">
            <a:noAutofit/>
          </a:bodyPr>
          <a:lstStyle/>
          <a:p>
            <a:pPr algn="r"/>
            <a:r>
              <a:rPr sz="750" b="1" i="0">
                <a:solidFill>
                  <a:srgbClr val="2A5C9E"/>
                </a:solidFill>
                <a:latin typeface="JetBrains Mono"/>
              </a:rPr>
              <a:t>0.2 s</a:t>
            </a:r>
          </a:p>
        </p:txBody>
      </p:sp>
      <p:sp>
        <p:nvSpPr>
          <p:cNvPr id="49" name="TextBox 48"/>
          <p:cNvSpPr txBox="1"/>
          <p:nvPr/>
        </p:nvSpPr>
        <p:spPr>
          <a:xfrm>
            <a:off x="3849624" y="3621024"/>
            <a:ext cx="1755648" cy="164592"/>
          </a:xfrm>
          <a:prstGeom prst="rect">
            <a:avLst/>
          </a:prstGeom>
          <a:noFill/>
        </p:spPr>
        <p:txBody>
          <a:bodyPr wrap="square" lIns="0" tIns="0" rIns="0" bIns="0" anchor="t">
            <a:noAutofit/>
          </a:bodyPr>
          <a:lstStyle/>
          <a:p>
            <a:pPr algn="l"/>
            <a:r>
              <a:rPr sz="800" b="0" i="0">
                <a:solidFill>
                  <a:srgbClr val="4A5668"/>
                </a:solidFill>
                <a:latin typeface="Inter"/>
              </a:rPr>
              <a:t>Proves it on the page.</a:t>
            </a:r>
          </a:p>
        </p:txBody>
      </p:sp>
      <p:sp>
        <p:nvSpPr>
          <p:cNvPr id="50" name="TextBox 49"/>
          <p:cNvSpPr txBox="1"/>
          <p:nvPr/>
        </p:nvSpPr>
        <p:spPr>
          <a:xfrm>
            <a:off x="6263640" y="2157984"/>
            <a:ext cx="1828800" cy="146304"/>
          </a:xfrm>
          <a:prstGeom prst="rect">
            <a:avLst/>
          </a:prstGeom>
          <a:noFill/>
        </p:spPr>
        <p:txBody>
          <a:bodyPr wrap="square" lIns="0" tIns="0" rIns="0" bIns="0" anchor="t">
            <a:noAutofit/>
          </a:bodyPr>
          <a:lstStyle/>
          <a:p>
            <a:pPr algn="l"/>
            <a:r>
              <a:rPr sz="650" b="1" i="0" spc="90">
                <a:solidFill>
                  <a:srgbClr val="7A7F8A"/>
                </a:solidFill>
                <a:latin typeface="Inter"/>
              </a:rPr>
              <a:t>CONFIDENCE BAND</a:t>
            </a:r>
          </a:p>
        </p:txBody>
      </p:sp>
      <p:sp>
        <p:nvSpPr>
          <p:cNvPr id="51" name="Rectangle 50"/>
          <p:cNvSpPr/>
          <p:nvPr/>
        </p:nvSpPr>
        <p:spPr>
          <a:xfrm>
            <a:off x="6263640" y="2331720"/>
            <a:ext cx="852587" cy="237744"/>
          </a:xfrm>
          <a:prstGeom prst="rect">
            <a:avLst/>
          </a:prstGeom>
          <a:solidFill>
            <a:srgbClr val="EBD9C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650" b="1" i="0" spc="60">
                <a:solidFill>
                  <a:srgbClr val="9A5620"/>
                </a:solidFill>
                <a:latin typeface="Inter"/>
              </a:rPr>
              <a:t>REFUSE</a:t>
            </a:r>
          </a:p>
        </p:txBody>
      </p:sp>
      <p:sp>
        <p:nvSpPr>
          <p:cNvPr id="52" name="Rectangle 51"/>
          <p:cNvSpPr/>
          <p:nvPr/>
        </p:nvSpPr>
        <p:spPr>
          <a:xfrm>
            <a:off x="7116227" y="2331720"/>
            <a:ext cx="405994" cy="237744"/>
          </a:xfrm>
          <a:prstGeom prst="rect">
            <a:avLst/>
          </a:prstGeom>
          <a:solidFill>
            <a:srgbClr val="C9D2EC"/>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650" b="1" i="0" spc="60">
                <a:solidFill>
                  <a:srgbClr val="1428A0"/>
                </a:solidFill>
                <a:latin typeface="Inter"/>
              </a:rPr>
              <a:t>REVIEW</a:t>
            </a:r>
          </a:p>
        </p:txBody>
      </p:sp>
      <p:sp>
        <p:nvSpPr>
          <p:cNvPr id="53" name="Rectangle 52"/>
          <p:cNvSpPr/>
          <p:nvPr/>
        </p:nvSpPr>
        <p:spPr>
          <a:xfrm>
            <a:off x="7522220" y="2331720"/>
            <a:ext cx="771388" cy="237744"/>
          </a:xfrm>
          <a:prstGeom prst="rect">
            <a:avLst/>
          </a:prstGeom>
          <a:solidFill>
            <a:srgbClr val="D3E3C3"/>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650" b="1" i="0" spc="60">
                <a:solidFill>
                  <a:srgbClr val="4A6E24"/>
                </a:solidFill>
                <a:latin typeface="Inter"/>
              </a:rPr>
              <a:t>APPLY</a:t>
            </a:r>
          </a:p>
        </p:txBody>
      </p:sp>
      <p:sp>
        <p:nvSpPr>
          <p:cNvPr id="54" name="TextBox 53"/>
          <p:cNvSpPr txBox="1"/>
          <p:nvPr/>
        </p:nvSpPr>
        <p:spPr>
          <a:xfrm>
            <a:off x="6887627" y="2596896"/>
            <a:ext cx="457200" cy="128016"/>
          </a:xfrm>
          <a:prstGeom prst="rect">
            <a:avLst/>
          </a:prstGeom>
          <a:noFill/>
        </p:spPr>
        <p:txBody>
          <a:bodyPr wrap="square" lIns="0" tIns="0" rIns="0" bIns="0" anchor="t">
            <a:noAutofit/>
          </a:bodyPr>
          <a:lstStyle/>
          <a:p>
            <a:pPr algn="ctr"/>
            <a:r>
              <a:rPr sz="650" b="0" i="0" dirty="0">
                <a:solidFill>
                  <a:srgbClr val="5A6472"/>
                </a:solidFill>
                <a:latin typeface="JetBrains Mono"/>
              </a:rPr>
              <a:t>42</a:t>
            </a:r>
            <a:r>
              <a:rPr lang="en-US" sz="650" b="0" i="0" dirty="0">
                <a:solidFill>
                  <a:srgbClr val="5A6472"/>
                </a:solidFill>
                <a:latin typeface="JetBrains Mono"/>
              </a:rPr>
              <a:t>%</a:t>
            </a:r>
            <a:endParaRPr sz="650" b="0" i="0" dirty="0">
              <a:solidFill>
                <a:srgbClr val="5A6472"/>
              </a:solidFill>
              <a:latin typeface="JetBrains Mono"/>
            </a:endParaRPr>
          </a:p>
        </p:txBody>
      </p:sp>
      <p:sp>
        <p:nvSpPr>
          <p:cNvPr id="55" name="TextBox 54"/>
          <p:cNvSpPr txBox="1"/>
          <p:nvPr/>
        </p:nvSpPr>
        <p:spPr>
          <a:xfrm>
            <a:off x="7293620" y="2596896"/>
            <a:ext cx="457200" cy="128016"/>
          </a:xfrm>
          <a:prstGeom prst="rect">
            <a:avLst/>
          </a:prstGeom>
          <a:noFill/>
        </p:spPr>
        <p:txBody>
          <a:bodyPr wrap="square" lIns="0" tIns="0" rIns="0" bIns="0" anchor="t">
            <a:noAutofit/>
          </a:bodyPr>
          <a:lstStyle/>
          <a:p>
            <a:pPr algn="ctr"/>
            <a:r>
              <a:rPr sz="650" b="0" i="0" dirty="0">
                <a:solidFill>
                  <a:srgbClr val="5A6472"/>
                </a:solidFill>
                <a:latin typeface="JetBrains Mono"/>
              </a:rPr>
              <a:t>62</a:t>
            </a:r>
            <a:r>
              <a:rPr lang="en-US" sz="650" b="0" i="0" dirty="0">
                <a:solidFill>
                  <a:srgbClr val="5A6472"/>
                </a:solidFill>
                <a:latin typeface="JetBrains Mono"/>
              </a:rPr>
              <a:t>%</a:t>
            </a:r>
            <a:endParaRPr sz="650" b="0" i="0" dirty="0">
              <a:solidFill>
                <a:srgbClr val="5A6472"/>
              </a:solidFill>
              <a:latin typeface="JetBrains Mono"/>
            </a:endParaRPr>
          </a:p>
        </p:txBody>
      </p:sp>
      <p:sp>
        <p:nvSpPr>
          <p:cNvPr id="56" name="TextBox 55"/>
          <p:cNvSpPr txBox="1"/>
          <p:nvPr/>
        </p:nvSpPr>
        <p:spPr>
          <a:xfrm>
            <a:off x="6263640" y="2871216"/>
            <a:ext cx="2048256" cy="1005840"/>
          </a:xfrm>
          <a:prstGeom prst="rect">
            <a:avLst/>
          </a:prstGeom>
          <a:noFill/>
        </p:spPr>
        <p:txBody>
          <a:bodyPr wrap="square" lIns="0" tIns="0" rIns="0" bIns="0" anchor="t">
            <a:noAutofit/>
          </a:bodyPr>
          <a:lstStyle/>
          <a:p>
            <a:pPr marL="118872" indent="-118872" algn="l">
              <a:lnSpc>
                <a:spcPct val="110000"/>
              </a:lnSpc>
              <a:spcAft>
                <a:spcPts val="700"/>
              </a:spcAft>
              <a:buClr>
                <a:srgbClr val="5F8B2F"/>
              </a:buClr>
              <a:buSzPct val="100000"/>
              <a:buFont typeface="Arial"/>
              <a:buChar char="•"/>
            </a:pPr>
            <a:r>
              <a:rPr sz="900" b="0" i="0">
                <a:solidFill>
                  <a:srgbClr val="1A1A1E"/>
                </a:solidFill>
                <a:latin typeface="Inter"/>
              </a:rPr>
              <a:t>Unproven: never auto-applied</a:t>
            </a:r>
          </a:p>
          <a:p>
            <a:pPr marL="118872" indent="-118872" algn="l">
              <a:lnSpc>
                <a:spcPct val="110000"/>
              </a:lnSpc>
              <a:spcAft>
                <a:spcPts val="700"/>
              </a:spcAft>
              <a:buClr>
                <a:srgbClr val="5F8B2F"/>
              </a:buClr>
              <a:buSzPct val="100000"/>
              <a:buFont typeface="Arial"/>
              <a:buChar char="•"/>
            </a:pPr>
            <a:r>
              <a:rPr sz="900" b="0" i="0">
                <a:solidFill>
                  <a:srgbClr val="1A1A1E"/>
                </a:solidFill>
                <a:latin typeface="Inter"/>
              </a:rPr>
              <a:t>Every decision audited</a:t>
            </a:r>
          </a:p>
        </p:txBody>
      </p:sp>
      <p:sp>
        <p:nvSpPr>
          <p:cNvPr id="57" name="Rounded Rectangle 56"/>
          <p:cNvSpPr/>
          <p:nvPr/>
        </p:nvSpPr>
        <p:spPr>
          <a:xfrm>
            <a:off x="667512" y="4041648"/>
            <a:ext cx="7808976" cy="493776"/>
          </a:xfrm>
          <a:prstGeom prst="roundRect">
            <a:avLst>
              <a:gd name="adj" fmla="val 30000"/>
            </a:avLst>
          </a:prstGeom>
          <a:solidFill>
            <a:srgbClr val="ED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pic>
        <p:nvPicPr>
          <p:cNvPr id="58" name="Picture 57" descr="LuLock_b.png"/>
          <p:cNvPicPr>
            <a:picLocks noChangeAspect="1"/>
          </p:cNvPicPr>
          <p:nvPr/>
        </p:nvPicPr>
        <p:blipFill>
          <a:blip r:embed="rId7"/>
          <a:stretch>
            <a:fillRect/>
          </a:stretch>
        </p:blipFill>
        <p:spPr>
          <a:xfrm>
            <a:off x="868680" y="4206240"/>
            <a:ext cx="164592" cy="164592"/>
          </a:xfrm>
          <a:prstGeom prst="rect">
            <a:avLst/>
          </a:prstGeom>
        </p:spPr>
      </p:pic>
      <p:sp>
        <p:nvSpPr>
          <p:cNvPr id="59" name="TextBox 58"/>
          <p:cNvSpPr txBox="1"/>
          <p:nvPr/>
        </p:nvSpPr>
        <p:spPr>
          <a:xfrm>
            <a:off x="1124712" y="4206240"/>
            <a:ext cx="2743200" cy="182880"/>
          </a:xfrm>
          <a:prstGeom prst="rect">
            <a:avLst/>
          </a:prstGeom>
          <a:noFill/>
        </p:spPr>
        <p:txBody>
          <a:bodyPr wrap="square" lIns="0" tIns="0" rIns="0" bIns="0" anchor="t">
            <a:noAutofit/>
          </a:bodyPr>
          <a:lstStyle/>
          <a:p>
            <a:pPr algn="l"/>
            <a:r>
              <a:rPr sz="850" b="1" i="0" dirty="0">
                <a:solidFill>
                  <a:srgbClr val="1A1A1E"/>
                </a:solidFill>
                <a:latin typeface="Inter"/>
              </a:rPr>
              <a:t>Index, not text.</a:t>
            </a:r>
            <a:r>
              <a:rPr sz="850" b="0" i="0" dirty="0">
                <a:solidFill>
                  <a:srgbClr val="4A5668"/>
                </a:solidFill>
                <a:latin typeface="Inter"/>
              </a:rPr>
              <a:t> The AI </a:t>
            </a:r>
            <a:r>
              <a:rPr lang="en-US" sz="850" b="0" i="0" dirty="0">
                <a:solidFill>
                  <a:srgbClr val="4A5668"/>
                </a:solidFill>
                <a:latin typeface="Inter"/>
              </a:rPr>
              <a:t>decides the correct</a:t>
            </a:r>
            <a:r>
              <a:rPr sz="850" b="0" i="0" dirty="0">
                <a:solidFill>
                  <a:srgbClr val="4A5668"/>
                </a:solidFill>
                <a:latin typeface="Inter"/>
              </a:rPr>
              <a:t> selector.</a:t>
            </a:r>
          </a:p>
        </p:txBody>
      </p:sp>
      <p:pic>
        <p:nvPicPr>
          <p:cNvPr id="60" name="Picture 59" descr="LuShieldCheck_b.png"/>
          <p:cNvPicPr>
            <a:picLocks noChangeAspect="1"/>
          </p:cNvPicPr>
          <p:nvPr/>
        </p:nvPicPr>
        <p:blipFill>
          <a:blip r:embed="rId8"/>
          <a:stretch>
            <a:fillRect/>
          </a:stretch>
        </p:blipFill>
        <p:spPr>
          <a:xfrm>
            <a:off x="4069080" y="4206240"/>
            <a:ext cx="164592" cy="164592"/>
          </a:xfrm>
          <a:prstGeom prst="rect">
            <a:avLst/>
          </a:prstGeom>
        </p:spPr>
      </p:pic>
      <p:sp>
        <p:nvSpPr>
          <p:cNvPr id="61" name="TextBox 60"/>
          <p:cNvSpPr txBox="1"/>
          <p:nvPr/>
        </p:nvSpPr>
        <p:spPr>
          <a:xfrm>
            <a:off x="4325112" y="4206240"/>
            <a:ext cx="1920240" cy="182880"/>
          </a:xfrm>
          <a:prstGeom prst="rect">
            <a:avLst/>
          </a:prstGeom>
          <a:noFill/>
        </p:spPr>
        <p:txBody>
          <a:bodyPr wrap="square" lIns="0" tIns="0" rIns="0" bIns="0" anchor="t">
            <a:noAutofit/>
          </a:bodyPr>
          <a:lstStyle/>
          <a:p>
            <a:pPr algn="l"/>
            <a:r>
              <a:rPr sz="850" b="1" i="0">
                <a:solidFill>
                  <a:srgbClr val="1A1A1E"/>
                </a:solidFill>
                <a:latin typeface="Inter"/>
              </a:rPr>
              <a:t>Fails open.</a:t>
            </a:r>
            <a:r>
              <a:rPr sz="850" b="0" i="0">
                <a:solidFill>
                  <a:srgbClr val="4A5668"/>
                </a:solidFill>
                <a:latin typeface="Inter"/>
              </a:rPr>
              <a:t> Never stops a robot.</a:t>
            </a:r>
          </a:p>
        </p:txBody>
      </p:sp>
      <p:pic>
        <p:nvPicPr>
          <p:cNvPr id="62" name="Picture 61" descr="LuScale_b.png"/>
          <p:cNvPicPr>
            <a:picLocks noChangeAspect="1"/>
          </p:cNvPicPr>
          <p:nvPr/>
        </p:nvPicPr>
        <p:blipFill>
          <a:blip r:embed="rId9"/>
          <a:stretch>
            <a:fillRect/>
          </a:stretch>
        </p:blipFill>
        <p:spPr>
          <a:xfrm>
            <a:off x="6446520" y="4206240"/>
            <a:ext cx="164592" cy="164592"/>
          </a:xfrm>
          <a:prstGeom prst="rect">
            <a:avLst/>
          </a:prstGeom>
        </p:spPr>
      </p:pic>
      <p:sp>
        <p:nvSpPr>
          <p:cNvPr id="63" name="TextBox 62"/>
          <p:cNvSpPr txBox="1"/>
          <p:nvPr/>
        </p:nvSpPr>
        <p:spPr>
          <a:xfrm>
            <a:off x="6702552" y="4206240"/>
            <a:ext cx="1783080" cy="182880"/>
          </a:xfrm>
          <a:prstGeom prst="rect">
            <a:avLst/>
          </a:prstGeom>
          <a:noFill/>
        </p:spPr>
        <p:txBody>
          <a:bodyPr wrap="square" lIns="0" tIns="0" rIns="0" bIns="0" anchor="t">
            <a:noAutofit/>
          </a:bodyPr>
          <a:lstStyle/>
          <a:p>
            <a:pPr algn="l"/>
            <a:r>
              <a:rPr sz="850" b="1" i="0">
                <a:solidFill>
                  <a:srgbClr val="1A1A1E"/>
                </a:solidFill>
                <a:latin typeface="Inter"/>
              </a:rPr>
              <a:t>Policy decides,</a:t>
            </a:r>
            <a:r>
              <a:rPr sz="850" b="0" i="0">
                <a:solidFill>
                  <a:srgbClr val="4A5668"/>
                </a:solidFill>
                <a:latin typeface="Inter"/>
              </a:rPr>
              <a:t> not the model.</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bar"/>
          <p:cNvSpPr/>
          <p:nvPr/>
        </p:nvSpPr>
        <p:spPr>
          <a:xfrm>
            <a:off x="0" y="0"/>
            <a:ext cx="9144000" cy="266730"/>
          </a:xfrm>
          <a:prstGeom prst="rect">
            <a:avLst/>
          </a:prstGeom>
          <a:solidFill>
            <a:srgbClr val="1A2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Header text"/>
          <p:cNvSpPr txBox="1"/>
          <p:nvPr/>
        </p:nvSpPr>
        <p:spPr>
          <a:xfrm>
            <a:off x="666598" y="80924"/>
            <a:ext cx="7616952" cy="182880"/>
          </a:xfrm>
          <a:prstGeom prst="rect">
            <a:avLst/>
          </a:prstGeom>
          <a:noFill/>
        </p:spPr>
        <p:txBody>
          <a:bodyPr wrap="square" lIns="0" tIns="0" rIns="0" bIns="0" anchor="t">
            <a:noAutofit/>
          </a:bodyPr>
          <a:lstStyle/>
          <a:p>
            <a:pPr algn="l"/>
            <a:r>
              <a:rPr sz="855" b="1" i="0" spc="21">
                <a:solidFill>
                  <a:srgbClr val="FFFFFF"/>
                </a:solidFill>
                <a:latin typeface="Inter"/>
              </a:rPr>
              <a:t>SAMSUNG SDS</a:t>
            </a:r>
            <a:r>
              <a:rPr sz="855" b="0" i="0" spc="21">
                <a:solidFill>
                  <a:srgbClr val="B9C6DA"/>
                </a:solidFill>
                <a:latin typeface="Inter"/>
              </a:rPr>
              <a:t>   |   </a:t>
            </a:r>
            <a:r>
              <a:rPr sz="855" b="1" i="0" spc="21">
                <a:solidFill>
                  <a:srgbClr val="B9C6DA"/>
                </a:solidFill>
                <a:latin typeface="Inter"/>
              </a:rPr>
              <a:t>ARCHITECTURE  ·  TECHNOLOGY STACK</a:t>
            </a:r>
          </a:p>
        </p:txBody>
      </p:sp>
      <p:sp>
        <p:nvSpPr>
          <p:cNvPr id="4" name="Template dash 1"/>
          <p:cNvSpPr/>
          <p:nvPr/>
        </p:nvSpPr>
        <p:spPr>
          <a:xfrm>
            <a:off x="666598" y="404805"/>
            <a:ext cx="300015" cy="38130"/>
          </a:xfrm>
          <a:prstGeom prst="rect">
            <a:avLst/>
          </a:prstGeom>
          <a:solidFill>
            <a:srgbClr val="1616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mplate dash 2"/>
          <p:cNvSpPr/>
          <p:nvPr/>
        </p:nvSpPr>
        <p:spPr>
          <a:xfrm>
            <a:off x="999988" y="404805"/>
            <a:ext cx="300015" cy="38130"/>
          </a:xfrm>
          <a:prstGeom prst="rect">
            <a:avLst/>
          </a:prstGeom>
          <a:solidFill>
            <a:srgbClr val="2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mplate dash 3"/>
          <p:cNvSpPr/>
          <p:nvPr/>
        </p:nvSpPr>
        <p:spPr>
          <a:xfrm>
            <a:off x="1333378" y="404805"/>
            <a:ext cx="300015" cy="38130"/>
          </a:xfrm>
          <a:prstGeom prst="rect">
            <a:avLst/>
          </a:prstGeom>
          <a:solidFill>
            <a:srgbClr val="5F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mplate dash 4"/>
          <p:cNvSpPr/>
          <p:nvPr/>
        </p:nvSpPr>
        <p:spPr>
          <a:xfrm>
            <a:off x="1666768" y="404805"/>
            <a:ext cx="300015" cy="38130"/>
          </a:xfrm>
          <a:prstGeom prst="rect">
            <a:avLst/>
          </a:prstGeom>
          <a:solidFill>
            <a:srgbClr val="C170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Confidential"/>
          <p:cNvSpPr txBox="1"/>
          <p:nvPr/>
        </p:nvSpPr>
        <p:spPr>
          <a:xfrm>
            <a:off x="3143250" y="4934102"/>
            <a:ext cx="2857500" cy="137160"/>
          </a:xfrm>
          <a:prstGeom prst="rect">
            <a:avLst/>
          </a:prstGeom>
          <a:noFill/>
        </p:spPr>
        <p:txBody>
          <a:bodyPr wrap="square" lIns="0" tIns="0" rIns="0" bIns="0" anchor="t">
            <a:noAutofit/>
          </a:bodyPr>
          <a:lstStyle/>
          <a:p>
            <a:pPr algn="ctr"/>
            <a:r>
              <a:rPr sz="606" b="0" i="0" spc="57">
                <a:solidFill>
                  <a:srgbClr val="7A7F8A"/>
                </a:solidFill>
                <a:latin typeface="Inter"/>
              </a:rPr>
              <a:t>Confidential</a:t>
            </a:r>
          </a:p>
        </p:txBody>
      </p:sp>
      <p:sp>
        <p:nvSpPr>
          <p:cNvPr id="9" name="Page number"/>
          <p:cNvSpPr txBox="1"/>
          <p:nvPr/>
        </p:nvSpPr>
        <p:spPr>
          <a:xfrm>
            <a:off x="7315200" y="4753051"/>
            <a:ext cx="1161288" cy="109728"/>
          </a:xfrm>
          <a:prstGeom prst="rect">
            <a:avLst/>
          </a:prstGeom>
          <a:noFill/>
        </p:spPr>
        <p:txBody>
          <a:bodyPr wrap="square" lIns="0" tIns="0" rIns="0" bIns="0" anchor="t">
            <a:noAutofit/>
          </a:bodyPr>
          <a:lstStyle/>
          <a:p>
            <a:pPr algn="r"/>
            <a:r>
              <a:rPr sz="534" b="0" i="0" spc="78">
                <a:solidFill>
                  <a:srgbClr val="7A7F8A"/>
                </a:solidFill>
                <a:latin typeface="Inter"/>
              </a:rPr>
              <a:t>PAGE 04 / 07</a:t>
            </a:r>
          </a:p>
        </p:txBody>
      </p:sp>
      <p:sp>
        <p:nvSpPr>
          <p:cNvPr id="10" name="Footer brand"/>
          <p:cNvSpPr txBox="1"/>
          <p:nvPr/>
        </p:nvSpPr>
        <p:spPr>
          <a:xfrm>
            <a:off x="5619902" y="4895698"/>
            <a:ext cx="2857500" cy="192024"/>
          </a:xfrm>
          <a:prstGeom prst="rect">
            <a:avLst/>
          </a:prstGeom>
          <a:noFill/>
        </p:spPr>
        <p:txBody>
          <a:bodyPr wrap="square" lIns="0" tIns="0" rIns="0" bIns="0" anchor="t">
            <a:noAutofit/>
          </a:bodyPr>
          <a:lstStyle/>
          <a:p>
            <a:pPr algn="r"/>
            <a:r>
              <a:rPr sz="855" b="1" i="0" spc="14">
                <a:solidFill>
                  <a:srgbClr val="1428A0"/>
                </a:solidFill>
                <a:latin typeface="Inter"/>
              </a:rPr>
              <a:t>SAMSUNG SDS</a:t>
            </a:r>
          </a:p>
        </p:txBody>
      </p:sp>
      <p:sp>
        <p:nvSpPr>
          <p:cNvPr id="11" name="Title"/>
          <p:cNvSpPr txBox="1"/>
          <p:nvPr/>
        </p:nvSpPr>
        <p:spPr>
          <a:xfrm>
            <a:off x="667512" y="548640"/>
            <a:ext cx="7808976" cy="384048"/>
          </a:xfrm>
          <a:prstGeom prst="rect">
            <a:avLst/>
          </a:prstGeom>
          <a:noFill/>
        </p:spPr>
        <p:txBody>
          <a:bodyPr wrap="square" lIns="0" tIns="0" rIns="0" bIns="0" anchor="t">
            <a:noAutofit/>
          </a:bodyPr>
          <a:lstStyle/>
          <a:p>
            <a:pPr algn="l"/>
            <a:r>
              <a:rPr sz="2000" b="1" i="0" spc="-60">
                <a:solidFill>
                  <a:srgbClr val="1A1A1E"/>
                </a:solidFill>
                <a:latin typeface="Inter"/>
              </a:rPr>
              <a:t>One GPU host serves the whole robot fleet.</a:t>
            </a:r>
          </a:p>
        </p:txBody>
      </p:sp>
      <p:sp>
        <p:nvSpPr>
          <p:cNvPr id="12" name="Subtitle"/>
          <p:cNvSpPr txBox="1"/>
          <p:nvPr/>
        </p:nvSpPr>
        <p:spPr>
          <a:xfrm>
            <a:off x="667512" y="941832"/>
            <a:ext cx="7808976" cy="201168"/>
          </a:xfrm>
          <a:prstGeom prst="rect">
            <a:avLst/>
          </a:prstGeom>
          <a:noFill/>
        </p:spPr>
        <p:txBody>
          <a:bodyPr wrap="square" lIns="0" tIns="0" rIns="0" bIns="0" anchor="t">
            <a:noAutofit/>
          </a:bodyPr>
          <a:lstStyle/>
          <a:p>
            <a:pPr algn="l"/>
            <a:r>
              <a:rPr sz="950" b="0" i="0">
                <a:solidFill>
                  <a:srgbClr val="4A5668"/>
                </a:solidFill>
                <a:latin typeface="Inter"/>
              </a:rPr>
              <a:t>Robots keep the browser. One shared host runs the AI.</a:t>
            </a:r>
          </a:p>
        </p:txBody>
      </p:sp>
      <p:sp>
        <p:nvSpPr>
          <p:cNvPr id="13" name="Rounded Rectangle 12"/>
          <p:cNvSpPr/>
          <p:nvPr/>
        </p:nvSpPr>
        <p:spPr>
          <a:xfrm>
            <a:off x="667512" y="1325880"/>
            <a:ext cx="1645920" cy="3200400"/>
          </a:xfrm>
          <a:prstGeom prst="roundRect">
            <a:avLst>
              <a:gd name="adj" fmla="val 5000"/>
            </a:avLst>
          </a:prstGeom>
          <a:solidFill>
            <a:srgbClr val="F7F9FC"/>
          </a:solidFill>
          <a:ln w="12700">
            <a:solidFill>
              <a:srgbClr val="B9C6D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77240" y="1417320"/>
            <a:ext cx="1554480" cy="146304"/>
          </a:xfrm>
          <a:prstGeom prst="rect">
            <a:avLst/>
          </a:prstGeom>
          <a:noFill/>
        </p:spPr>
        <p:txBody>
          <a:bodyPr wrap="square" lIns="0" tIns="0" rIns="0" bIns="0" anchor="t">
            <a:noAutofit/>
          </a:bodyPr>
          <a:lstStyle/>
          <a:p>
            <a:pPr algn="l"/>
            <a:r>
              <a:rPr sz="650" b="1" i="0" spc="90">
                <a:solidFill>
                  <a:srgbClr val="2A5C9E"/>
                </a:solidFill>
                <a:latin typeface="Inter"/>
              </a:rPr>
              <a:t>ROBOT HOST  ·  NO GPU</a:t>
            </a:r>
          </a:p>
        </p:txBody>
      </p:sp>
      <p:sp>
        <p:nvSpPr>
          <p:cNvPr id="15" name="Rounded Rectangle 14"/>
          <p:cNvSpPr/>
          <p:nvPr/>
        </p:nvSpPr>
        <p:spPr>
          <a:xfrm>
            <a:off x="777240" y="1709928"/>
            <a:ext cx="1426464" cy="585216"/>
          </a:xfrm>
          <a:prstGeom prst="roundRect">
            <a:avLst>
              <a:gd name="adj" fmla="val 12000"/>
            </a:avLst>
          </a:prstGeom>
          <a:solidFill>
            <a:srgbClr val="FFFFFF"/>
          </a:solidFill>
          <a:ln w="9525">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 name="Picture 15" descr="LuFileCode_b.png"/>
          <p:cNvPicPr>
            <a:picLocks noChangeAspect="1"/>
          </p:cNvPicPr>
          <p:nvPr/>
        </p:nvPicPr>
        <p:blipFill>
          <a:blip r:embed="rId3"/>
          <a:stretch>
            <a:fillRect/>
          </a:stretch>
        </p:blipFill>
        <p:spPr>
          <a:xfrm>
            <a:off x="868680" y="1801368"/>
            <a:ext cx="182880" cy="182880"/>
          </a:xfrm>
          <a:prstGeom prst="rect">
            <a:avLst/>
          </a:prstGeom>
        </p:spPr>
      </p:pic>
      <p:sp>
        <p:nvSpPr>
          <p:cNvPr id="17" name="TextBox 16"/>
          <p:cNvSpPr txBox="1"/>
          <p:nvPr/>
        </p:nvSpPr>
        <p:spPr>
          <a:xfrm>
            <a:off x="1106424" y="1810512"/>
            <a:ext cx="1042416" cy="164592"/>
          </a:xfrm>
          <a:prstGeom prst="rect">
            <a:avLst/>
          </a:prstGeom>
          <a:noFill/>
        </p:spPr>
        <p:txBody>
          <a:bodyPr wrap="square" lIns="0" tIns="0" rIns="0" bIns="0" anchor="t">
            <a:noAutofit/>
          </a:bodyPr>
          <a:lstStyle/>
          <a:p>
            <a:pPr algn="l"/>
            <a:r>
              <a:rPr sz="800" b="1" i="0">
                <a:solidFill>
                  <a:srgbClr val="1A1A1E"/>
                </a:solidFill>
                <a:latin typeface="Inter"/>
              </a:rPr>
              <a:t>Automation script</a:t>
            </a:r>
          </a:p>
        </p:txBody>
      </p:sp>
      <p:sp>
        <p:nvSpPr>
          <p:cNvPr id="18" name="TextBox 17"/>
          <p:cNvSpPr txBox="1"/>
          <p:nvPr/>
        </p:nvSpPr>
        <p:spPr>
          <a:xfrm>
            <a:off x="868680" y="2048256"/>
            <a:ext cx="1261872" cy="182880"/>
          </a:xfrm>
          <a:prstGeom prst="rect">
            <a:avLst/>
          </a:prstGeom>
          <a:noFill/>
        </p:spPr>
        <p:txBody>
          <a:bodyPr wrap="square" lIns="0" tIns="0" rIns="0" bIns="0" anchor="t">
            <a:noAutofit/>
          </a:bodyPr>
          <a:lstStyle/>
          <a:p>
            <a:pPr algn="l"/>
            <a:r>
              <a:rPr sz="700" b="0" i="0">
                <a:solidFill>
                  <a:srgbClr val="5A6472"/>
                </a:solidFill>
                <a:latin typeface="Inter"/>
              </a:rPr>
              <a:t>existing, unchanged</a:t>
            </a:r>
          </a:p>
        </p:txBody>
      </p:sp>
      <p:sp>
        <p:nvSpPr>
          <p:cNvPr id="19" name="Rounded Rectangle 18"/>
          <p:cNvSpPr/>
          <p:nvPr/>
        </p:nvSpPr>
        <p:spPr>
          <a:xfrm>
            <a:off x="777240" y="2679192"/>
            <a:ext cx="1426464" cy="585216"/>
          </a:xfrm>
          <a:prstGeom prst="roundRect">
            <a:avLst>
              <a:gd name="adj" fmla="val 12000"/>
            </a:avLst>
          </a:prstGeom>
          <a:solidFill>
            <a:srgbClr val="FFFFFF"/>
          </a:solidFill>
          <a:ln w="15875">
            <a:solidFill>
              <a:srgbClr val="1428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0" name="Picture 19" descr="LuPackage_b.png"/>
          <p:cNvPicPr>
            <a:picLocks noChangeAspect="1"/>
          </p:cNvPicPr>
          <p:nvPr/>
        </p:nvPicPr>
        <p:blipFill>
          <a:blip r:embed="rId4"/>
          <a:stretch>
            <a:fillRect/>
          </a:stretch>
        </p:blipFill>
        <p:spPr>
          <a:xfrm>
            <a:off x="868680" y="2770632"/>
            <a:ext cx="182880" cy="182880"/>
          </a:xfrm>
          <a:prstGeom prst="rect">
            <a:avLst/>
          </a:prstGeom>
        </p:spPr>
      </p:pic>
      <p:sp>
        <p:nvSpPr>
          <p:cNvPr id="21" name="TextBox 20"/>
          <p:cNvSpPr txBox="1"/>
          <p:nvPr/>
        </p:nvSpPr>
        <p:spPr>
          <a:xfrm>
            <a:off x="1106424" y="2779776"/>
            <a:ext cx="1042416" cy="164592"/>
          </a:xfrm>
          <a:prstGeom prst="rect">
            <a:avLst/>
          </a:prstGeom>
          <a:noFill/>
        </p:spPr>
        <p:txBody>
          <a:bodyPr wrap="square" lIns="0" tIns="0" rIns="0" bIns="0" anchor="t">
            <a:noAutofit/>
          </a:bodyPr>
          <a:lstStyle/>
          <a:p>
            <a:pPr algn="l"/>
            <a:r>
              <a:rPr sz="800" b="1" i="0">
                <a:solidFill>
                  <a:srgbClr val="1A1A1E"/>
                </a:solidFill>
                <a:latin typeface="Inter"/>
              </a:rPr>
              <a:t>Thin client</a:t>
            </a:r>
          </a:p>
        </p:txBody>
      </p:sp>
      <p:sp>
        <p:nvSpPr>
          <p:cNvPr id="22" name="TextBox 21"/>
          <p:cNvSpPr txBox="1"/>
          <p:nvPr/>
        </p:nvSpPr>
        <p:spPr>
          <a:xfrm>
            <a:off x="868680" y="3017520"/>
            <a:ext cx="1261872" cy="182880"/>
          </a:xfrm>
          <a:prstGeom prst="rect">
            <a:avLst/>
          </a:prstGeom>
          <a:noFill/>
        </p:spPr>
        <p:txBody>
          <a:bodyPr wrap="square" lIns="0" tIns="0" rIns="0" bIns="0" anchor="t">
            <a:noAutofit/>
          </a:bodyPr>
          <a:lstStyle/>
          <a:p>
            <a:pPr algn="l"/>
            <a:r>
              <a:rPr sz="700" b="0" i="0">
                <a:solidFill>
                  <a:srgbClr val="5A6472"/>
                </a:solidFill>
                <a:latin typeface="Inter"/>
              </a:rPr>
              <a:t>bis.py, one file</a:t>
            </a:r>
          </a:p>
        </p:txBody>
      </p:sp>
      <p:sp>
        <p:nvSpPr>
          <p:cNvPr id="23" name="Rounded Rectangle 22"/>
          <p:cNvSpPr/>
          <p:nvPr/>
        </p:nvSpPr>
        <p:spPr>
          <a:xfrm>
            <a:off x="777240" y="3648456"/>
            <a:ext cx="1426464" cy="585216"/>
          </a:xfrm>
          <a:prstGeom prst="roundRect">
            <a:avLst>
              <a:gd name="adj" fmla="val 12000"/>
            </a:avLst>
          </a:prstGeom>
          <a:solidFill>
            <a:srgbClr val="FFFFFF"/>
          </a:solidFill>
          <a:ln w="9525">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4" name="Picture 23" descr="LuGlobe_b.png"/>
          <p:cNvPicPr>
            <a:picLocks noChangeAspect="1"/>
          </p:cNvPicPr>
          <p:nvPr/>
        </p:nvPicPr>
        <p:blipFill>
          <a:blip r:embed="rId5"/>
          <a:stretch>
            <a:fillRect/>
          </a:stretch>
        </p:blipFill>
        <p:spPr>
          <a:xfrm>
            <a:off x="868680" y="3739896"/>
            <a:ext cx="182880" cy="182880"/>
          </a:xfrm>
          <a:prstGeom prst="rect">
            <a:avLst/>
          </a:prstGeom>
        </p:spPr>
      </p:pic>
      <p:sp>
        <p:nvSpPr>
          <p:cNvPr id="25" name="TextBox 24"/>
          <p:cNvSpPr txBox="1"/>
          <p:nvPr/>
        </p:nvSpPr>
        <p:spPr>
          <a:xfrm>
            <a:off x="1106424" y="3749040"/>
            <a:ext cx="1042416" cy="164592"/>
          </a:xfrm>
          <a:prstGeom prst="rect">
            <a:avLst/>
          </a:prstGeom>
          <a:noFill/>
        </p:spPr>
        <p:txBody>
          <a:bodyPr wrap="square" lIns="0" tIns="0" rIns="0" bIns="0" anchor="t">
            <a:noAutofit/>
          </a:bodyPr>
          <a:lstStyle/>
          <a:p>
            <a:pPr algn="l"/>
            <a:r>
              <a:rPr sz="800" b="1" i="0">
                <a:solidFill>
                  <a:srgbClr val="1A1A1E"/>
                </a:solidFill>
                <a:latin typeface="Inter"/>
              </a:rPr>
              <a:t>Browser</a:t>
            </a:r>
          </a:p>
        </p:txBody>
      </p:sp>
      <p:sp>
        <p:nvSpPr>
          <p:cNvPr id="26" name="TextBox 25"/>
          <p:cNvSpPr txBox="1"/>
          <p:nvPr/>
        </p:nvSpPr>
        <p:spPr>
          <a:xfrm>
            <a:off x="868680" y="3986784"/>
            <a:ext cx="1261872" cy="182880"/>
          </a:xfrm>
          <a:prstGeom prst="rect">
            <a:avLst/>
          </a:prstGeom>
          <a:noFill/>
        </p:spPr>
        <p:txBody>
          <a:bodyPr wrap="square" lIns="0" tIns="0" rIns="0" bIns="0" anchor="t">
            <a:noAutofit/>
          </a:bodyPr>
          <a:lstStyle/>
          <a:p>
            <a:pPr algn="l"/>
            <a:r>
              <a:rPr sz="700" b="0" i="0">
                <a:solidFill>
                  <a:srgbClr val="5A6472"/>
                </a:solidFill>
                <a:latin typeface="Inter"/>
              </a:rPr>
              <a:t>Selenium or Playwright</a:t>
            </a:r>
          </a:p>
        </p:txBody>
      </p:sp>
      <p:cxnSp>
        <p:nvCxnSpPr>
          <p:cNvPr id="27" name="Connector 26"/>
          <p:cNvCxnSpPr/>
          <p:nvPr/>
        </p:nvCxnSpPr>
        <p:spPr>
          <a:xfrm>
            <a:off x="1490472" y="2295144"/>
            <a:ext cx="0" cy="384048"/>
          </a:xfrm>
          <a:prstGeom prst="line">
            <a:avLst/>
          </a:prstGeom>
          <a:ln w="12700">
            <a:solidFill>
              <a:srgbClr val="5A6472"/>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1563624" y="2404872"/>
            <a:ext cx="731520" cy="146304"/>
          </a:xfrm>
          <a:prstGeom prst="rect">
            <a:avLst/>
          </a:prstGeom>
          <a:noFill/>
        </p:spPr>
        <p:txBody>
          <a:bodyPr wrap="square" lIns="0" tIns="0" rIns="0" bIns="0" anchor="t">
            <a:noAutofit/>
          </a:bodyPr>
          <a:lstStyle/>
          <a:p>
            <a:pPr algn="l"/>
            <a:r>
              <a:rPr sz="650" b="0" i="0">
                <a:solidFill>
                  <a:srgbClr val="5A6472"/>
                </a:solidFill>
                <a:latin typeface="JetBrains Mono"/>
              </a:rPr>
              <a:t>find()</a:t>
            </a:r>
          </a:p>
        </p:txBody>
      </p:sp>
      <p:cxnSp>
        <p:nvCxnSpPr>
          <p:cNvPr id="29" name="Connector 28"/>
          <p:cNvCxnSpPr/>
          <p:nvPr/>
        </p:nvCxnSpPr>
        <p:spPr>
          <a:xfrm>
            <a:off x="1490472" y="3264408"/>
            <a:ext cx="0" cy="384048"/>
          </a:xfrm>
          <a:prstGeom prst="line">
            <a:avLst/>
          </a:prstGeom>
          <a:ln w="12700">
            <a:solidFill>
              <a:srgbClr val="5A6472"/>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1563624" y="3374136"/>
            <a:ext cx="822960" cy="146304"/>
          </a:xfrm>
          <a:prstGeom prst="rect">
            <a:avLst/>
          </a:prstGeom>
          <a:noFill/>
        </p:spPr>
        <p:txBody>
          <a:bodyPr wrap="square" lIns="0" tIns="0" rIns="0" bIns="0" anchor="t">
            <a:noAutofit/>
          </a:bodyPr>
          <a:lstStyle/>
          <a:p>
            <a:pPr algn="l"/>
            <a:r>
              <a:rPr sz="650" b="0" i="0">
                <a:solidFill>
                  <a:srgbClr val="5A6472"/>
                </a:solidFill>
                <a:latin typeface="JetBrains Mono"/>
              </a:rPr>
              <a:t>harvest, bind</a:t>
            </a:r>
          </a:p>
        </p:txBody>
      </p:sp>
      <p:sp>
        <p:nvSpPr>
          <p:cNvPr id="31" name="Rounded Rectangle 30"/>
          <p:cNvSpPr/>
          <p:nvPr/>
        </p:nvSpPr>
        <p:spPr>
          <a:xfrm>
            <a:off x="2971800" y="1325880"/>
            <a:ext cx="3017520" cy="3200400"/>
          </a:xfrm>
          <a:prstGeom prst="roundRect">
            <a:avLst>
              <a:gd name="adj" fmla="val 5000"/>
            </a:avLst>
          </a:prstGeom>
          <a:solidFill>
            <a:srgbClr val="F2F6FF"/>
          </a:solidFill>
          <a:ln w="12700">
            <a:solidFill>
              <a:srgbClr val="1428A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081528" y="1417320"/>
            <a:ext cx="2286000" cy="146304"/>
          </a:xfrm>
          <a:prstGeom prst="rect">
            <a:avLst/>
          </a:prstGeom>
          <a:noFill/>
        </p:spPr>
        <p:txBody>
          <a:bodyPr wrap="square" lIns="0" tIns="0" rIns="0" bIns="0" anchor="t">
            <a:noAutofit/>
          </a:bodyPr>
          <a:lstStyle/>
          <a:p>
            <a:pPr algn="l"/>
            <a:r>
              <a:rPr sz="650" b="1" i="0" spc="90">
                <a:solidFill>
                  <a:srgbClr val="1428A0"/>
                </a:solidFill>
                <a:latin typeface="Inter"/>
              </a:rPr>
              <a:t>HEALING HOST  ·  ONE GPU</a:t>
            </a:r>
          </a:p>
        </p:txBody>
      </p:sp>
      <p:sp>
        <p:nvSpPr>
          <p:cNvPr id="33" name="Rounded Rectangle 32"/>
          <p:cNvSpPr/>
          <p:nvPr/>
        </p:nvSpPr>
        <p:spPr>
          <a:xfrm>
            <a:off x="3081528" y="1709928"/>
            <a:ext cx="1298448" cy="585216"/>
          </a:xfrm>
          <a:prstGeom prst="roundRect">
            <a:avLst>
              <a:gd name="adj" fmla="val 12000"/>
            </a:avLst>
          </a:prstGeom>
          <a:solidFill>
            <a:srgbClr val="FFFFFF"/>
          </a:solidFill>
          <a:ln w="9525">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4" name="Picture 33" descr="LuDatabase_g.png"/>
          <p:cNvPicPr>
            <a:picLocks noChangeAspect="1"/>
          </p:cNvPicPr>
          <p:nvPr/>
        </p:nvPicPr>
        <p:blipFill>
          <a:blip r:embed="rId6"/>
          <a:stretch>
            <a:fillRect/>
          </a:stretch>
        </p:blipFill>
        <p:spPr>
          <a:xfrm>
            <a:off x="3172968" y="1801368"/>
            <a:ext cx="182880" cy="182880"/>
          </a:xfrm>
          <a:prstGeom prst="rect">
            <a:avLst/>
          </a:prstGeom>
        </p:spPr>
      </p:pic>
      <p:sp>
        <p:nvSpPr>
          <p:cNvPr id="35" name="TextBox 34"/>
          <p:cNvSpPr txBox="1"/>
          <p:nvPr/>
        </p:nvSpPr>
        <p:spPr>
          <a:xfrm>
            <a:off x="3410712" y="1810512"/>
            <a:ext cx="914400" cy="164592"/>
          </a:xfrm>
          <a:prstGeom prst="rect">
            <a:avLst/>
          </a:prstGeom>
          <a:noFill/>
        </p:spPr>
        <p:txBody>
          <a:bodyPr wrap="square" lIns="0" tIns="0" rIns="0" bIns="0" anchor="t">
            <a:noAutofit/>
          </a:bodyPr>
          <a:lstStyle/>
          <a:p>
            <a:pPr algn="l"/>
            <a:r>
              <a:rPr sz="800" b="1" i="0">
                <a:solidFill>
                  <a:srgbClr val="1A1A1E"/>
                </a:solidFill>
                <a:latin typeface="Inter"/>
              </a:rPr>
              <a:t>Repair store</a:t>
            </a:r>
          </a:p>
        </p:txBody>
      </p:sp>
      <p:sp>
        <p:nvSpPr>
          <p:cNvPr id="36" name="TextBox 35"/>
          <p:cNvSpPr txBox="1"/>
          <p:nvPr/>
        </p:nvSpPr>
        <p:spPr>
          <a:xfrm>
            <a:off x="3172968" y="2048256"/>
            <a:ext cx="1133856" cy="182880"/>
          </a:xfrm>
          <a:prstGeom prst="rect">
            <a:avLst/>
          </a:prstGeom>
          <a:noFill/>
        </p:spPr>
        <p:txBody>
          <a:bodyPr wrap="square" lIns="0" tIns="0" rIns="0" bIns="0" anchor="t">
            <a:noAutofit/>
          </a:bodyPr>
          <a:lstStyle/>
          <a:p>
            <a:pPr algn="l"/>
            <a:r>
              <a:rPr sz="700" b="0" i="0">
                <a:solidFill>
                  <a:srgbClr val="5A6472"/>
                </a:solidFill>
                <a:latin typeface="Inter"/>
              </a:rPr>
              <a:t>SQLite, proven fixes</a:t>
            </a:r>
          </a:p>
        </p:txBody>
      </p:sp>
      <p:sp>
        <p:nvSpPr>
          <p:cNvPr id="37" name="Rounded Rectangle 36"/>
          <p:cNvSpPr/>
          <p:nvPr/>
        </p:nvSpPr>
        <p:spPr>
          <a:xfrm>
            <a:off x="4636008" y="1709928"/>
            <a:ext cx="1298448" cy="585216"/>
          </a:xfrm>
          <a:prstGeom prst="roundRect">
            <a:avLst>
              <a:gd name="adj" fmla="val 12000"/>
            </a:avLst>
          </a:prstGeom>
          <a:solidFill>
            <a:srgbClr val="FFFFFF"/>
          </a:solidFill>
          <a:ln w="9525">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8" name="Picture 37" descr="LuHardDrive_g.png"/>
          <p:cNvPicPr>
            <a:picLocks noChangeAspect="1"/>
          </p:cNvPicPr>
          <p:nvPr/>
        </p:nvPicPr>
        <p:blipFill>
          <a:blip r:embed="rId7"/>
          <a:stretch>
            <a:fillRect/>
          </a:stretch>
        </p:blipFill>
        <p:spPr>
          <a:xfrm>
            <a:off x="4727448" y="1801368"/>
            <a:ext cx="182880" cy="182880"/>
          </a:xfrm>
          <a:prstGeom prst="rect">
            <a:avLst/>
          </a:prstGeom>
        </p:spPr>
      </p:pic>
      <p:sp>
        <p:nvSpPr>
          <p:cNvPr id="39" name="TextBox 38"/>
          <p:cNvSpPr txBox="1"/>
          <p:nvPr/>
        </p:nvSpPr>
        <p:spPr>
          <a:xfrm>
            <a:off x="4965192" y="1810512"/>
            <a:ext cx="914400" cy="164592"/>
          </a:xfrm>
          <a:prstGeom prst="rect">
            <a:avLst/>
          </a:prstGeom>
          <a:noFill/>
        </p:spPr>
        <p:txBody>
          <a:bodyPr wrap="square" lIns="0" tIns="0" rIns="0" bIns="0" anchor="t">
            <a:noAutofit/>
          </a:bodyPr>
          <a:lstStyle/>
          <a:p>
            <a:pPr algn="l"/>
            <a:r>
              <a:rPr sz="800" b="1" i="0">
                <a:solidFill>
                  <a:srgbClr val="1A1A1E"/>
                </a:solidFill>
                <a:latin typeface="Inter"/>
              </a:rPr>
              <a:t>Baseline store</a:t>
            </a:r>
          </a:p>
        </p:txBody>
      </p:sp>
      <p:sp>
        <p:nvSpPr>
          <p:cNvPr id="40" name="TextBox 39"/>
          <p:cNvSpPr txBox="1"/>
          <p:nvPr/>
        </p:nvSpPr>
        <p:spPr>
          <a:xfrm>
            <a:off x="4727448" y="2048256"/>
            <a:ext cx="1133856" cy="182880"/>
          </a:xfrm>
          <a:prstGeom prst="rect">
            <a:avLst/>
          </a:prstGeom>
          <a:noFill/>
        </p:spPr>
        <p:txBody>
          <a:bodyPr wrap="square" lIns="0" tIns="0" rIns="0" bIns="0" anchor="t">
            <a:noAutofit/>
          </a:bodyPr>
          <a:lstStyle/>
          <a:p>
            <a:pPr algn="l"/>
            <a:r>
              <a:rPr sz="700" b="0" i="0">
                <a:solidFill>
                  <a:srgbClr val="5A6472"/>
                </a:solidFill>
                <a:latin typeface="Inter"/>
              </a:rPr>
              <a:t>last good fingerprints</a:t>
            </a:r>
          </a:p>
        </p:txBody>
      </p:sp>
      <p:sp>
        <p:nvSpPr>
          <p:cNvPr id="41" name="Rounded Rectangle 40"/>
          <p:cNvSpPr/>
          <p:nvPr/>
        </p:nvSpPr>
        <p:spPr>
          <a:xfrm>
            <a:off x="3081528" y="2679192"/>
            <a:ext cx="1298448" cy="585216"/>
          </a:xfrm>
          <a:prstGeom prst="roundRect">
            <a:avLst>
              <a:gd name="adj" fmla="val 12000"/>
            </a:avLst>
          </a:prstGeom>
          <a:solidFill>
            <a:srgbClr val="FFFFFF"/>
          </a:solidFill>
          <a:ln w="15875">
            <a:solidFill>
              <a:srgbClr val="1428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2" name="Picture 41" descr="LuServer_b.png"/>
          <p:cNvPicPr>
            <a:picLocks noChangeAspect="1"/>
          </p:cNvPicPr>
          <p:nvPr/>
        </p:nvPicPr>
        <p:blipFill>
          <a:blip r:embed="rId8"/>
          <a:stretch>
            <a:fillRect/>
          </a:stretch>
        </p:blipFill>
        <p:spPr>
          <a:xfrm>
            <a:off x="3172968" y="2770632"/>
            <a:ext cx="182880" cy="182880"/>
          </a:xfrm>
          <a:prstGeom prst="rect">
            <a:avLst/>
          </a:prstGeom>
        </p:spPr>
      </p:pic>
      <p:sp>
        <p:nvSpPr>
          <p:cNvPr id="43" name="TextBox 42"/>
          <p:cNvSpPr txBox="1"/>
          <p:nvPr/>
        </p:nvSpPr>
        <p:spPr>
          <a:xfrm>
            <a:off x="3410712" y="2779776"/>
            <a:ext cx="914400" cy="164592"/>
          </a:xfrm>
          <a:prstGeom prst="rect">
            <a:avLst/>
          </a:prstGeom>
          <a:noFill/>
        </p:spPr>
        <p:txBody>
          <a:bodyPr wrap="square" lIns="0" tIns="0" rIns="0" bIns="0" anchor="t">
            <a:noAutofit/>
          </a:bodyPr>
          <a:lstStyle/>
          <a:p>
            <a:pPr algn="l"/>
            <a:r>
              <a:rPr sz="800" b="1" i="0">
                <a:solidFill>
                  <a:srgbClr val="1A1A1E"/>
                </a:solidFill>
                <a:latin typeface="Inter"/>
              </a:rPr>
              <a:t>Healing service</a:t>
            </a:r>
          </a:p>
        </p:txBody>
      </p:sp>
      <p:sp>
        <p:nvSpPr>
          <p:cNvPr id="44" name="TextBox 43"/>
          <p:cNvSpPr txBox="1"/>
          <p:nvPr/>
        </p:nvSpPr>
        <p:spPr>
          <a:xfrm>
            <a:off x="3172968" y="3017520"/>
            <a:ext cx="1133856" cy="182880"/>
          </a:xfrm>
          <a:prstGeom prst="rect">
            <a:avLst/>
          </a:prstGeom>
          <a:noFill/>
        </p:spPr>
        <p:txBody>
          <a:bodyPr wrap="square" lIns="0" tIns="0" rIns="0" bIns="0" anchor="t">
            <a:noAutofit/>
          </a:bodyPr>
          <a:lstStyle/>
          <a:p>
            <a:pPr algn="l"/>
            <a:r>
              <a:rPr sz="700" b="0" i="0">
                <a:solidFill>
                  <a:srgbClr val="5A6472"/>
                </a:solidFill>
                <a:latin typeface="Inter"/>
              </a:rPr>
              <a:t>FastAPI over HTTPS</a:t>
            </a:r>
          </a:p>
        </p:txBody>
      </p:sp>
      <p:sp>
        <p:nvSpPr>
          <p:cNvPr id="45" name="Rounded Rectangle 44"/>
          <p:cNvSpPr/>
          <p:nvPr/>
        </p:nvSpPr>
        <p:spPr>
          <a:xfrm>
            <a:off x="4636008" y="2679192"/>
            <a:ext cx="1298448" cy="585216"/>
          </a:xfrm>
          <a:prstGeom prst="roundRect">
            <a:avLst>
              <a:gd name="adj" fmla="val 12000"/>
            </a:avLst>
          </a:prstGeom>
          <a:solidFill>
            <a:srgbClr val="FFFFFF"/>
          </a:solidFill>
          <a:ln w="9525">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6" name="Picture 45" descr="LuListFilter_b.png"/>
          <p:cNvPicPr>
            <a:picLocks noChangeAspect="1"/>
          </p:cNvPicPr>
          <p:nvPr/>
        </p:nvPicPr>
        <p:blipFill>
          <a:blip r:embed="rId9"/>
          <a:stretch>
            <a:fillRect/>
          </a:stretch>
        </p:blipFill>
        <p:spPr>
          <a:xfrm>
            <a:off x="4727448" y="2770632"/>
            <a:ext cx="182880" cy="182880"/>
          </a:xfrm>
          <a:prstGeom prst="rect">
            <a:avLst/>
          </a:prstGeom>
        </p:spPr>
      </p:pic>
      <p:sp>
        <p:nvSpPr>
          <p:cNvPr id="47" name="TextBox 46"/>
          <p:cNvSpPr txBox="1"/>
          <p:nvPr/>
        </p:nvSpPr>
        <p:spPr>
          <a:xfrm>
            <a:off x="4965192" y="2779776"/>
            <a:ext cx="914400" cy="164592"/>
          </a:xfrm>
          <a:prstGeom prst="rect">
            <a:avLst/>
          </a:prstGeom>
          <a:noFill/>
        </p:spPr>
        <p:txBody>
          <a:bodyPr wrap="square" lIns="0" tIns="0" rIns="0" bIns="0" anchor="t">
            <a:noAutofit/>
          </a:bodyPr>
          <a:lstStyle/>
          <a:p>
            <a:pPr algn="l"/>
            <a:r>
              <a:rPr sz="800" b="1" i="0">
                <a:solidFill>
                  <a:srgbClr val="1A1A1E"/>
                </a:solidFill>
                <a:latin typeface="Inter"/>
              </a:rPr>
              <a:t>Ranking engine</a:t>
            </a:r>
          </a:p>
        </p:txBody>
      </p:sp>
      <p:sp>
        <p:nvSpPr>
          <p:cNvPr id="48" name="TextBox 47"/>
          <p:cNvSpPr txBox="1"/>
          <p:nvPr/>
        </p:nvSpPr>
        <p:spPr>
          <a:xfrm>
            <a:off x="4727448" y="3017520"/>
            <a:ext cx="1133856" cy="182880"/>
          </a:xfrm>
          <a:prstGeom prst="rect">
            <a:avLst/>
          </a:prstGeom>
          <a:noFill/>
        </p:spPr>
        <p:txBody>
          <a:bodyPr wrap="square" lIns="0" tIns="0" rIns="0" bIns="0" anchor="t">
            <a:noAutofit/>
          </a:bodyPr>
          <a:lstStyle/>
          <a:p>
            <a:pPr algn="l"/>
            <a:r>
              <a:rPr sz="700" b="0" i="0">
                <a:solidFill>
                  <a:srgbClr val="5A6472"/>
                </a:solidFill>
                <a:latin typeface="Inter"/>
              </a:rPr>
              <a:t>8 signals, 900 to 45</a:t>
            </a:r>
          </a:p>
        </p:txBody>
      </p:sp>
      <p:sp>
        <p:nvSpPr>
          <p:cNvPr id="49" name="Rounded Rectangle 48"/>
          <p:cNvSpPr/>
          <p:nvPr/>
        </p:nvSpPr>
        <p:spPr>
          <a:xfrm>
            <a:off x="3081528" y="3648456"/>
            <a:ext cx="1298448" cy="585216"/>
          </a:xfrm>
          <a:prstGeom prst="roundRect">
            <a:avLst>
              <a:gd name="adj" fmla="val 12000"/>
            </a:avLst>
          </a:prstGeom>
          <a:solidFill>
            <a:srgbClr val="FFFFFF"/>
          </a:solidFill>
          <a:ln w="9525">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0" name="Picture 49" descr="LuGauge_b.png"/>
          <p:cNvPicPr>
            <a:picLocks noChangeAspect="1"/>
          </p:cNvPicPr>
          <p:nvPr/>
        </p:nvPicPr>
        <p:blipFill>
          <a:blip r:embed="rId10"/>
          <a:stretch>
            <a:fillRect/>
          </a:stretch>
        </p:blipFill>
        <p:spPr>
          <a:xfrm>
            <a:off x="3172968" y="3739896"/>
            <a:ext cx="182880" cy="182880"/>
          </a:xfrm>
          <a:prstGeom prst="rect">
            <a:avLst/>
          </a:prstGeom>
        </p:spPr>
      </p:pic>
      <p:sp>
        <p:nvSpPr>
          <p:cNvPr id="51" name="TextBox 50"/>
          <p:cNvSpPr txBox="1"/>
          <p:nvPr/>
        </p:nvSpPr>
        <p:spPr>
          <a:xfrm>
            <a:off x="3410712" y="3749040"/>
            <a:ext cx="914400" cy="164592"/>
          </a:xfrm>
          <a:prstGeom prst="rect">
            <a:avLst/>
          </a:prstGeom>
          <a:noFill/>
        </p:spPr>
        <p:txBody>
          <a:bodyPr wrap="square" lIns="0" tIns="0" rIns="0" bIns="0" anchor="t">
            <a:noAutofit/>
          </a:bodyPr>
          <a:lstStyle/>
          <a:p>
            <a:pPr algn="l"/>
            <a:r>
              <a:rPr sz="800" b="1" i="0">
                <a:solidFill>
                  <a:srgbClr val="1A1A1E"/>
                </a:solidFill>
                <a:latin typeface="Inter"/>
              </a:rPr>
              <a:t>Confidence policy</a:t>
            </a:r>
          </a:p>
        </p:txBody>
      </p:sp>
      <p:sp>
        <p:nvSpPr>
          <p:cNvPr id="52" name="TextBox 51"/>
          <p:cNvSpPr txBox="1"/>
          <p:nvPr/>
        </p:nvSpPr>
        <p:spPr>
          <a:xfrm>
            <a:off x="3172968" y="3986784"/>
            <a:ext cx="1133856" cy="182880"/>
          </a:xfrm>
          <a:prstGeom prst="rect">
            <a:avLst/>
          </a:prstGeom>
          <a:noFill/>
        </p:spPr>
        <p:txBody>
          <a:bodyPr wrap="square" lIns="0" tIns="0" rIns="0" bIns="0" anchor="t">
            <a:noAutofit/>
          </a:bodyPr>
          <a:lstStyle/>
          <a:p>
            <a:pPr algn="l"/>
            <a:r>
              <a:rPr sz="700" b="0" i="0">
                <a:solidFill>
                  <a:srgbClr val="5A6472"/>
                </a:solidFill>
                <a:latin typeface="Inter"/>
              </a:rPr>
              <a:t>apply / review / refuse</a:t>
            </a:r>
          </a:p>
        </p:txBody>
      </p:sp>
      <p:sp>
        <p:nvSpPr>
          <p:cNvPr id="53" name="Rounded Rectangle 52"/>
          <p:cNvSpPr/>
          <p:nvPr/>
        </p:nvSpPr>
        <p:spPr>
          <a:xfrm>
            <a:off x="4636008" y="3648456"/>
            <a:ext cx="1298448" cy="585216"/>
          </a:xfrm>
          <a:prstGeom prst="roundRect">
            <a:avLst>
              <a:gd name="adj" fmla="val 12000"/>
            </a:avLst>
          </a:prstGeom>
          <a:solidFill>
            <a:srgbClr val="FFFFFF"/>
          </a:solidFill>
          <a:ln w="15875">
            <a:solidFill>
              <a:srgbClr val="C1702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4" name="Picture 53" descr="LuBrain_o.png"/>
          <p:cNvPicPr>
            <a:picLocks noChangeAspect="1"/>
          </p:cNvPicPr>
          <p:nvPr/>
        </p:nvPicPr>
        <p:blipFill>
          <a:blip r:embed="rId11"/>
          <a:stretch>
            <a:fillRect/>
          </a:stretch>
        </p:blipFill>
        <p:spPr>
          <a:xfrm>
            <a:off x="4727448" y="3739896"/>
            <a:ext cx="182880" cy="182880"/>
          </a:xfrm>
          <a:prstGeom prst="rect">
            <a:avLst/>
          </a:prstGeom>
        </p:spPr>
      </p:pic>
      <p:sp>
        <p:nvSpPr>
          <p:cNvPr id="55" name="TextBox 54"/>
          <p:cNvSpPr txBox="1"/>
          <p:nvPr/>
        </p:nvSpPr>
        <p:spPr>
          <a:xfrm>
            <a:off x="4965192" y="3749040"/>
            <a:ext cx="914400" cy="164592"/>
          </a:xfrm>
          <a:prstGeom prst="rect">
            <a:avLst/>
          </a:prstGeom>
          <a:noFill/>
        </p:spPr>
        <p:txBody>
          <a:bodyPr wrap="square" lIns="0" tIns="0" rIns="0" bIns="0" anchor="t">
            <a:noAutofit/>
          </a:bodyPr>
          <a:lstStyle/>
          <a:p>
            <a:pPr algn="l"/>
            <a:r>
              <a:rPr sz="800" b="1" i="0">
                <a:solidFill>
                  <a:srgbClr val="1A1A1E"/>
                </a:solidFill>
                <a:latin typeface="Inter"/>
              </a:rPr>
              <a:t>AI adjudicator</a:t>
            </a:r>
          </a:p>
        </p:txBody>
      </p:sp>
      <p:sp>
        <p:nvSpPr>
          <p:cNvPr id="56" name="TextBox 55"/>
          <p:cNvSpPr txBox="1"/>
          <p:nvPr/>
        </p:nvSpPr>
        <p:spPr>
          <a:xfrm>
            <a:off x="4727448" y="3986784"/>
            <a:ext cx="1133856" cy="182880"/>
          </a:xfrm>
          <a:prstGeom prst="rect">
            <a:avLst/>
          </a:prstGeom>
          <a:noFill/>
        </p:spPr>
        <p:txBody>
          <a:bodyPr wrap="square" lIns="0" tIns="0" rIns="0" bIns="0" anchor="t">
            <a:noAutofit/>
          </a:bodyPr>
          <a:lstStyle/>
          <a:p>
            <a:pPr algn="l"/>
            <a:r>
              <a:rPr sz="700" b="0" i="0">
                <a:solidFill>
                  <a:srgbClr val="5A6472"/>
                </a:solidFill>
                <a:latin typeface="Inter"/>
              </a:rPr>
              <a:t>local LLM on the GPU</a:t>
            </a:r>
          </a:p>
        </p:txBody>
      </p:sp>
      <p:cxnSp>
        <p:nvCxnSpPr>
          <p:cNvPr id="57" name="Connector 56"/>
          <p:cNvCxnSpPr/>
          <p:nvPr/>
        </p:nvCxnSpPr>
        <p:spPr>
          <a:xfrm flipV="1">
            <a:off x="3730752" y="2295144"/>
            <a:ext cx="0" cy="384048"/>
          </a:xfrm>
          <a:prstGeom prst="line">
            <a:avLst/>
          </a:prstGeom>
          <a:ln w="12700">
            <a:solidFill>
              <a:srgbClr val="5F8B2F"/>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5285232" y="2295144"/>
            <a:ext cx="0" cy="384048"/>
          </a:xfrm>
          <a:prstGeom prst="line">
            <a:avLst/>
          </a:prstGeom>
          <a:ln w="12700">
            <a:solidFill>
              <a:srgbClr val="5F8B2F"/>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4379976" y="2971800"/>
            <a:ext cx="256032" cy="0"/>
          </a:xfrm>
          <a:prstGeom prst="line">
            <a:avLst/>
          </a:prstGeom>
          <a:ln w="12700">
            <a:solidFill>
              <a:srgbClr val="5A647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5285232" y="3264408"/>
            <a:ext cx="0" cy="384048"/>
          </a:xfrm>
          <a:prstGeom prst="line">
            <a:avLst/>
          </a:prstGeom>
          <a:ln w="12700">
            <a:solidFill>
              <a:srgbClr val="5A647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a:off x="4379976" y="3941064"/>
            <a:ext cx="256032" cy="0"/>
          </a:xfrm>
          <a:prstGeom prst="line">
            <a:avLst/>
          </a:prstGeom>
          <a:ln w="12700">
            <a:solidFill>
              <a:srgbClr val="5A647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V="1">
            <a:off x="3730752" y="3264408"/>
            <a:ext cx="0" cy="384048"/>
          </a:xfrm>
          <a:prstGeom prst="line">
            <a:avLst/>
          </a:prstGeom>
          <a:ln w="12700">
            <a:solidFill>
              <a:srgbClr val="5A647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2203704" y="2880360"/>
            <a:ext cx="877824" cy="0"/>
          </a:xfrm>
          <a:prstGeom prst="line">
            <a:avLst/>
          </a:prstGeom>
          <a:ln w="15875">
            <a:solidFill>
              <a:srgbClr val="1428A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a:off x="2203704" y="3063240"/>
            <a:ext cx="877824" cy="0"/>
          </a:xfrm>
          <a:prstGeom prst="line">
            <a:avLst/>
          </a:prstGeom>
          <a:ln w="15875">
            <a:solidFill>
              <a:srgbClr val="1428A0"/>
            </a:solidFill>
            <a:tailEnd type="triangle" w="med" len="med"/>
          </a:ln>
        </p:spPr>
        <p:style>
          <a:lnRef idx="2">
            <a:schemeClr val="accent1"/>
          </a:lnRef>
          <a:fillRef idx="0">
            <a:schemeClr val="accent1"/>
          </a:fillRef>
          <a:effectRef idx="1">
            <a:schemeClr val="accent1"/>
          </a:effectRef>
          <a:fontRef idx="minor">
            <a:schemeClr val="tx1"/>
          </a:fontRef>
        </p:style>
      </p:cxnSp>
      <p:sp>
        <p:nvSpPr>
          <p:cNvPr id="65" name="TextBox 64"/>
          <p:cNvSpPr txBox="1"/>
          <p:nvPr/>
        </p:nvSpPr>
        <p:spPr>
          <a:xfrm>
            <a:off x="2258568" y="2496312"/>
            <a:ext cx="786384" cy="310896"/>
          </a:xfrm>
          <a:prstGeom prst="rect">
            <a:avLst/>
          </a:prstGeom>
          <a:noFill/>
        </p:spPr>
        <p:txBody>
          <a:bodyPr wrap="square" lIns="0" tIns="0" rIns="0" bIns="0" anchor="t">
            <a:noAutofit/>
          </a:bodyPr>
          <a:lstStyle/>
          <a:p>
            <a:pPr algn="ctr">
              <a:lnSpc>
                <a:spcPct val="95000"/>
              </a:lnSpc>
            </a:pPr>
            <a:r>
              <a:rPr sz="650" b="1" i="0">
                <a:solidFill>
                  <a:srgbClr val="1428A0"/>
                </a:solidFill>
                <a:latin typeface="Inter"/>
              </a:rPr>
              <a:t>fingerprints</a:t>
            </a:r>
          </a:p>
          <a:p>
            <a:pPr algn="ctr">
              <a:lnSpc>
                <a:spcPct val="95000"/>
              </a:lnSpc>
            </a:pPr>
            <a:r>
              <a:rPr sz="650" b="1" i="0">
                <a:solidFill>
                  <a:srgbClr val="1428A0"/>
                </a:solidFill>
                <a:latin typeface="Inter"/>
              </a:rPr>
              <a:t>only</a:t>
            </a:r>
          </a:p>
        </p:txBody>
      </p:sp>
      <p:sp>
        <p:nvSpPr>
          <p:cNvPr id="66" name="TextBox 65"/>
          <p:cNvSpPr txBox="1"/>
          <p:nvPr/>
        </p:nvSpPr>
        <p:spPr>
          <a:xfrm>
            <a:off x="2258568" y="3145536"/>
            <a:ext cx="786384" cy="310896"/>
          </a:xfrm>
          <a:prstGeom prst="rect">
            <a:avLst/>
          </a:prstGeom>
          <a:noFill/>
        </p:spPr>
        <p:txBody>
          <a:bodyPr wrap="square" lIns="0" tIns="0" rIns="0" bIns="0" anchor="t">
            <a:noAutofit/>
          </a:bodyPr>
          <a:lstStyle/>
          <a:p>
            <a:pPr algn="ctr">
              <a:lnSpc>
                <a:spcPct val="95000"/>
              </a:lnSpc>
            </a:pPr>
            <a:r>
              <a:rPr sz="650" b="1" i="0">
                <a:solidFill>
                  <a:srgbClr val="1428A0"/>
                </a:solidFill>
                <a:latin typeface="Inter"/>
              </a:rPr>
              <a:t>an index,</a:t>
            </a:r>
          </a:p>
          <a:p>
            <a:pPr algn="ctr">
              <a:lnSpc>
                <a:spcPct val="95000"/>
              </a:lnSpc>
            </a:pPr>
            <a:r>
              <a:rPr sz="650" b="1" i="0">
                <a:solidFill>
                  <a:srgbClr val="1428A0"/>
                </a:solidFill>
                <a:latin typeface="Inter"/>
              </a:rPr>
              <a:t>not a selector</a:t>
            </a:r>
          </a:p>
        </p:txBody>
      </p:sp>
      <p:sp>
        <p:nvSpPr>
          <p:cNvPr id="67" name="TextBox 66"/>
          <p:cNvSpPr txBox="1"/>
          <p:nvPr/>
        </p:nvSpPr>
        <p:spPr>
          <a:xfrm>
            <a:off x="6217920" y="1325880"/>
            <a:ext cx="2258568" cy="146304"/>
          </a:xfrm>
          <a:prstGeom prst="rect">
            <a:avLst/>
          </a:prstGeom>
          <a:noFill/>
        </p:spPr>
        <p:txBody>
          <a:bodyPr wrap="square" lIns="0" tIns="0" rIns="0" bIns="0" anchor="t">
            <a:noAutofit/>
          </a:bodyPr>
          <a:lstStyle/>
          <a:p>
            <a:pPr algn="l"/>
            <a:r>
              <a:rPr sz="700" b="1" i="0" spc="90">
                <a:solidFill>
                  <a:srgbClr val="1428A0"/>
                </a:solidFill>
                <a:latin typeface="Inter"/>
              </a:rPr>
              <a:t>TECHNOLOGY STACK</a:t>
            </a:r>
          </a:p>
        </p:txBody>
      </p:sp>
      <p:sp>
        <p:nvSpPr>
          <p:cNvPr id="68" name="Rounded Rectangle 67"/>
          <p:cNvSpPr/>
          <p:nvPr/>
        </p:nvSpPr>
        <p:spPr>
          <a:xfrm>
            <a:off x="6217920" y="1536192"/>
            <a:ext cx="2258568" cy="530352"/>
          </a:xfrm>
          <a:prstGeom prst="roundRect">
            <a:avLst>
              <a:gd name="adj" fmla="val 12000"/>
            </a:avLst>
          </a:prstGeom>
          <a:solidFill>
            <a:srgbClr val="F4F6FA"/>
          </a:solidFill>
          <a:ln w="762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Oval 68"/>
          <p:cNvSpPr/>
          <p:nvPr/>
        </p:nvSpPr>
        <p:spPr>
          <a:xfrm>
            <a:off x="6327648" y="1664208"/>
            <a:ext cx="274320" cy="274320"/>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0" name="Picture 69" descr="LuBot_w.png"/>
          <p:cNvPicPr>
            <a:picLocks noChangeAspect="1"/>
          </p:cNvPicPr>
          <p:nvPr/>
        </p:nvPicPr>
        <p:blipFill>
          <a:blip r:embed="rId12"/>
          <a:stretch>
            <a:fillRect/>
          </a:stretch>
        </p:blipFill>
        <p:spPr>
          <a:xfrm>
            <a:off x="6393485" y="1730045"/>
            <a:ext cx="142646" cy="142646"/>
          </a:xfrm>
          <a:prstGeom prst="rect">
            <a:avLst/>
          </a:prstGeom>
        </p:spPr>
      </p:pic>
      <p:sp>
        <p:nvSpPr>
          <p:cNvPr id="71" name="TextBox 70"/>
          <p:cNvSpPr txBox="1"/>
          <p:nvPr/>
        </p:nvSpPr>
        <p:spPr>
          <a:xfrm>
            <a:off x="6711696" y="1600200"/>
            <a:ext cx="1645920" cy="146304"/>
          </a:xfrm>
          <a:prstGeom prst="rect">
            <a:avLst/>
          </a:prstGeom>
          <a:noFill/>
        </p:spPr>
        <p:txBody>
          <a:bodyPr wrap="square" lIns="0" tIns="0" rIns="0" bIns="0" anchor="t">
            <a:noAutofit/>
          </a:bodyPr>
          <a:lstStyle/>
          <a:p>
            <a:pPr algn="l"/>
            <a:r>
              <a:rPr lang="en-US" sz="650" b="1" i="0" spc="90" dirty="0">
                <a:solidFill>
                  <a:srgbClr val="1428A0"/>
                </a:solidFill>
                <a:latin typeface="Inter"/>
              </a:rPr>
              <a:t>ROBOT</a:t>
            </a:r>
          </a:p>
        </p:txBody>
      </p:sp>
      <p:sp>
        <p:nvSpPr>
          <p:cNvPr id="72" name="TextBox 71"/>
          <p:cNvSpPr txBox="1"/>
          <p:nvPr/>
        </p:nvSpPr>
        <p:spPr>
          <a:xfrm>
            <a:off x="6711696" y="1737360"/>
            <a:ext cx="1673352" cy="292608"/>
          </a:xfrm>
          <a:prstGeom prst="rect">
            <a:avLst/>
          </a:prstGeom>
          <a:noFill/>
        </p:spPr>
        <p:txBody>
          <a:bodyPr wrap="square" lIns="0" tIns="0" rIns="0" bIns="0" anchor="t">
            <a:noAutofit/>
          </a:bodyPr>
          <a:lstStyle/>
          <a:p>
            <a:pPr algn="l">
              <a:lnSpc>
                <a:spcPct val="105000"/>
              </a:lnSpc>
            </a:pPr>
            <a:r>
              <a:rPr sz="800" b="0" i="0" dirty="0">
                <a:solidFill>
                  <a:srgbClr val="1A1A1E"/>
                </a:solidFill>
                <a:latin typeface="Inter"/>
              </a:rPr>
              <a:t>Python · Selenium · Playwright</a:t>
            </a:r>
          </a:p>
        </p:txBody>
      </p:sp>
      <p:sp>
        <p:nvSpPr>
          <p:cNvPr id="73" name="Rounded Rectangle 72"/>
          <p:cNvSpPr/>
          <p:nvPr/>
        </p:nvSpPr>
        <p:spPr>
          <a:xfrm>
            <a:off x="6217920" y="2139696"/>
            <a:ext cx="2258568" cy="530352"/>
          </a:xfrm>
          <a:prstGeom prst="roundRect">
            <a:avLst>
              <a:gd name="adj" fmla="val 12000"/>
            </a:avLst>
          </a:prstGeom>
          <a:solidFill>
            <a:srgbClr val="F4F6FA"/>
          </a:solidFill>
          <a:ln w="762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Oval 73"/>
          <p:cNvSpPr/>
          <p:nvPr/>
        </p:nvSpPr>
        <p:spPr>
          <a:xfrm>
            <a:off x="6327648" y="2267712"/>
            <a:ext cx="274320" cy="274320"/>
          </a:xfrm>
          <a:prstGeom prst="ellipse">
            <a:avLst/>
          </a:prstGeom>
          <a:solidFill>
            <a:srgbClr val="2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5" name="Picture 74" descr="LuServer_w.png"/>
          <p:cNvPicPr>
            <a:picLocks noChangeAspect="1"/>
          </p:cNvPicPr>
          <p:nvPr/>
        </p:nvPicPr>
        <p:blipFill>
          <a:blip r:embed="rId13"/>
          <a:stretch>
            <a:fillRect/>
          </a:stretch>
        </p:blipFill>
        <p:spPr>
          <a:xfrm>
            <a:off x="6393485" y="2333549"/>
            <a:ext cx="142646" cy="142646"/>
          </a:xfrm>
          <a:prstGeom prst="rect">
            <a:avLst/>
          </a:prstGeom>
        </p:spPr>
      </p:pic>
      <p:sp>
        <p:nvSpPr>
          <p:cNvPr id="76" name="TextBox 75"/>
          <p:cNvSpPr txBox="1"/>
          <p:nvPr/>
        </p:nvSpPr>
        <p:spPr>
          <a:xfrm>
            <a:off x="6711696" y="2203704"/>
            <a:ext cx="1645920" cy="146304"/>
          </a:xfrm>
          <a:prstGeom prst="rect">
            <a:avLst/>
          </a:prstGeom>
          <a:noFill/>
        </p:spPr>
        <p:txBody>
          <a:bodyPr wrap="square" lIns="0" tIns="0" rIns="0" bIns="0" anchor="t">
            <a:noAutofit/>
          </a:bodyPr>
          <a:lstStyle/>
          <a:p>
            <a:pPr algn="l"/>
            <a:r>
              <a:rPr sz="650" b="1" i="0" spc="90">
                <a:solidFill>
                  <a:srgbClr val="2A5C9E"/>
                </a:solidFill>
                <a:latin typeface="Inter"/>
              </a:rPr>
              <a:t>HEALING SERVICE</a:t>
            </a:r>
          </a:p>
        </p:txBody>
      </p:sp>
      <p:sp>
        <p:nvSpPr>
          <p:cNvPr id="77" name="TextBox 76"/>
          <p:cNvSpPr txBox="1"/>
          <p:nvPr/>
        </p:nvSpPr>
        <p:spPr>
          <a:xfrm>
            <a:off x="6711696" y="2340864"/>
            <a:ext cx="1673352" cy="292608"/>
          </a:xfrm>
          <a:prstGeom prst="rect">
            <a:avLst/>
          </a:prstGeom>
          <a:noFill/>
        </p:spPr>
        <p:txBody>
          <a:bodyPr wrap="square" lIns="0" tIns="0" rIns="0" bIns="0" anchor="t">
            <a:noAutofit/>
          </a:bodyPr>
          <a:lstStyle/>
          <a:p>
            <a:pPr algn="l">
              <a:lnSpc>
                <a:spcPct val="105000"/>
              </a:lnSpc>
            </a:pPr>
            <a:r>
              <a:rPr sz="800" b="0" i="0">
                <a:solidFill>
                  <a:srgbClr val="1A1A1E"/>
                </a:solidFill>
                <a:latin typeface="Inter"/>
              </a:rPr>
              <a:t>FastAPI · Uvicorn</a:t>
            </a:r>
          </a:p>
        </p:txBody>
      </p:sp>
      <p:sp>
        <p:nvSpPr>
          <p:cNvPr id="78" name="Rounded Rectangle 77"/>
          <p:cNvSpPr/>
          <p:nvPr/>
        </p:nvSpPr>
        <p:spPr>
          <a:xfrm>
            <a:off x="6217920" y="2743200"/>
            <a:ext cx="2258568" cy="530352"/>
          </a:xfrm>
          <a:prstGeom prst="roundRect">
            <a:avLst>
              <a:gd name="adj" fmla="val 12000"/>
            </a:avLst>
          </a:prstGeom>
          <a:solidFill>
            <a:srgbClr val="F4F6FA"/>
          </a:solidFill>
          <a:ln w="762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Oval 78"/>
          <p:cNvSpPr/>
          <p:nvPr/>
        </p:nvSpPr>
        <p:spPr>
          <a:xfrm>
            <a:off x="6327648" y="2871216"/>
            <a:ext cx="274320" cy="274320"/>
          </a:xfrm>
          <a:prstGeom prst="ellipse">
            <a:avLst/>
          </a:prstGeom>
          <a:solidFill>
            <a:srgbClr val="C170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0" name="Picture 79" descr="LuBrain_w.png"/>
          <p:cNvPicPr>
            <a:picLocks noChangeAspect="1"/>
          </p:cNvPicPr>
          <p:nvPr/>
        </p:nvPicPr>
        <p:blipFill>
          <a:blip r:embed="rId14"/>
          <a:stretch>
            <a:fillRect/>
          </a:stretch>
        </p:blipFill>
        <p:spPr>
          <a:xfrm>
            <a:off x="6393485" y="2937053"/>
            <a:ext cx="142646" cy="142646"/>
          </a:xfrm>
          <a:prstGeom prst="rect">
            <a:avLst/>
          </a:prstGeom>
        </p:spPr>
      </p:pic>
      <p:sp>
        <p:nvSpPr>
          <p:cNvPr id="81" name="TextBox 80"/>
          <p:cNvSpPr txBox="1"/>
          <p:nvPr/>
        </p:nvSpPr>
        <p:spPr>
          <a:xfrm>
            <a:off x="6711696" y="2807208"/>
            <a:ext cx="1645920" cy="146304"/>
          </a:xfrm>
          <a:prstGeom prst="rect">
            <a:avLst/>
          </a:prstGeom>
          <a:noFill/>
        </p:spPr>
        <p:txBody>
          <a:bodyPr wrap="square" lIns="0" tIns="0" rIns="0" bIns="0" anchor="t">
            <a:noAutofit/>
          </a:bodyPr>
          <a:lstStyle/>
          <a:p>
            <a:pPr algn="l"/>
            <a:r>
              <a:rPr sz="650" b="1" i="0" spc="90">
                <a:solidFill>
                  <a:srgbClr val="C1702D"/>
                </a:solidFill>
                <a:latin typeface="Inter"/>
              </a:rPr>
              <a:t>AI</a:t>
            </a:r>
          </a:p>
        </p:txBody>
      </p:sp>
      <p:sp>
        <p:nvSpPr>
          <p:cNvPr id="82" name="TextBox 81"/>
          <p:cNvSpPr txBox="1"/>
          <p:nvPr/>
        </p:nvSpPr>
        <p:spPr>
          <a:xfrm>
            <a:off x="6711696" y="2944368"/>
            <a:ext cx="1673352" cy="292608"/>
          </a:xfrm>
          <a:prstGeom prst="rect">
            <a:avLst/>
          </a:prstGeom>
          <a:noFill/>
        </p:spPr>
        <p:txBody>
          <a:bodyPr wrap="square" lIns="0" tIns="0" rIns="0" bIns="0" anchor="t">
            <a:noAutofit/>
          </a:bodyPr>
          <a:lstStyle/>
          <a:p>
            <a:pPr algn="l">
              <a:lnSpc>
                <a:spcPct val="105000"/>
              </a:lnSpc>
            </a:pPr>
            <a:r>
              <a:rPr sz="800" b="0" i="0" dirty="0">
                <a:solidFill>
                  <a:srgbClr val="1A1A1E"/>
                </a:solidFill>
                <a:latin typeface="Inter"/>
              </a:rPr>
              <a:t>llama.cpp · 4-bit GGUF · CUDA</a:t>
            </a:r>
          </a:p>
        </p:txBody>
      </p:sp>
      <p:sp>
        <p:nvSpPr>
          <p:cNvPr id="83" name="Rounded Rectangle 82"/>
          <p:cNvSpPr/>
          <p:nvPr/>
        </p:nvSpPr>
        <p:spPr>
          <a:xfrm>
            <a:off x="6217920" y="3346704"/>
            <a:ext cx="2258568" cy="530352"/>
          </a:xfrm>
          <a:prstGeom prst="roundRect">
            <a:avLst>
              <a:gd name="adj" fmla="val 12000"/>
            </a:avLst>
          </a:prstGeom>
          <a:solidFill>
            <a:srgbClr val="F4F6FA"/>
          </a:solidFill>
          <a:ln w="762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Oval 83"/>
          <p:cNvSpPr/>
          <p:nvPr/>
        </p:nvSpPr>
        <p:spPr>
          <a:xfrm>
            <a:off x="6327648" y="3474720"/>
            <a:ext cx="274320" cy="274320"/>
          </a:xfrm>
          <a:prstGeom prst="ellipse">
            <a:avLst/>
          </a:prstGeom>
          <a:solidFill>
            <a:srgbClr val="5F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5" name="Picture 84" descr="LuDatabase_w.png"/>
          <p:cNvPicPr>
            <a:picLocks noChangeAspect="1"/>
          </p:cNvPicPr>
          <p:nvPr/>
        </p:nvPicPr>
        <p:blipFill>
          <a:blip r:embed="rId15"/>
          <a:stretch>
            <a:fillRect/>
          </a:stretch>
        </p:blipFill>
        <p:spPr>
          <a:xfrm>
            <a:off x="6393485" y="3540557"/>
            <a:ext cx="142646" cy="142646"/>
          </a:xfrm>
          <a:prstGeom prst="rect">
            <a:avLst/>
          </a:prstGeom>
        </p:spPr>
      </p:pic>
      <p:sp>
        <p:nvSpPr>
          <p:cNvPr id="86" name="TextBox 85"/>
          <p:cNvSpPr txBox="1"/>
          <p:nvPr/>
        </p:nvSpPr>
        <p:spPr>
          <a:xfrm>
            <a:off x="6711696" y="3410712"/>
            <a:ext cx="1645920" cy="146304"/>
          </a:xfrm>
          <a:prstGeom prst="rect">
            <a:avLst/>
          </a:prstGeom>
          <a:noFill/>
        </p:spPr>
        <p:txBody>
          <a:bodyPr wrap="square" lIns="0" tIns="0" rIns="0" bIns="0" anchor="t">
            <a:noAutofit/>
          </a:bodyPr>
          <a:lstStyle/>
          <a:p>
            <a:pPr algn="l"/>
            <a:r>
              <a:rPr sz="650" b="1" i="0" spc="90">
                <a:solidFill>
                  <a:srgbClr val="5F8B2F"/>
                </a:solidFill>
                <a:latin typeface="Inter"/>
              </a:rPr>
              <a:t>DATA</a:t>
            </a:r>
          </a:p>
        </p:txBody>
      </p:sp>
      <p:sp>
        <p:nvSpPr>
          <p:cNvPr id="87" name="TextBox 86"/>
          <p:cNvSpPr txBox="1"/>
          <p:nvPr/>
        </p:nvSpPr>
        <p:spPr>
          <a:xfrm>
            <a:off x="6711696" y="3547872"/>
            <a:ext cx="1673352" cy="292608"/>
          </a:xfrm>
          <a:prstGeom prst="rect">
            <a:avLst/>
          </a:prstGeom>
          <a:noFill/>
        </p:spPr>
        <p:txBody>
          <a:bodyPr wrap="square" lIns="0" tIns="0" rIns="0" bIns="0" anchor="t">
            <a:noAutofit/>
          </a:bodyPr>
          <a:lstStyle/>
          <a:p>
            <a:pPr algn="l">
              <a:lnSpc>
                <a:spcPct val="105000"/>
              </a:lnSpc>
            </a:pPr>
            <a:r>
              <a:rPr sz="800" b="0" i="0">
                <a:solidFill>
                  <a:srgbClr val="1A1A1E"/>
                </a:solidFill>
                <a:latin typeface="Inter"/>
              </a:rPr>
              <a:t>SQLite · JSON</a:t>
            </a:r>
          </a:p>
        </p:txBody>
      </p:sp>
      <p:sp>
        <p:nvSpPr>
          <p:cNvPr id="88" name="Rounded Rectangle 87"/>
          <p:cNvSpPr/>
          <p:nvPr/>
        </p:nvSpPr>
        <p:spPr>
          <a:xfrm>
            <a:off x="6217920" y="3950208"/>
            <a:ext cx="2258568" cy="530352"/>
          </a:xfrm>
          <a:prstGeom prst="roundRect">
            <a:avLst>
              <a:gd name="adj" fmla="val 12000"/>
            </a:avLst>
          </a:prstGeom>
          <a:solidFill>
            <a:srgbClr val="F4F6FA"/>
          </a:solidFill>
          <a:ln w="762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Oval 88"/>
          <p:cNvSpPr/>
          <p:nvPr/>
        </p:nvSpPr>
        <p:spPr>
          <a:xfrm>
            <a:off x="6327648" y="4078224"/>
            <a:ext cx="274320" cy="274320"/>
          </a:xfrm>
          <a:prstGeom prst="ellipse">
            <a:avLst/>
          </a:prstGeom>
          <a:solidFill>
            <a:srgbClr val="1A2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0" name="Picture 89" descr="LuHardDrive_w.png"/>
          <p:cNvPicPr>
            <a:picLocks noChangeAspect="1"/>
          </p:cNvPicPr>
          <p:nvPr/>
        </p:nvPicPr>
        <p:blipFill>
          <a:blip r:embed="rId16"/>
          <a:stretch>
            <a:fillRect/>
          </a:stretch>
        </p:blipFill>
        <p:spPr>
          <a:xfrm>
            <a:off x="6393485" y="4144061"/>
            <a:ext cx="142646" cy="142646"/>
          </a:xfrm>
          <a:prstGeom prst="rect">
            <a:avLst/>
          </a:prstGeom>
        </p:spPr>
      </p:pic>
      <p:sp>
        <p:nvSpPr>
          <p:cNvPr id="91" name="TextBox 90"/>
          <p:cNvSpPr txBox="1"/>
          <p:nvPr/>
        </p:nvSpPr>
        <p:spPr>
          <a:xfrm>
            <a:off x="6711696" y="4014216"/>
            <a:ext cx="1645920" cy="146304"/>
          </a:xfrm>
          <a:prstGeom prst="rect">
            <a:avLst/>
          </a:prstGeom>
          <a:noFill/>
        </p:spPr>
        <p:txBody>
          <a:bodyPr wrap="square" lIns="0" tIns="0" rIns="0" bIns="0" anchor="t">
            <a:noAutofit/>
          </a:bodyPr>
          <a:lstStyle/>
          <a:p>
            <a:pPr algn="l"/>
            <a:r>
              <a:rPr sz="650" b="1" i="0" spc="90">
                <a:solidFill>
                  <a:srgbClr val="1A2340"/>
                </a:solidFill>
                <a:latin typeface="Inter"/>
              </a:rPr>
              <a:t>INFRASTRUCTURE</a:t>
            </a:r>
          </a:p>
        </p:txBody>
      </p:sp>
      <p:sp>
        <p:nvSpPr>
          <p:cNvPr id="92" name="TextBox 91"/>
          <p:cNvSpPr txBox="1"/>
          <p:nvPr/>
        </p:nvSpPr>
        <p:spPr>
          <a:xfrm>
            <a:off x="6711696" y="4151376"/>
            <a:ext cx="1673352" cy="292608"/>
          </a:xfrm>
          <a:prstGeom prst="rect">
            <a:avLst/>
          </a:prstGeom>
          <a:noFill/>
        </p:spPr>
        <p:txBody>
          <a:bodyPr wrap="square" lIns="0" tIns="0" rIns="0" bIns="0" anchor="t">
            <a:noAutofit/>
          </a:bodyPr>
          <a:lstStyle/>
          <a:p>
            <a:pPr algn="l">
              <a:lnSpc>
                <a:spcPct val="105000"/>
              </a:lnSpc>
            </a:pPr>
            <a:r>
              <a:rPr sz="800" b="0" i="0">
                <a:solidFill>
                  <a:srgbClr val="1A1A1E"/>
                </a:solidFill>
                <a:latin typeface="Inter"/>
              </a:rPr>
              <a:t>1 GPU server · internal HTTPS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bar"/>
          <p:cNvSpPr/>
          <p:nvPr/>
        </p:nvSpPr>
        <p:spPr>
          <a:xfrm>
            <a:off x="0" y="0"/>
            <a:ext cx="9144000" cy="266730"/>
          </a:xfrm>
          <a:prstGeom prst="rect">
            <a:avLst/>
          </a:prstGeom>
          <a:solidFill>
            <a:srgbClr val="1A2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Header text"/>
          <p:cNvSpPr txBox="1"/>
          <p:nvPr/>
        </p:nvSpPr>
        <p:spPr>
          <a:xfrm>
            <a:off x="666598" y="80924"/>
            <a:ext cx="7616952" cy="182880"/>
          </a:xfrm>
          <a:prstGeom prst="rect">
            <a:avLst/>
          </a:prstGeom>
          <a:noFill/>
        </p:spPr>
        <p:txBody>
          <a:bodyPr wrap="square" lIns="0" tIns="0" rIns="0" bIns="0" anchor="t">
            <a:noAutofit/>
          </a:bodyPr>
          <a:lstStyle/>
          <a:p>
            <a:pPr algn="l"/>
            <a:r>
              <a:rPr sz="855" b="1" i="0" spc="21" dirty="0">
                <a:solidFill>
                  <a:srgbClr val="FFFFFF"/>
                </a:solidFill>
                <a:latin typeface="Inter"/>
              </a:rPr>
              <a:t>SAMSUNG SDS</a:t>
            </a:r>
            <a:r>
              <a:rPr sz="855" b="0" i="0" spc="21" dirty="0">
                <a:solidFill>
                  <a:srgbClr val="B9C6DA"/>
                </a:solidFill>
                <a:latin typeface="Inter"/>
              </a:rPr>
              <a:t>   |   </a:t>
            </a:r>
            <a:r>
              <a:rPr sz="855" b="1" i="0" spc="21" dirty="0">
                <a:solidFill>
                  <a:srgbClr val="B9C6DA"/>
                </a:solidFill>
                <a:latin typeface="Inter"/>
              </a:rPr>
              <a:t>UI / UX  ·  DESIGN </a:t>
            </a:r>
            <a:r>
              <a:rPr lang="en-US" sz="855" b="1" spc="21" dirty="0">
                <a:solidFill>
                  <a:srgbClr val="B9C6DA"/>
                </a:solidFill>
                <a:latin typeface="Inter"/>
              </a:rPr>
              <a:t>DEMO</a:t>
            </a:r>
            <a:endParaRPr sz="855" b="1" i="0" spc="21" dirty="0">
              <a:solidFill>
                <a:srgbClr val="B9C6DA"/>
              </a:solidFill>
              <a:latin typeface="Inter"/>
            </a:endParaRPr>
          </a:p>
        </p:txBody>
      </p:sp>
      <p:sp>
        <p:nvSpPr>
          <p:cNvPr id="4" name="Template dash 1"/>
          <p:cNvSpPr/>
          <p:nvPr/>
        </p:nvSpPr>
        <p:spPr>
          <a:xfrm>
            <a:off x="666598" y="404805"/>
            <a:ext cx="300015" cy="38130"/>
          </a:xfrm>
          <a:prstGeom prst="rect">
            <a:avLst/>
          </a:prstGeom>
          <a:solidFill>
            <a:srgbClr val="1616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mplate dash 2"/>
          <p:cNvSpPr/>
          <p:nvPr/>
        </p:nvSpPr>
        <p:spPr>
          <a:xfrm>
            <a:off x="999988" y="404805"/>
            <a:ext cx="300015" cy="38130"/>
          </a:xfrm>
          <a:prstGeom prst="rect">
            <a:avLst/>
          </a:prstGeom>
          <a:solidFill>
            <a:srgbClr val="2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mplate dash 3"/>
          <p:cNvSpPr/>
          <p:nvPr/>
        </p:nvSpPr>
        <p:spPr>
          <a:xfrm>
            <a:off x="1333378" y="404805"/>
            <a:ext cx="300015" cy="38130"/>
          </a:xfrm>
          <a:prstGeom prst="rect">
            <a:avLst/>
          </a:prstGeom>
          <a:solidFill>
            <a:srgbClr val="5F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mplate dash 4"/>
          <p:cNvSpPr/>
          <p:nvPr/>
        </p:nvSpPr>
        <p:spPr>
          <a:xfrm>
            <a:off x="1666768" y="404805"/>
            <a:ext cx="300015" cy="38130"/>
          </a:xfrm>
          <a:prstGeom prst="rect">
            <a:avLst/>
          </a:prstGeom>
          <a:solidFill>
            <a:srgbClr val="C170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Confidential"/>
          <p:cNvSpPr txBox="1"/>
          <p:nvPr/>
        </p:nvSpPr>
        <p:spPr>
          <a:xfrm>
            <a:off x="3143250" y="4934102"/>
            <a:ext cx="2857500" cy="137160"/>
          </a:xfrm>
          <a:prstGeom prst="rect">
            <a:avLst/>
          </a:prstGeom>
          <a:noFill/>
        </p:spPr>
        <p:txBody>
          <a:bodyPr wrap="square" lIns="0" tIns="0" rIns="0" bIns="0" anchor="t">
            <a:noAutofit/>
          </a:bodyPr>
          <a:lstStyle/>
          <a:p>
            <a:pPr algn="ctr"/>
            <a:r>
              <a:rPr sz="606" b="0" i="0" spc="57">
                <a:solidFill>
                  <a:srgbClr val="7A7F8A"/>
                </a:solidFill>
                <a:latin typeface="Inter"/>
              </a:rPr>
              <a:t>Confidential</a:t>
            </a:r>
          </a:p>
        </p:txBody>
      </p:sp>
      <p:sp>
        <p:nvSpPr>
          <p:cNvPr id="9" name="Page number"/>
          <p:cNvSpPr txBox="1"/>
          <p:nvPr/>
        </p:nvSpPr>
        <p:spPr>
          <a:xfrm>
            <a:off x="7315200" y="4753051"/>
            <a:ext cx="1161288" cy="109728"/>
          </a:xfrm>
          <a:prstGeom prst="rect">
            <a:avLst/>
          </a:prstGeom>
          <a:noFill/>
        </p:spPr>
        <p:txBody>
          <a:bodyPr wrap="square" lIns="0" tIns="0" rIns="0" bIns="0" anchor="t">
            <a:noAutofit/>
          </a:bodyPr>
          <a:lstStyle/>
          <a:p>
            <a:pPr algn="r"/>
            <a:r>
              <a:rPr sz="534" b="0" i="0" spc="78">
                <a:solidFill>
                  <a:srgbClr val="7A7F8A"/>
                </a:solidFill>
                <a:latin typeface="Inter"/>
              </a:rPr>
              <a:t>PAGE 05 / 07</a:t>
            </a:r>
          </a:p>
        </p:txBody>
      </p:sp>
      <p:sp>
        <p:nvSpPr>
          <p:cNvPr id="10" name="Footer brand"/>
          <p:cNvSpPr txBox="1"/>
          <p:nvPr/>
        </p:nvSpPr>
        <p:spPr>
          <a:xfrm>
            <a:off x="5619902" y="4895698"/>
            <a:ext cx="2857500" cy="192024"/>
          </a:xfrm>
          <a:prstGeom prst="rect">
            <a:avLst/>
          </a:prstGeom>
          <a:noFill/>
        </p:spPr>
        <p:txBody>
          <a:bodyPr wrap="square" lIns="0" tIns="0" rIns="0" bIns="0" anchor="t">
            <a:noAutofit/>
          </a:bodyPr>
          <a:lstStyle/>
          <a:p>
            <a:pPr algn="r"/>
            <a:r>
              <a:rPr sz="855" b="1" i="0" spc="14">
                <a:solidFill>
                  <a:srgbClr val="1428A0"/>
                </a:solidFill>
                <a:latin typeface="Inter"/>
              </a:rPr>
              <a:t>SAMSUNG SDS</a:t>
            </a:r>
          </a:p>
        </p:txBody>
      </p:sp>
      <p:sp>
        <p:nvSpPr>
          <p:cNvPr id="11" name="Title"/>
          <p:cNvSpPr txBox="1"/>
          <p:nvPr/>
        </p:nvSpPr>
        <p:spPr>
          <a:xfrm>
            <a:off x="667512" y="548640"/>
            <a:ext cx="7808976" cy="384048"/>
          </a:xfrm>
          <a:prstGeom prst="rect">
            <a:avLst/>
          </a:prstGeom>
          <a:noFill/>
        </p:spPr>
        <p:txBody>
          <a:bodyPr wrap="square" lIns="0" tIns="0" rIns="0" bIns="0" anchor="t">
            <a:noAutofit/>
          </a:bodyPr>
          <a:lstStyle/>
          <a:p>
            <a:pPr algn="l"/>
            <a:r>
              <a:rPr sz="2000" b="1" i="0" spc="-60">
                <a:solidFill>
                  <a:srgbClr val="1A1A1E"/>
                </a:solidFill>
                <a:latin typeface="Inter"/>
              </a:rPr>
              <a:t>What the operations team sees on screen.</a:t>
            </a:r>
          </a:p>
        </p:txBody>
      </p:sp>
      <p:sp>
        <p:nvSpPr>
          <p:cNvPr id="12" name="Video caption"/>
          <p:cNvSpPr txBox="1"/>
          <p:nvPr/>
        </p:nvSpPr>
        <p:spPr>
          <a:xfrm>
            <a:off x="667512" y="4480560"/>
            <a:ext cx="7808975" cy="182880"/>
          </a:xfrm>
          <a:prstGeom prst="rect">
            <a:avLst/>
          </a:prstGeom>
          <a:noFill/>
        </p:spPr>
        <p:txBody>
          <a:bodyPr wrap="square" lIns="0" tIns="0" rIns="0" bIns="0" anchor="t">
            <a:noAutofit/>
          </a:bodyPr>
          <a:lstStyle/>
          <a:p>
            <a:pPr algn="ctr"/>
            <a:r>
              <a:rPr sz="850" b="1" i="0" dirty="0">
                <a:solidFill>
                  <a:srgbClr val="1A1A1E"/>
                </a:solidFill>
                <a:latin typeface="Inter"/>
              </a:rPr>
              <a:t>Demo video. </a:t>
            </a:r>
            <a:r>
              <a:rPr sz="850" b="0" i="0" dirty="0">
                <a:solidFill>
                  <a:srgbClr val="4A5668"/>
                </a:solidFill>
                <a:latin typeface="Inter"/>
              </a:rPr>
              <a:t>Click to play: before the release, healing off, healing on.</a:t>
            </a:r>
          </a:p>
        </p:txBody>
      </p:sp>
      <p:pic>
        <p:nvPicPr>
          <p:cNvPr id="13" name="slide5-demo">
            <a:hlinkClick r:id="" action="ppaction://media"/>
            <a:extLst>
              <a:ext uri="{FF2B5EF4-FFF2-40B4-BE49-F238E27FC236}">
                <a16:creationId xmlns:a16="http://schemas.microsoft.com/office/drawing/2014/main" id="{C6C2A163-C662-7A10-BC86-F1D8F734C76F}"/>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1564639" y="1024128"/>
            <a:ext cx="6014720" cy="33832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2200"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3"/>
                </p:tgtEl>
              </p:cMediaNode>
            </p:video>
            <p:seq concurrent="1" nextAc="seek">
              <p:cTn id="8" restart="whenNotActive" fill="hold" evtFilter="cancelBubble" nodeType="interactiveSeq">
                <p:stCondLst>
                  <p:cond evt="onClick" delay="0">
                    <p:tgtEl>
                      <p:spTgt spid="1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3"/>
                                        </p:tgtEl>
                                      </p:cBhvr>
                                    </p:cmd>
                                  </p:childTnLst>
                                </p:cTn>
                              </p:par>
                            </p:childTnLst>
                          </p:cTn>
                        </p:par>
                      </p:childTnLst>
                    </p:cTn>
                  </p:par>
                </p:childTnLst>
              </p:cTn>
              <p:nextCondLst>
                <p:cond evt="onClick" delay="0">
                  <p:tgtEl>
                    <p:spTgt spid="13"/>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bar"/>
          <p:cNvSpPr/>
          <p:nvPr/>
        </p:nvSpPr>
        <p:spPr>
          <a:xfrm>
            <a:off x="0" y="0"/>
            <a:ext cx="9144000" cy="266730"/>
          </a:xfrm>
          <a:prstGeom prst="rect">
            <a:avLst/>
          </a:prstGeom>
          <a:solidFill>
            <a:srgbClr val="1A2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Header text"/>
          <p:cNvSpPr txBox="1"/>
          <p:nvPr/>
        </p:nvSpPr>
        <p:spPr>
          <a:xfrm>
            <a:off x="666598" y="80924"/>
            <a:ext cx="7616952" cy="182880"/>
          </a:xfrm>
          <a:prstGeom prst="rect">
            <a:avLst/>
          </a:prstGeom>
          <a:noFill/>
        </p:spPr>
        <p:txBody>
          <a:bodyPr wrap="square" lIns="0" tIns="0" rIns="0" bIns="0" anchor="t">
            <a:noAutofit/>
          </a:bodyPr>
          <a:lstStyle/>
          <a:p>
            <a:pPr algn="l"/>
            <a:r>
              <a:rPr sz="855" b="1" i="0" spc="21">
                <a:solidFill>
                  <a:srgbClr val="FFFFFF"/>
                </a:solidFill>
                <a:latin typeface="Inter"/>
              </a:rPr>
              <a:t>SAMSUNG SDS</a:t>
            </a:r>
            <a:r>
              <a:rPr sz="855" b="0" i="0" spc="21">
                <a:solidFill>
                  <a:srgbClr val="B9C6DA"/>
                </a:solidFill>
                <a:latin typeface="Inter"/>
              </a:rPr>
              <a:t>   |   </a:t>
            </a:r>
            <a:r>
              <a:rPr sz="855" b="1" i="0" spc="21">
                <a:solidFill>
                  <a:srgbClr val="B9C6DA"/>
                </a:solidFill>
                <a:latin typeface="Inter"/>
              </a:rPr>
              <a:t>BENEFITS  ·  BUSINESS &amp; TECHNICAL</a:t>
            </a:r>
          </a:p>
        </p:txBody>
      </p:sp>
      <p:sp>
        <p:nvSpPr>
          <p:cNvPr id="4" name="Template dash 1"/>
          <p:cNvSpPr/>
          <p:nvPr/>
        </p:nvSpPr>
        <p:spPr>
          <a:xfrm>
            <a:off x="666598" y="404805"/>
            <a:ext cx="300015" cy="38130"/>
          </a:xfrm>
          <a:prstGeom prst="rect">
            <a:avLst/>
          </a:prstGeom>
          <a:solidFill>
            <a:srgbClr val="1616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mplate dash 2"/>
          <p:cNvSpPr/>
          <p:nvPr/>
        </p:nvSpPr>
        <p:spPr>
          <a:xfrm>
            <a:off x="999988" y="404805"/>
            <a:ext cx="300015" cy="38130"/>
          </a:xfrm>
          <a:prstGeom prst="rect">
            <a:avLst/>
          </a:prstGeom>
          <a:solidFill>
            <a:srgbClr val="2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mplate dash 3"/>
          <p:cNvSpPr/>
          <p:nvPr/>
        </p:nvSpPr>
        <p:spPr>
          <a:xfrm>
            <a:off x="1333378" y="404805"/>
            <a:ext cx="300015" cy="38130"/>
          </a:xfrm>
          <a:prstGeom prst="rect">
            <a:avLst/>
          </a:prstGeom>
          <a:solidFill>
            <a:srgbClr val="5F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mplate dash 4"/>
          <p:cNvSpPr/>
          <p:nvPr/>
        </p:nvSpPr>
        <p:spPr>
          <a:xfrm>
            <a:off x="1666768" y="404805"/>
            <a:ext cx="300015" cy="38130"/>
          </a:xfrm>
          <a:prstGeom prst="rect">
            <a:avLst/>
          </a:prstGeom>
          <a:solidFill>
            <a:srgbClr val="C170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Confidential"/>
          <p:cNvSpPr txBox="1"/>
          <p:nvPr/>
        </p:nvSpPr>
        <p:spPr>
          <a:xfrm>
            <a:off x="3143250" y="4934102"/>
            <a:ext cx="2857500" cy="137160"/>
          </a:xfrm>
          <a:prstGeom prst="rect">
            <a:avLst/>
          </a:prstGeom>
          <a:noFill/>
        </p:spPr>
        <p:txBody>
          <a:bodyPr wrap="square" lIns="0" tIns="0" rIns="0" bIns="0" anchor="t">
            <a:noAutofit/>
          </a:bodyPr>
          <a:lstStyle/>
          <a:p>
            <a:pPr algn="ctr"/>
            <a:r>
              <a:rPr sz="606" b="0" i="0" spc="57">
                <a:solidFill>
                  <a:srgbClr val="7A7F8A"/>
                </a:solidFill>
                <a:latin typeface="Inter"/>
              </a:rPr>
              <a:t>Confidential</a:t>
            </a:r>
          </a:p>
        </p:txBody>
      </p:sp>
      <p:sp>
        <p:nvSpPr>
          <p:cNvPr id="9" name="Page number"/>
          <p:cNvSpPr txBox="1"/>
          <p:nvPr/>
        </p:nvSpPr>
        <p:spPr>
          <a:xfrm>
            <a:off x="7315200" y="4753051"/>
            <a:ext cx="1161288" cy="109728"/>
          </a:xfrm>
          <a:prstGeom prst="rect">
            <a:avLst/>
          </a:prstGeom>
          <a:noFill/>
        </p:spPr>
        <p:txBody>
          <a:bodyPr wrap="square" lIns="0" tIns="0" rIns="0" bIns="0" anchor="t">
            <a:noAutofit/>
          </a:bodyPr>
          <a:lstStyle/>
          <a:p>
            <a:pPr algn="r"/>
            <a:r>
              <a:rPr sz="534" b="0" i="0" spc="78">
                <a:solidFill>
                  <a:srgbClr val="7A7F8A"/>
                </a:solidFill>
                <a:latin typeface="Inter"/>
              </a:rPr>
              <a:t>PAGE 06 / 07</a:t>
            </a:r>
          </a:p>
        </p:txBody>
      </p:sp>
      <p:sp>
        <p:nvSpPr>
          <p:cNvPr id="10" name="Footer brand"/>
          <p:cNvSpPr txBox="1"/>
          <p:nvPr/>
        </p:nvSpPr>
        <p:spPr>
          <a:xfrm>
            <a:off x="5619902" y="4895698"/>
            <a:ext cx="2857500" cy="192024"/>
          </a:xfrm>
          <a:prstGeom prst="rect">
            <a:avLst/>
          </a:prstGeom>
          <a:noFill/>
        </p:spPr>
        <p:txBody>
          <a:bodyPr wrap="square" lIns="0" tIns="0" rIns="0" bIns="0" anchor="t">
            <a:noAutofit/>
          </a:bodyPr>
          <a:lstStyle/>
          <a:p>
            <a:pPr algn="r"/>
            <a:r>
              <a:rPr sz="855" b="1" i="0" spc="14">
                <a:solidFill>
                  <a:srgbClr val="1428A0"/>
                </a:solidFill>
                <a:latin typeface="Inter"/>
              </a:rPr>
              <a:t>SAMSUNG SDS</a:t>
            </a:r>
          </a:p>
        </p:txBody>
      </p:sp>
      <p:sp>
        <p:nvSpPr>
          <p:cNvPr id="11" name="Title"/>
          <p:cNvSpPr txBox="1"/>
          <p:nvPr/>
        </p:nvSpPr>
        <p:spPr>
          <a:xfrm>
            <a:off x="667512" y="548640"/>
            <a:ext cx="7808976" cy="384048"/>
          </a:xfrm>
          <a:prstGeom prst="rect">
            <a:avLst/>
          </a:prstGeom>
          <a:noFill/>
        </p:spPr>
        <p:txBody>
          <a:bodyPr wrap="square" lIns="0" tIns="0" rIns="0" bIns="0" anchor="t">
            <a:noAutofit/>
          </a:bodyPr>
          <a:lstStyle/>
          <a:p>
            <a:pPr algn="l"/>
            <a:r>
              <a:rPr sz="2000" b="1" i="0" spc="-60">
                <a:solidFill>
                  <a:srgbClr val="1A1A1E"/>
                </a:solidFill>
                <a:latin typeface="Inter"/>
              </a:rPr>
              <a:t>Business keeps running. Engineering stops chasing selectors.</a:t>
            </a:r>
          </a:p>
        </p:txBody>
      </p:sp>
      <p:sp>
        <p:nvSpPr>
          <p:cNvPr id="12" name="Rounded Rectangle 11"/>
          <p:cNvSpPr/>
          <p:nvPr/>
        </p:nvSpPr>
        <p:spPr>
          <a:xfrm>
            <a:off x="667512" y="1097280"/>
            <a:ext cx="3794760" cy="2944368"/>
          </a:xfrm>
          <a:prstGeom prst="roundRect">
            <a:avLst>
              <a:gd name="adj" fmla="val 4000"/>
            </a:avLst>
          </a:prstGeom>
          <a:solidFill>
            <a:srgbClr val="F4F6FA"/>
          </a:solidFill>
          <a:ln w="762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86968" y="1280160"/>
            <a:ext cx="2743200" cy="146304"/>
          </a:xfrm>
          <a:prstGeom prst="rect">
            <a:avLst/>
          </a:prstGeom>
          <a:noFill/>
        </p:spPr>
        <p:txBody>
          <a:bodyPr wrap="square" lIns="0" tIns="0" rIns="0" bIns="0" anchor="t">
            <a:noAutofit/>
          </a:bodyPr>
          <a:lstStyle/>
          <a:p>
            <a:pPr algn="l"/>
            <a:r>
              <a:rPr sz="750" b="1" i="0" spc="90">
                <a:solidFill>
                  <a:srgbClr val="1428A0"/>
                </a:solidFill>
                <a:latin typeface="Inter"/>
              </a:rPr>
              <a:t>BUSINESS BENEFITS</a:t>
            </a:r>
          </a:p>
        </p:txBody>
      </p:sp>
      <p:sp>
        <p:nvSpPr>
          <p:cNvPr id="14" name="Oval 13"/>
          <p:cNvSpPr/>
          <p:nvPr/>
        </p:nvSpPr>
        <p:spPr>
          <a:xfrm>
            <a:off x="886968" y="1572768"/>
            <a:ext cx="384048" cy="384048"/>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LuMoon_w.png"/>
          <p:cNvPicPr>
            <a:picLocks noChangeAspect="1"/>
          </p:cNvPicPr>
          <p:nvPr/>
        </p:nvPicPr>
        <p:blipFill>
          <a:blip r:embed="rId3"/>
          <a:stretch>
            <a:fillRect/>
          </a:stretch>
        </p:blipFill>
        <p:spPr>
          <a:xfrm>
            <a:off x="979140" y="1664940"/>
            <a:ext cx="199705" cy="199705"/>
          </a:xfrm>
          <a:prstGeom prst="rect">
            <a:avLst/>
          </a:prstGeom>
        </p:spPr>
      </p:pic>
      <p:sp>
        <p:nvSpPr>
          <p:cNvPr id="16" name="TextBox 15"/>
          <p:cNvSpPr txBox="1"/>
          <p:nvPr/>
        </p:nvSpPr>
        <p:spPr>
          <a:xfrm>
            <a:off x="1417320" y="1664208"/>
            <a:ext cx="2880360" cy="219456"/>
          </a:xfrm>
          <a:prstGeom prst="rect">
            <a:avLst/>
          </a:prstGeom>
          <a:noFill/>
        </p:spPr>
        <p:txBody>
          <a:bodyPr wrap="square" lIns="0" tIns="0" rIns="0" bIns="0" anchor="t">
            <a:noAutofit/>
          </a:bodyPr>
          <a:lstStyle/>
          <a:p>
            <a:pPr algn="l"/>
            <a:r>
              <a:rPr sz="1200" b="1" i="0">
                <a:solidFill>
                  <a:srgbClr val="1A1A1E"/>
                </a:solidFill>
                <a:latin typeface="Inter"/>
              </a:rPr>
              <a:t>Overnight runs finish</a:t>
            </a:r>
          </a:p>
        </p:txBody>
      </p:sp>
      <p:sp>
        <p:nvSpPr>
          <p:cNvPr id="18" name="Oval 17"/>
          <p:cNvSpPr/>
          <p:nvPr/>
        </p:nvSpPr>
        <p:spPr>
          <a:xfrm>
            <a:off x="886968" y="2185416"/>
            <a:ext cx="384048" cy="384048"/>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9" name="Picture 18" descr="LuTicket_w.png"/>
          <p:cNvPicPr>
            <a:picLocks noChangeAspect="1"/>
          </p:cNvPicPr>
          <p:nvPr/>
        </p:nvPicPr>
        <p:blipFill>
          <a:blip r:embed="rId4"/>
          <a:stretch>
            <a:fillRect/>
          </a:stretch>
        </p:blipFill>
        <p:spPr>
          <a:xfrm>
            <a:off x="979140" y="2277588"/>
            <a:ext cx="199705" cy="199705"/>
          </a:xfrm>
          <a:prstGeom prst="rect">
            <a:avLst/>
          </a:prstGeom>
        </p:spPr>
      </p:pic>
      <p:sp>
        <p:nvSpPr>
          <p:cNvPr id="20" name="TextBox 19"/>
          <p:cNvSpPr txBox="1"/>
          <p:nvPr/>
        </p:nvSpPr>
        <p:spPr>
          <a:xfrm>
            <a:off x="1417320" y="2276856"/>
            <a:ext cx="2880360" cy="219456"/>
          </a:xfrm>
          <a:prstGeom prst="rect">
            <a:avLst/>
          </a:prstGeom>
          <a:noFill/>
        </p:spPr>
        <p:txBody>
          <a:bodyPr wrap="square" lIns="0" tIns="0" rIns="0" bIns="0" anchor="t">
            <a:noAutofit/>
          </a:bodyPr>
          <a:lstStyle/>
          <a:p>
            <a:pPr algn="l"/>
            <a:r>
              <a:rPr sz="1200" b="1" i="0">
                <a:solidFill>
                  <a:srgbClr val="1A1A1E"/>
                </a:solidFill>
                <a:latin typeface="Inter"/>
              </a:rPr>
              <a:t>Fix time: days to seconds</a:t>
            </a:r>
          </a:p>
        </p:txBody>
      </p:sp>
      <p:sp>
        <p:nvSpPr>
          <p:cNvPr id="22" name="Oval 21"/>
          <p:cNvSpPr/>
          <p:nvPr/>
        </p:nvSpPr>
        <p:spPr>
          <a:xfrm>
            <a:off x="886968" y="2798064"/>
            <a:ext cx="384048" cy="384048"/>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3" name="Picture 22" descr="LuIndianRupee_w.png"/>
          <p:cNvPicPr>
            <a:picLocks noChangeAspect="1"/>
          </p:cNvPicPr>
          <p:nvPr/>
        </p:nvPicPr>
        <p:blipFill>
          <a:blip r:embed="rId5"/>
          <a:stretch>
            <a:fillRect/>
          </a:stretch>
        </p:blipFill>
        <p:spPr>
          <a:xfrm>
            <a:off x="979140" y="2890236"/>
            <a:ext cx="199705" cy="199705"/>
          </a:xfrm>
          <a:prstGeom prst="rect">
            <a:avLst/>
          </a:prstGeom>
        </p:spPr>
      </p:pic>
      <p:sp>
        <p:nvSpPr>
          <p:cNvPr id="24" name="TextBox 23"/>
          <p:cNvSpPr txBox="1"/>
          <p:nvPr/>
        </p:nvSpPr>
        <p:spPr>
          <a:xfrm>
            <a:off x="1417320" y="2889503"/>
            <a:ext cx="2880360" cy="219456"/>
          </a:xfrm>
          <a:prstGeom prst="rect">
            <a:avLst/>
          </a:prstGeom>
          <a:noFill/>
        </p:spPr>
        <p:txBody>
          <a:bodyPr wrap="square" lIns="0" tIns="0" rIns="0" bIns="0" anchor="t">
            <a:noAutofit/>
          </a:bodyPr>
          <a:lstStyle/>
          <a:p>
            <a:pPr algn="l"/>
            <a:r>
              <a:rPr sz="1200" b="1" i="0" dirty="0">
                <a:solidFill>
                  <a:srgbClr val="1A1A1E"/>
                </a:solidFill>
                <a:latin typeface="Inter"/>
              </a:rPr>
              <a:t>~16,800 engineer-hours back a year</a:t>
            </a:r>
          </a:p>
        </p:txBody>
      </p:sp>
      <p:sp>
        <p:nvSpPr>
          <p:cNvPr id="26" name="Oval 25"/>
          <p:cNvSpPr/>
          <p:nvPr/>
        </p:nvSpPr>
        <p:spPr>
          <a:xfrm>
            <a:off x="886968" y="3410712"/>
            <a:ext cx="384048" cy="384048"/>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7" name="Picture 26" descr="LuClipboardCheck_w.png"/>
          <p:cNvPicPr>
            <a:picLocks noChangeAspect="1"/>
          </p:cNvPicPr>
          <p:nvPr/>
        </p:nvPicPr>
        <p:blipFill>
          <a:blip r:embed="rId6"/>
          <a:stretch>
            <a:fillRect/>
          </a:stretch>
        </p:blipFill>
        <p:spPr>
          <a:xfrm>
            <a:off x="979140" y="3502884"/>
            <a:ext cx="199705" cy="199705"/>
          </a:xfrm>
          <a:prstGeom prst="rect">
            <a:avLst/>
          </a:prstGeom>
        </p:spPr>
      </p:pic>
      <p:sp>
        <p:nvSpPr>
          <p:cNvPr id="28" name="TextBox 27"/>
          <p:cNvSpPr txBox="1"/>
          <p:nvPr/>
        </p:nvSpPr>
        <p:spPr>
          <a:xfrm>
            <a:off x="1417320" y="3502152"/>
            <a:ext cx="2880360" cy="219456"/>
          </a:xfrm>
          <a:prstGeom prst="rect">
            <a:avLst/>
          </a:prstGeom>
          <a:noFill/>
        </p:spPr>
        <p:txBody>
          <a:bodyPr wrap="square" lIns="0" tIns="0" rIns="0" bIns="0" anchor="t">
            <a:noAutofit/>
          </a:bodyPr>
          <a:lstStyle/>
          <a:p>
            <a:pPr algn="l"/>
            <a:r>
              <a:rPr sz="1200" b="1" i="0">
                <a:solidFill>
                  <a:srgbClr val="1A1A1E"/>
                </a:solidFill>
                <a:latin typeface="Inter"/>
              </a:rPr>
              <a:t>Every decision auditable</a:t>
            </a:r>
          </a:p>
        </p:txBody>
      </p:sp>
      <p:sp>
        <p:nvSpPr>
          <p:cNvPr id="30" name="Rounded Rectangle 29"/>
          <p:cNvSpPr/>
          <p:nvPr/>
        </p:nvSpPr>
        <p:spPr>
          <a:xfrm>
            <a:off x="4681728" y="1097280"/>
            <a:ext cx="3794760" cy="2944368"/>
          </a:xfrm>
          <a:prstGeom prst="roundRect">
            <a:avLst>
              <a:gd name="adj" fmla="val 4000"/>
            </a:avLst>
          </a:prstGeom>
          <a:solidFill>
            <a:srgbClr val="F4F6FA"/>
          </a:solidFill>
          <a:ln w="762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901184" y="1280160"/>
            <a:ext cx="2743200" cy="146304"/>
          </a:xfrm>
          <a:prstGeom prst="rect">
            <a:avLst/>
          </a:prstGeom>
          <a:noFill/>
        </p:spPr>
        <p:txBody>
          <a:bodyPr wrap="square" lIns="0" tIns="0" rIns="0" bIns="0" anchor="t">
            <a:noAutofit/>
          </a:bodyPr>
          <a:lstStyle/>
          <a:p>
            <a:pPr algn="l"/>
            <a:r>
              <a:rPr sz="750" b="1" i="0" spc="90">
                <a:solidFill>
                  <a:srgbClr val="4A6E24"/>
                </a:solidFill>
                <a:latin typeface="Inter"/>
              </a:rPr>
              <a:t>TECHNICAL BENEFITS</a:t>
            </a:r>
          </a:p>
        </p:txBody>
      </p:sp>
      <p:sp>
        <p:nvSpPr>
          <p:cNvPr id="32" name="Oval 31"/>
          <p:cNvSpPr/>
          <p:nvPr/>
        </p:nvSpPr>
        <p:spPr>
          <a:xfrm>
            <a:off x="4901184" y="1572768"/>
            <a:ext cx="384048" cy="384048"/>
          </a:xfrm>
          <a:prstGeom prst="ellipse">
            <a:avLst/>
          </a:prstGeom>
          <a:solidFill>
            <a:srgbClr val="4A6E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3" name="Picture 32" descr="LuPuzzle_w.png"/>
          <p:cNvPicPr>
            <a:picLocks noChangeAspect="1"/>
          </p:cNvPicPr>
          <p:nvPr/>
        </p:nvPicPr>
        <p:blipFill>
          <a:blip r:embed="rId7"/>
          <a:stretch>
            <a:fillRect/>
          </a:stretch>
        </p:blipFill>
        <p:spPr>
          <a:xfrm>
            <a:off x="4993356" y="1664940"/>
            <a:ext cx="199705" cy="199705"/>
          </a:xfrm>
          <a:prstGeom prst="rect">
            <a:avLst/>
          </a:prstGeom>
        </p:spPr>
      </p:pic>
      <p:sp>
        <p:nvSpPr>
          <p:cNvPr id="34" name="TextBox 33"/>
          <p:cNvSpPr txBox="1"/>
          <p:nvPr/>
        </p:nvSpPr>
        <p:spPr>
          <a:xfrm>
            <a:off x="5431536" y="1664208"/>
            <a:ext cx="2880360" cy="219456"/>
          </a:xfrm>
          <a:prstGeom prst="rect">
            <a:avLst/>
          </a:prstGeom>
          <a:noFill/>
        </p:spPr>
        <p:txBody>
          <a:bodyPr wrap="square" lIns="0" tIns="0" rIns="0" bIns="0" anchor="t">
            <a:noAutofit/>
          </a:bodyPr>
          <a:lstStyle/>
          <a:p>
            <a:pPr algn="l"/>
            <a:r>
              <a:rPr sz="1200" b="1" i="0">
                <a:solidFill>
                  <a:srgbClr val="1A1A1E"/>
                </a:solidFill>
                <a:latin typeface="Inter"/>
              </a:rPr>
              <a:t>No rewrite: add one file</a:t>
            </a:r>
          </a:p>
        </p:txBody>
      </p:sp>
      <p:sp>
        <p:nvSpPr>
          <p:cNvPr id="36" name="Oval 35"/>
          <p:cNvSpPr/>
          <p:nvPr/>
        </p:nvSpPr>
        <p:spPr>
          <a:xfrm>
            <a:off x="4901184" y="2185416"/>
            <a:ext cx="384048" cy="384048"/>
          </a:xfrm>
          <a:prstGeom prst="ellipse">
            <a:avLst/>
          </a:prstGeom>
          <a:solidFill>
            <a:srgbClr val="4A6E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7" name="Picture 36" descr="LuLayers_w.png"/>
          <p:cNvPicPr>
            <a:picLocks noChangeAspect="1"/>
          </p:cNvPicPr>
          <p:nvPr/>
        </p:nvPicPr>
        <p:blipFill>
          <a:blip r:embed="rId8"/>
          <a:stretch>
            <a:fillRect/>
          </a:stretch>
        </p:blipFill>
        <p:spPr>
          <a:xfrm>
            <a:off x="4993356" y="2277588"/>
            <a:ext cx="199705" cy="199705"/>
          </a:xfrm>
          <a:prstGeom prst="rect">
            <a:avLst/>
          </a:prstGeom>
        </p:spPr>
      </p:pic>
      <p:sp>
        <p:nvSpPr>
          <p:cNvPr id="38" name="TextBox 37"/>
          <p:cNvSpPr txBox="1"/>
          <p:nvPr/>
        </p:nvSpPr>
        <p:spPr>
          <a:xfrm>
            <a:off x="5431536" y="2276856"/>
            <a:ext cx="2880360" cy="219456"/>
          </a:xfrm>
          <a:prstGeom prst="rect">
            <a:avLst/>
          </a:prstGeom>
          <a:noFill/>
        </p:spPr>
        <p:txBody>
          <a:bodyPr wrap="square" lIns="0" tIns="0" rIns="0" bIns="0" anchor="t">
            <a:noAutofit/>
          </a:bodyPr>
          <a:lstStyle/>
          <a:p>
            <a:pPr algn="l"/>
            <a:r>
              <a:rPr sz="1200" b="1" i="0">
                <a:solidFill>
                  <a:srgbClr val="1A1A1E"/>
                </a:solidFill>
                <a:latin typeface="Inter"/>
              </a:rPr>
              <a:t>Works with Selenium &amp; Playwright</a:t>
            </a:r>
          </a:p>
        </p:txBody>
      </p:sp>
      <p:sp>
        <p:nvSpPr>
          <p:cNvPr id="40" name="Oval 39"/>
          <p:cNvSpPr/>
          <p:nvPr/>
        </p:nvSpPr>
        <p:spPr>
          <a:xfrm>
            <a:off x="4901184" y="2798064"/>
            <a:ext cx="384048" cy="384048"/>
          </a:xfrm>
          <a:prstGeom prst="ellipse">
            <a:avLst/>
          </a:prstGeom>
          <a:solidFill>
            <a:srgbClr val="4A6E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1" name="Picture 40" descr="LuLock_w.png"/>
          <p:cNvPicPr>
            <a:picLocks noChangeAspect="1"/>
          </p:cNvPicPr>
          <p:nvPr/>
        </p:nvPicPr>
        <p:blipFill>
          <a:blip r:embed="rId9"/>
          <a:stretch>
            <a:fillRect/>
          </a:stretch>
        </p:blipFill>
        <p:spPr>
          <a:xfrm>
            <a:off x="4993356" y="2890236"/>
            <a:ext cx="199705" cy="199705"/>
          </a:xfrm>
          <a:prstGeom prst="rect">
            <a:avLst/>
          </a:prstGeom>
        </p:spPr>
      </p:pic>
      <p:sp>
        <p:nvSpPr>
          <p:cNvPr id="42" name="TextBox 41"/>
          <p:cNvSpPr txBox="1"/>
          <p:nvPr/>
        </p:nvSpPr>
        <p:spPr>
          <a:xfrm>
            <a:off x="5431536" y="2889503"/>
            <a:ext cx="2880360" cy="219456"/>
          </a:xfrm>
          <a:prstGeom prst="rect">
            <a:avLst/>
          </a:prstGeom>
          <a:noFill/>
        </p:spPr>
        <p:txBody>
          <a:bodyPr wrap="square" lIns="0" tIns="0" rIns="0" bIns="0" anchor="t">
            <a:noAutofit/>
          </a:bodyPr>
          <a:lstStyle/>
          <a:p>
            <a:pPr algn="l"/>
            <a:r>
              <a:rPr sz="1200" b="1" i="0" dirty="0">
                <a:solidFill>
                  <a:srgbClr val="1A1A1E"/>
                </a:solidFill>
                <a:latin typeface="Inter"/>
              </a:rPr>
              <a:t>AI cannot invent a selector</a:t>
            </a:r>
          </a:p>
        </p:txBody>
      </p:sp>
      <p:sp>
        <p:nvSpPr>
          <p:cNvPr id="44" name="Oval 43"/>
          <p:cNvSpPr/>
          <p:nvPr/>
        </p:nvSpPr>
        <p:spPr>
          <a:xfrm>
            <a:off x="4901184" y="3410712"/>
            <a:ext cx="384048" cy="384048"/>
          </a:xfrm>
          <a:prstGeom prst="ellipse">
            <a:avLst/>
          </a:prstGeom>
          <a:solidFill>
            <a:srgbClr val="4A6E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5" name="Picture 44" descr="LuShare2_w.png"/>
          <p:cNvPicPr>
            <a:picLocks noChangeAspect="1"/>
          </p:cNvPicPr>
          <p:nvPr/>
        </p:nvPicPr>
        <p:blipFill>
          <a:blip r:embed="rId10"/>
          <a:stretch>
            <a:fillRect/>
          </a:stretch>
        </p:blipFill>
        <p:spPr>
          <a:xfrm>
            <a:off x="4993356" y="3502884"/>
            <a:ext cx="199705" cy="199705"/>
          </a:xfrm>
          <a:prstGeom prst="rect">
            <a:avLst/>
          </a:prstGeom>
        </p:spPr>
      </p:pic>
      <p:sp>
        <p:nvSpPr>
          <p:cNvPr id="46" name="TextBox 45"/>
          <p:cNvSpPr txBox="1"/>
          <p:nvPr/>
        </p:nvSpPr>
        <p:spPr>
          <a:xfrm>
            <a:off x="5431536" y="3502152"/>
            <a:ext cx="2880360" cy="219456"/>
          </a:xfrm>
          <a:prstGeom prst="rect">
            <a:avLst/>
          </a:prstGeom>
          <a:noFill/>
        </p:spPr>
        <p:txBody>
          <a:bodyPr wrap="square" lIns="0" tIns="0" rIns="0" bIns="0" anchor="t">
            <a:noAutofit/>
          </a:bodyPr>
          <a:lstStyle/>
          <a:p>
            <a:pPr algn="l"/>
            <a:r>
              <a:rPr sz="1200" b="1" i="0">
                <a:solidFill>
                  <a:srgbClr val="1A1A1E"/>
                </a:solidFill>
                <a:latin typeface="Inter"/>
              </a:rPr>
              <a:t>One fix heals the whole fleet</a:t>
            </a:r>
          </a:p>
        </p:txBody>
      </p:sp>
      <p:sp>
        <p:nvSpPr>
          <p:cNvPr id="48" name="Rounded Rectangle 47"/>
          <p:cNvSpPr/>
          <p:nvPr/>
        </p:nvSpPr>
        <p:spPr>
          <a:xfrm>
            <a:off x="667512" y="4187952"/>
            <a:ext cx="7808976" cy="347472"/>
          </a:xfrm>
          <a:prstGeom prst="roundRect">
            <a:avLst>
              <a:gd name="adj" fmla="val 50000"/>
            </a:avLst>
          </a:prstGeom>
          <a:solidFill>
            <a:srgbClr val="ED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667512" y="4187952"/>
            <a:ext cx="7808976" cy="347472"/>
          </a:xfrm>
          <a:prstGeom prst="rect">
            <a:avLst/>
          </a:prstGeom>
          <a:noFill/>
        </p:spPr>
        <p:txBody>
          <a:bodyPr wrap="square" lIns="0" tIns="0" rIns="0" bIns="0" anchor="ctr">
            <a:noAutofit/>
          </a:bodyPr>
          <a:lstStyle/>
          <a:p>
            <a:pPr algn="ctr"/>
            <a:r>
              <a:rPr sz="850" b="1" i="0" dirty="0">
                <a:solidFill>
                  <a:srgbClr val="1A1A1E"/>
                </a:solidFill>
                <a:latin typeface="Inter"/>
              </a:rPr>
              <a:t>Also:  </a:t>
            </a:r>
            <a:r>
              <a:rPr lang="en-US" sz="850" b="0" i="0" dirty="0">
                <a:solidFill>
                  <a:srgbClr val="4A5668"/>
                </a:solidFill>
                <a:latin typeface="Inter"/>
              </a:rPr>
              <a:t>fails safe if the service is down   ·   open weights on our hardware   ·   nothing leaves the estate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2"/>
          <p:cNvSpPr/>
          <p:nvPr/>
        </p:nvSpPr>
        <p:spPr>
          <a:xfrm>
            <a:off x="667512" y="1207008"/>
            <a:ext cx="3108960" cy="3273552"/>
          </a:xfrm>
          <a:prstGeom prst="roundRect">
            <a:avLst>
              <a:gd name="adj" fmla="val 6171"/>
            </a:avLst>
          </a:prstGeom>
          <a:solidFill>
            <a:srgbClr val="F4F6FA"/>
          </a:solidFill>
          <a:ln w="6787">
            <a:solidFill>
              <a:srgbClr val="C1702D"/>
            </a:solidFill>
            <a:prstDash val="dash"/>
          </a:ln>
        </p:spPr>
        <p:txBody>
          <a:bodyPr/>
          <a:lstStyle/>
          <a:p>
            <a:endParaRPr dirty="0"/>
          </a:p>
        </p:txBody>
      </p:sp>
      <p:sp>
        <p:nvSpPr>
          <p:cNvPr id="41" name="Rectangle 40"/>
          <p:cNvSpPr/>
          <p:nvPr/>
        </p:nvSpPr>
        <p:spPr>
          <a:xfrm>
            <a:off x="0" y="0"/>
            <a:ext cx="9144000" cy="266700"/>
          </a:xfrm>
          <a:prstGeom prst="rect">
            <a:avLst/>
          </a:prstGeom>
          <a:solidFill>
            <a:srgbClr val="1A2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TextBox 41"/>
          <p:cNvSpPr txBox="1"/>
          <p:nvPr/>
        </p:nvSpPr>
        <p:spPr>
          <a:xfrm>
            <a:off x="666750" y="80962"/>
            <a:ext cx="7620000" cy="194310"/>
          </a:xfrm>
          <a:prstGeom prst="rect">
            <a:avLst/>
          </a:prstGeom>
          <a:noFill/>
        </p:spPr>
        <p:txBody>
          <a:bodyPr wrap="none" lIns="0" tIns="0" rIns="0" bIns="0">
            <a:spAutoFit/>
          </a:bodyPr>
          <a:lstStyle/>
          <a:p>
            <a:pPr algn="l">
              <a:lnSpc>
                <a:spcPct val="100000"/>
              </a:lnSpc>
            </a:pPr>
            <a:r>
              <a:rPr sz="855" b="1" spc="21">
                <a:solidFill>
                  <a:srgbClr val="FFFFFF"/>
                </a:solidFill>
                <a:latin typeface="Inter"/>
              </a:rPr>
              <a:t>SAMSUNG SDS</a:t>
            </a:r>
            <a:r>
              <a:rPr sz="855" b="0" spc="21">
                <a:solidFill>
                  <a:srgbClr val="B9C6DA"/>
                </a:solidFill>
                <a:latin typeface="Inter"/>
              </a:rPr>
              <a:t>   |   </a:t>
            </a:r>
            <a:r>
              <a:rPr sz="855" b="1" spc="21">
                <a:solidFill>
                  <a:srgbClr val="B9C6DA"/>
                </a:solidFill>
                <a:latin typeface="Inter"/>
              </a:rPr>
              <a:t>COMMERCIAL CASE</a:t>
            </a:r>
          </a:p>
        </p:txBody>
      </p:sp>
      <p:sp>
        <p:nvSpPr>
          <p:cNvPr id="43" name="Rectangle 42"/>
          <p:cNvSpPr/>
          <p:nvPr/>
        </p:nvSpPr>
        <p:spPr>
          <a:xfrm>
            <a:off x="666750" y="404812"/>
            <a:ext cx="300038" cy="38100"/>
          </a:xfrm>
          <a:prstGeom prst="rect">
            <a:avLst/>
          </a:prstGeom>
          <a:solidFill>
            <a:srgbClr val="1616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Rectangle 43"/>
          <p:cNvSpPr/>
          <p:nvPr/>
        </p:nvSpPr>
        <p:spPr>
          <a:xfrm>
            <a:off x="1000125" y="404812"/>
            <a:ext cx="300038" cy="38100"/>
          </a:xfrm>
          <a:prstGeom prst="rect">
            <a:avLst/>
          </a:prstGeom>
          <a:solidFill>
            <a:srgbClr val="2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Rectangle 44"/>
          <p:cNvSpPr/>
          <p:nvPr/>
        </p:nvSpPr>
        <p:spPr>
          <a:xfrm>
            <a:off x="1333500" y="404812"/>
            <a:ext cx="300038" cy="38100"/>
          </a:xfrm>
          <a:prstGeom prst="rect">
            <a:avLst/>
          </a:prstGeom>
          <a:solidFill>
            <a:srgbClr val="5F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Rectangle 45"/>
          <p:cNvSpPr/>
          <p:nvPr/>
        </p:nvSpPr>
        <p:spPr>
          <a:xfrm>
            <a:off x="1666875" y="404812"/>
            <a:ext cx="300038" cy="38100"/>
          </a:xfrm>
          <a:prstGeom prst="rect">
            <a:avLst/>
          </a:prstGeom>
          <a:solidFill>
            <a:srgbClr val="C170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TextBox 46"/>
          <p:cNvSpPr txBox="1"/>
          <p:nvPr/>
        </p:nvSpPr>
        <p:spPr>
          <a:xfrm>
            <a:off x="3143250" y="4933950"/>
            <a:ext cx="2857500" cy="137636"/>
          </a:xfrm>
          <a:prstGeom prst="rect">
            <a:avLst/>
          </a:prstGeom>
          <a:noFill/>
        </p:spPr>
        <p:txBody>
          <a:bodyPr wrap="none" lIns="0" tIns="0" rIns="0" bIns="0">
            <a:spAutoFit/>
          </a:bodyPr>
          <a:lstStyle/>
          <a:p>
            <a:pPr algn="ctr">
              <a:lnSpc>
                <a:spcPct val="100000"/>
              </a:lnSpc>
            </a:pPr>
            <a:r>
              <a:rPr sz="606" b="0" spc="57">
                <a:solidFill>
                  <a:srgbClr val="7A7F8A"/>
                </a:solidFill>
                <a:latin typeface="Inter"/>
              </a:rPr>
              <a:t>Confidential</a:t>
            </a:r>
          </a:p>
        </p:txBody>
      </p:sp>
      <p:sp>
        <p:nvSpPr>
          <p:cNvPr id="48" name="TextBox 47"/>
          <p:cNvSpPr txBox="1"/>
          <p:nvPr/>
        </p:nvSpPr>
        <p:spPr>
          <a:xfrm>
            <a:off x="7929215" y="4752975"/>
            <a:ext cx="548035" cy="82202"/>
          </a:xfrm>
          <a:prstGeom prst="rect">
            <a:avLst/>
          </a:prstGeom>
          <a:noFill/>
        </p:spPr>
        <p:txBody>
          <a:bodyPr wrap="none" lIns="0" tIns="0" rIns="0" bIns="0">
            <a:spAutoFit/>
          </a:bodyPr>
          <a:lstStyle/>
          <a:p>
            <a:pPr algn="r">
              <a:lnSpc>
                <a:spcPct val="100000"/>
              </a:lnSpc>
            </a:pPr>
            <a:r>
              <a:rPr sz="534" b="0" spc="78" dirty="0">
                <a:solidFill>
                  <a:srgbClr val="7A7F8A"/>
                </a:solidFill>
                <a:latin typeface="Inter"/>
              </a:rPr>
              <a:t>PAGE </a:t>
            </a:r>
            <a:r>
              <a:rPr lang="en-US" sz="534" spc="78" dirty="0">
                <a:solidFill>
                  <a:srgbClr val="7A7F8A"/>
                </a:solidFill>
                <a:latin typeface="Inter"/>
              </a:rPr>
              <a:t>07</a:t>
            </a:r>
            <a:r>
              <a:rPr sz="534" b="0" spc="78" dirty="0">
                <a:solidFill>
                  <a:srgbClr val="7A7F8A"/>
                </a:solidFill>
                <a:latin typeface="Inter"/>
              </a:rPr>
              <a:t> / </a:t>
            </a:r>
            <a:r>
              <a:rPr lang="en-US" sz="534" spc="78" dirty="0">
                <a:solidFill>
                  <a:srgbClr val="7A7F8A"/>
                </a:solidFill>
                <a:latin typeface="Inter"/>
              </a:rPr>
              <a:t>07</a:t>
            </a:r>
            <a:endParaRPr sz="534" b="0" spc="78" dirty="0">
              <a:solidFill>
                <a:srgbClr val="7A7F8A"/>
              </a:solidFill>
              <a:latin typeface="Inter"/>
            </a:endParaRPr>
          </a:p>
        </p:txBody>
      </p:sp>
      <p:sp>
        <p:nvSpPr>
          <p:cNvPr id="49" name="TextBox 48">
            <a:hlinkClick r:id="rId3" action="ppaction://hlinksldjump"/>
          </p:cNvPr>
          <p:cNvSpPr txBox="1"/>
          <p:nvPr/>
        </p:nvSpPr>
        <p:spPr>
          <a:xfrm>
            <a:off x="5619750" y="4895850"/>
            <a:ext cx="2857500" cy="194310"/>
          </a:xfrm>
          <a:prstGeom prst="rect">
            <a:avLst/>
          </a:prstGeom>
          <a:noFill/>
        </p:spPr>
        <p:txBody>
          <a:bodyPr wrap="none" lIns="0" tIns="0" rIns="0" bIns="0">
            <a:spAutoFit/>
          </a:bodyPr>
          <a:lstStyle/>
          <a:p>
            <a:pPr algn="r">
              <a:lnSpc>
                <a:spcPct val="100000"/>
              </a:lnSpc>
            </a:pPr>
            <a:r>
              <a:rPr sz="855" b="1" spc="14">
                <a:solidFill>
                  <a:srgbClr val="1428A0"/>
                </a:solidFill>
                <a:latin typeface="Inter"/>
              </a:rPr>
              <a:t>SAMSUNG SDS</a:t>
            </a:r>
          </a:p>
        </p:txBody>
      </p:sp>
      <p:sp>
        <p:nvSpPr>
          <p:cNvPr id="50" name="Title"/>
          <p:cNvSpPr txBox="1"/>
          <p:nvPr/>
        </p:nvSpPr>
        <p:spPr>
          <a:xfrm>
            <a:off x="667512" y="548640"/>
            <a:ext cx="7808975" cy="384048"/>
          </a:xfrm>
          <a:prstGeom prst="rect">
            <a:avLst/>
          </a:prstGeom>
          <a:noFill/>
        </p:spPr>
        <p:txBody>
          <a:bodyPr wrap="square" lIns="0" tIns="0" rIns="0" bIns="0" anchor="t">
            <a:noAutofit/>
          </a:bodyPr>
          <a:lstStyle/>
          <a:p>
            <a:pPr algn="l"/>
            <a:r>
              <a:rPr sz="2000" b="1" i="0" spc="-60">
                <a:solidFill>
                  <a:srgbClr val="1A1A1E"/>
                </a:solidFill>
                <a:latin typeface="Inter"/>
              </a:rPr>
              <a:t>Healing gives back ~16,800 engineer-hours a year.</a:t>
            </a:r>
          </a:p>
        </p:txBody>
      </p:sp>
      <p:sp>
        <p:nvSpPr>
          <p:cNvPr id="51" name="Assumptions label"/>
          <p:cNvSpPr txBox="1"/>
          <p:nvPr/>
        </p:nvSpPr>
        <p:spPr>
          <a:xfrm>
            <a:off x="868680" y="1353312"/>
            <a:ext cx="2743200" cy="146304"/>
          </a:xfrm>
          <a:prstGeom prst="rect">
            <a:avLst/>
          </a:prstGeom>
          <a:noFill/>
        </p:spPr>
        <p:txBody>
          <a:bodyPr wrap="square" lIns="0" tIns="0" rIns="0" bIns="0" anchor="t">
            <a:noAutofit/>
          </a:bodyPr>
          <a:lstStyle/>
          <a:p>
            <a:pPr algn="l"/>
            <a:r>
              <a:rPr sz="750" b="1" i="0" spc="90">
                <a:solidFill>
                  <a:srgbClr val="9A5620"/>
                </a:solidFill>
                <a:latin typeface="Inter"/>
              </a:rPr>
              <a:t>THE MODEL  ·  FIVE ASSUMPTIONS</a:t>
            </a:r>
          </a:p>
        </p:txBody>
      </p:sp>
      <p:sp>
        <p:nvSpPr>
          <p:cNvPr id="53" name="Assumption value 1"/>
          <p:cNvSpPr txBox="1"/>
          <p:nvPr/>
        </p:nvSpPr>
        <p:spPr>
          <a:xfrm>
            <a:off x="868680" y="1682496"/>
            <a:ext cx="914400" cy="329184"/>
          </a:xfrm>
          <a:prstGeom prst="rect">
            <a:avLst/>
          </a:prstGeom>
          <a:noFill/>
        </p:spPr>
        <p:txBody>
          <a:bodyPr wrap="square" lIns="0" tIns="0" rIns="0" bIns="0" anchor="ctr">
            <a:spAutoFit/>
          </a:bodyPr>
          <a:lstStyle/>
          <a:p>
            <a:pPr algn="l"/>
            <a:r>
              <a:rPr sz="1600" b="1">
                <a:solidFill>
                  <a:srgbClr val="1A1A1E"/>
                </a:solidFill>
                <a:latin typeface="Inter"/>
              </a:rPr>
              <a:t>500+</a:t>
            </a:r>
          </a:p>
        </p:txBody>
      </p:sp>
      <p:sp>
        <p:nvSpPr>
          <p:cNvPr id="55" name="Assumption label 1"/>
          <p:cNvSpPr txBox="1"/>
          <p:nvPr/>
        </p:nvSpPr>
        <p:spPr>
          <a:xfrm>
            <a:off x="1783080" y="1682496"/>
            <a:ext cx="1874519" cy="329184"/>
          </a:xfrm>
          <a:prstGeom prst="rect">
            <a:avLst/>
          </a:prstGeom>
          <a:noFill/>
        </p:spPr>
        <p:txBody>
          <a:bodyPr wrap="square" lIns="0" tIns="0" rIns="0" bIns="0" anchor="ctr">
            <a:spAutoFit/>
          </a:bodyPr>
          <a:lstStyle/>
          <a:p>
            <a:pPr algn="l"/>
            <a:r>
              <a:rPr sz="950" b="0">
                <a:solidFill>
                  <a:srgbClr val="4A5668"/>
                </a:solidFill>
                <a:latin typeface="Inter"/>
              </a:rPr>
              <a:t>processes in scope</a:t>
            </a:r>
          </a:p>
        </p:txBody>
      </p:sp>
      <p:sp>
        <p:nvSpPr>
          <p:cNvPr id="57" name="Assumption value 2"/>
          <p:cNvSpPr txBox="1"/>
          <p:nvPr/>
        </p:nvSpPr>
        <p:spPr>
          <a:xfrm>
            <a:off x="868680" y="2212848"/>
            <a:ext cx="914400" cy="329184"/>
          </a:xfrm>
          <a:prstGeom prst="rect">
            <a:avLst/>
          </a:prstGeom>
          <a:noFill/>
        </p:spPr>
        <p:txBody>
          <a:bodyPr wrap="square" lIns="0" tIns="0" rIns="0" bIns="0" anchor="ctr">
            <a:spAutoFit/>
          </a:bodyPr>
          <a:lstStyle/>
          <a:p>
            <a:pPr algn="l"/>
            <a:r>
              <a:rPr sz="1600" b="1">
                <a:solidFill>
                  <a:srgbClr val="1A1A1E"/>
                </a:solidFill>
                <a:latin typeface="Inter"/>
              </a:rPr>
              <a:t>~40</a:t>
            </a:r>
          </a:p>
        </p:txBody>
      </p:sp>
      <p:sp>
        <p:nvSpPr>
          <p:cNvPr id="59" name="Assumption label 2"/>
          <p:cNvSpPr txBox="1"/>
          <p:nvPr/>
        </p:nvSpPr>
        <p:spPr>
          <a:xfrm>
            <a:off x="1783080" y="2212848"/>
            <a:ext cx="1874519" cy="329184"/>
          </a:xfrm>
          <a:prstGeom prst="rect">
            <a:avLst/>
          </a:prstGeom>
          <a:noFill/>
        </p:spPr>
        <p:txBody>
          <a:bodyPr wrap="square" lIns="0" tIns="0" rIns="0" bIns="0" anchor="ctr">
            <a:spAutoFit/>
          </a:bodyPr>
          <a:lstStyle/>
          <a:p>
            <a:pPr algn="l"/>
            <a:r>
              <a:rPr sz="950" b="0">
                <a:solidFill>
                  <a:srgbClr val="4A5668"/>
                </a:solidFill>
                <a:latin typeface="Inter"/>
              </a:rPr>
              <a:t>locators per process</a:t>
            </a:r>
          </a:p>
        </p:txBody>
      </p:sp>
      <p:sp>
        <p:nvSpPr>
          <p:cNvPr id="61" name="Assumption value 3"/>
          <p:cNvSpPr txBox="1"/>
          <p:nvPr/>
        </p:nvSpPr>
        <p:spPr>
          <a:xfrm>
            <a:off x="868680" y="2743200"/>
            <a:ext cx="914400" cy="329184"/>
          </a:xfrm>
          <a:prstGeom prst="rect">
            <a:avLst/>
          </a:prstGeom>
          <a:noFill/>
        </p:spPr>
        <p:txBody>
          <a:bodyPr wrap="square" lIns="0" tIns="0" rIns="0" bIns="0" anchor="ctr">
            <a:spAutoFit/>
          </a:bodyPr>
          <a:lstStyle/>
          <a:p>
            <a:pPr algn="l"/>
            <a:r>
              <a:rPr sz="1600" b="1">
                <a:solidFill>
                  <a:srgbClr val="1A1A1E"/>
                </a:solidFill>
                <a:latin typeface="Inter"/>
              </a:rPr>
              <a:t>8%</a:t>
            </a:r>
          </a:p>
        </p:txBody>
      </p:sp>
      <p:sp>
        <p:nvSpPr>
          <p:cNvPr id="63" name="Assumption label 3"/>
          <p:cNvSpPr txBox="1"/>
          <p:nvPr/>
        </p:nvSpPr>
        <p:spPr>
          <a:xfrm>
            <a:off x="1783080" y="2743200"/>
            <a:ext cx="1874519" cy="329184"/>
          </a:xfrm>
          <a:prstGeom prst="rect">
            <a:avLst/>
          </a:prstGeom>
          <a:noFill/>
        </p:spPr>
        <p:txBody>
          <a:bodyPr wrap="square" lIns="0" tIns="0" rIns="0" bIns="0" anchor="ctr">
            <a:spAutoFit/>
          </a:bodyPr>
          <a:lstStyle/>
          <a:p>
            <a:pPr algn="l"/>
            <a:r>
              <a:rPr sz="950" b="0">
                <a:solidFill>
                  <a:srgbClr val="4A5668"/>
                </a:solidFill>
                <a:latin typeface="Inter"/>
              </a:rPr>
              <a:t>break each quarter</a:t>
            </a:r>
          </a:p>
        </p:txBody>
      </p:sp>
      <p:sp>
        <p:nvSpPr>
          <p:cNvPr id="65" name="Assumption value 4"/>
          <p:cNvSpPr txBox="1"/>
          <p:nvPr/>
        </p:nvSpPr>
        <p:spPr>
          <a:xfrm>
            <a:off x="868680" y="3273552"/>
            <a:ext cx="914400" cy="329184"/>
          </a:xfrm>
          <a:prstGeom prst="rect">
            <a:avLst/>
          </a:prstGeom>
          <a:noFill/>
        </p:spPr>
        <p:txBody>
          <a:bodyPr wrap="square" lIns="0" tIns="0" rIns="0" bIns="0" anchor="ctr">
            <a:spAutoFit/>
          </a:bodyPr>
          <a:lstStyle/>
          <a:p>
            <a:pPr algn="l"/>
            <a:r>
              <a:rPr sz="1600" b="1">
                <a:solidFill>
                  <a:srgbClr val="1A1A1E"/>
                </a:solidFill>
                <a:latin typeface="Inter"/>
              </a:rPr>
              <a:t>3.5 h</a:t>
            </a:r>
          </a:p>
        </p:txBody>
      </p:sp>
      <p:sp>
        <p:nvSpPr>
          <p:cNvPr id="67" name="Assumption label 4"/>
          <p:cNvSpPr txBox="1"/>
          <p:nvPr/>
        </p:nvSpPr>
        <p:spPr>
          <a:xfrm>
            <a:off x="1783080" y="3273552"/>
            <a:ext cx="1874519" cy="329184"/>
          </a:xfrm>
          <a:prstGeom prst="rect">
            <a:avLst/>
          </a:prstGeom>
          <a:noFill/>
        </p:spPr>
        <p:txBody>
          <a:bodyPr wrap="square" lIns="0" tIns="0" rIns="0" bIns="0" anchor="ctr">
            <a:spAutoFit/>
          </a:bodyPr>
          <a:lstStyle/>
          <a:p>
            <a:pPr algn="l"/>
            <a:r>
              <a:rPr sz="950" b="0">
                <a:solidFill>
                  <a:srgbClr val="4A5668"/>
                </a:solidFill>
                <a:latin typeface="Inter"/>
              </a:rPr>
              <a:t>engineer time per fix</a:t>
            </a:r>
          </a:p>
        </p:txBody>
      </p:sp>
      <p:sp>
        <p:nvSpPr>
          <p:cNvPr id="69" name="Assumption value 5"/>
          <p:cNvSpPr txBox="1"/>
          <p:nvPr/>
        </p:nvSpPr>
        <p:spPr>
          <a:xfrm>
            <a:off x="868680" y="3803904"/>
            <a:ext cx="914400" cy="329184"/>
          </a:xfrm>
          <a:prstGeom prst="rect">
            <a:avLst/>
          </a:prstGeom>
          <a:noFill/>
        </p:spPr>
        <p:txBody>
          <a:bodyPr wrap="square" lIns="0" tIns="0" rIns="0" bIns="0" anchor="ctr">
            <a:spAutoFit/>
          </a:bodyPr>
          <a:lstStyle/>
          <a:p>
            <a:pPr algn="l"/>
            <a:r>
              <a:rPr sz="1600" b="1">
                <a:solidFill>
                  <a:srgbClr val="1A1A1E"/>
                </a:solidFill>
                <a:latin typeface="Inter"/>
              </a:rPr>
              <a:t>75%</a:t>
            </a:r>
          </a:p>
        </p:txBody>
      </p:sp>
      <p:sp>
        <p:nvSpPr>
          <p:cNvPr id="71" name="Assumption label 5"/>
          <p:cNvSpPr txBox="1"/>
          <p:nvPr/>
        </p:nvSpPr>
        <p:spPr>
          <a:xfrm>
            <a:off x="1783080" y="3803904"/>
            <a:ext cx="1874519" cy="329184"/>
          </a:xfrm>
          <a:prstGeom prst="rect">
            <a:avLst/>
          </a:prstGeom>
          <a:noFill/>
        </p:spPr>
        <p:txBody>
          <a:bodyPr wrap="square" lIns="0" tIns="0" rIns="0" bIns="0" anchor="ctr">
            <a:spAutoFit/>
          </a:bodyPr>
          <a:lstStyle/>
          <a:p>
            <a:pPr algn="l"/>
            <a:r>
              <a:rPr sz="950" b="0">
                <a:solidFill>
                  <a:srgbClr val="4A5668"/>
                </a:solidFill>
                <a:latin typeface="Inter"/>
              </a:rPr>
              <a:t>healed without a person</a:t>
            </a:r>
          </a:p>
        </p:txBody>
      </p:sp>
      <p:sp>
        <p:nvSpPr>
          <p:cNvPr id="73" name="Result card 1"/>
          <p:cNvSpPr/>
          <p:nvPr/>
        </p:nvSpPr>
        <p:spPr>
          <a:xfrm>
            <a:off x="4023360" y="1207008"/>
            <a:ext cx="4453128" cy="841248"/>
          </a:xfrm>
          <a:prstGeom prst="roundRect">
            <a:avLst>
              <a:gd name="adj" fmla="val 10000"/>
            </a:avLst>
          </a:prstGeom>
          <a:solidFill>
            <a:srgbClr val="F4F6FA"/>
          </a:solidFill>
          <a:ln w="9525">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5" name="Result value 1"/>
          <p:cNvSpPr txBox="1"/>
          <p:nvPr/>
        </p:nvSpPr>
        <p:spPr>
          <a:xfrm>
            <a:off x="4251960" y="1207008"/>
            <a:ext cx="1600200" cy="841248"/>
          </a:xfrm>
          <a:prstGeom prst="rect">
            <a:avLst/>
          </a:prstGeom>
          <a:noFill/>
        </p:spPr>
        <p:txBody>
          <a:bodyPr wrap="square" lIns="0" tIns="0" rIns="0" bIns="0" anchor="ctr">
            <a:spAutoFit/>
          </a:bodyPr>
          <a:lstStyle/>
          <a:p>
            <a:pPr algn="l"/>
            <a:r>
              <a:rPr sz="2400" b="1">
                <a:solidFill>
                  <a:srgbClr val="1A1A1E"/>
                </a:solidFill>
                <a:latin typeface="Inter"/>
              </a:rPr>
              <a:t>6,400</a:t>
            </a:r>
          </a:p>
        </p:txBody>
      </p:sp>
      <p:sp>
        <p:nvSpPr>
          <p:cNvPr id="77" name="Result label 1"/>
          <p:cNvSpPr txBox="1"/>
          <p:nvPr/>
        </p:nvSpPr>
        <p:spPr>
          <a:xfrm>
            <a:off x="5897880" y="1426464"/>
            <a:ext cx="2468880" cy="219456"/>
          </a:xfrm>
          <a:prstGeom prst="rect">
            <a:avLst/>
          </a:prstGeom>
          <a:noFill/>
        </p:spPr>
        <p:txBody>
          <a:bodyPr wrap="square" lIns="0" tIns="0" rIns="0" bIns="0" anchor="t">
            <a:spAutoFit/>
          </a:bodyPr>
          <a:lstStyle/>
          <a:p>
            <a:pPr algn="l"/>
            <a:r>
              <a:rPr sz="1050" b="1">
                <a:solidFill>
                  <a:srgbClr val="1A1A1E"/>
                </a:solidFill>
                <a:latin typeface="Inter"/>
              </a:rPr>
              <a:t>selector breaks a year</a:t>
            </a:r>
          </a:p>
        </p:txBody>
      </p:sp>
      <p:sp>
        <p:nvSpPr>
          <p:cNvPr id="79" name="Result formula 1"/>
          <p:cNvSpPr txBox="1"/>
          <p:nvPr/>
        </p:nvSpPr>
        <p:spPr>
          <a:xfrm>
            <a:off x="5897880" y="1664208"/>
            <a:ext cx="2468880" cy="182880"/>
          </a:xfrm>
          <a:prstGeom prst="rect">
            <a:avLst/>
          </a:prstGeom>
          <a:noFill/>
        </p:spPr>
        <p:txBody>
          <a:bodyPr wrap="square" lIns="0" tIns="0" rIns="0" bIns="0" anchor="t">
            <a:spAutoFit/>
          </a:bodyPr>
          <a:lstStyle/>
          <a:p>
            <a:pPr algn="l"/>
            <a:r>
              <a:rPr sz="750" b="0">
                <a:solidFill>
                  <a:srgbClr val="4A5668"/>
                </a:solidFill>
                <a:latin typeface="JetBrains Mono"/>
              </a:rPr>
              <a:t>500 × 40 × 8% × 4 quarters</a:t>
            </a:r>
          </a:p>
        </p:txBody>
      </p:sp>
      <p:sp>
        <p:nvSpPr>
          <p:cNvPr id="81" name="Result card 2"/>
          <p:cNvSpPr/>
          <p:nvPr/>
        </p:nvSpPr>
        <p:spPr>
          <a:xfrm>
            <a:off x="4023360" y="2185416"/>
            <a:ext cx="4453128" cy="841248"/>
          </a:xfrm>
          <a:prstGeom prst="roundRect">
            <a:avLst>
              <a:gd name="adj" fmla="val 10000"/>
            </a:avLst>
          </a:prstGeom>
          <a:solidFill>
            <a:srgbClr val="F4F6FA"/>
          </a:solidFill>
          <a:ln w="9525">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3" name="Result value 2"/>
          <p:cNvSpPr txBox="1"/>
          <p:nvPr/>
        </p:nvSpPr>
        <p:spPr>
          <a:xfrm>
            <a:off x="4251960" y="2185416"/>
            <a:ext cx="1600200" cy="841248"/>
          </a:xfrm>
          <a:prstGeom prst="rect">
            <a:avLst/>
          </a:prstGeom>
          <a:noFill/>
        </p:spPr>
        <p:txBody>
          <a:bodyPr wrap="square" lIns="0" tIns="0" rIns="0" bIns="0" anchor="ctr">
            <a:spAutoFit/>
          </a:bodyPr>
          <a:lstStyle/>
          <a:p>
            <a:pPr algn="l"/>
            <a:r>
              <a:rPr sz="2400" b="1">
                <a:solidFill>
                  <a:srgbClr val="1A1A1E"/>
                </a:solidFill>
                <a:latin typeface="Inter"/>
              </a:rPr>
              <a:t>22,400</a:t>
            </a:r>
          </a:p>
        </p:txBody>
      </p:sp>
      <p:sp>
        <p:nvSpPr>
          <p:cNvPr id="85" name="Result label 2"/>
          <p:cNvSpPr txBox="1"/>
          <p:nvPr/>
        </p:nvSpPr>
        <p:spPr>
          <a:xfrm>
            <a:off x="5897880" y="2404872"/>
            <a:ext cx="2468880" cy="219456"/>
          </a:xfrm>
          <a:prstGeom prst="rect">
            <a:avLst/>
          </a:prstGeom>
          <a:noFill/>
        </p:spPr>
        <p:txBody>
          <a:bodyPr wrap="square" lIns="0" tIns="0" rIns="0" bIns="0" anchor="t">
            <a:spAutoFit/>
          </a:bodyPr>
          <a:lstStyle/>
          <a:p>
            <a:pPr algn="l"/>
            <a:r>
              <a:rPr sz="1050" b="1">
                <a:solidFill>
                  <a:srgbClr val="1A1A1E"/>
                </a:solidFill>
                <a:latin typeface="Inter"/>
              </a:rPr>
              <a:t>engineer-hours spent today</a:t>
            </a:r>
          </a:p>
        </p:txBody>
      </p:sp>
      <p:sp>
        <p:nvSpPr>
          <p:cNvPr id="87" name="Result formula 2"/>
          <p:cNvSpPr txBox="1"/>
          <p:nvPr/>
        </p:nvSpPr>
        <p:spPr>
          <a:xfrm>
            <a:off x="5897880" y="2642616"/>
            <a:ext cx="2468880" cy="182880"/>
          </a:xfrm>
          <a:prstGeom prst="rect">
            <a:avLst/>
          </a:prstGeom>
          <a:noFill/>
        </p:spPr>
        <p:txBody>
          <a:bodyPr wrap="square" lIns="0" tIns="0" rIns="0" bIns="0" anchor="t">
            <a:spAutoFit/>
          </a:bodyPr>
          <a:lstStyle/>
          <a:p>
            <a:pPr algn="l"/>
            <a:r>
              <a:rPr sz="750" b="0">
                <a:solidFill>
                  <a:srgbClr val="4A5668"/>
                </a:solidFill>
                <a:latin typeface="JetBrains Mono"/>
              </a:rPr>
              <a:t>6,400 × 3.5 h</a:t>
            </a:r>
          </a:p>
        </p:txBody>
      </p:sp>
      <p:sp>
        <p:nvSpPr>
          <p:cNvPr id="89" name="Result card 3"/>
          <p:cNvSpPr/>
          <p:nvPr/>
        </p:nvSpPr>
        <p:spPr>
          <a:xfrm>
            <a:off x="4023360" y="3163824"/>
            <a:ext cx="4453128" cy="1316736"/>
          </a:xfrm>
          <a:prstGeom prst="roundRect">
            <a:avLst>
              <a:gd name="adj" fmla="val 10000"/>
            </a:avLst>
          </a:prstGeom>
          <a:solidFill>
            <a:srgbClr val="4A6E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1" name="Result value 3"/>
          <p:cNvSpPr txBox="1"/>
          <p:nvPr/>
        </p:nvSpPr>
        <p:spPr>
          <a:xfrm>
            <a:off x="4251960" y="3163824"/>
            <a:ext cx="1920240" cy="1316736"/>
          </a:xfrm>
          <a:prstGeom prst="rect">
            <a:avLst/>
          </a:prstGeom>
          <a:noFill/>
        </p:spPr>
        <p:txBody>
          <a:bodyPr wrap="square" lIns="0" tIns="0" rIns="0" bIns="0" anchor="ctr">
            <a:spAutoFit/>
          </a:bodyPr>
          <a:lstStyle/>
          <a:p>
            <a:pPr algn="l"/>
            <a:r>
              <a:rPr sz="3400" b="1">
                <a:solidFill>
                  <a:srgbClr val="FFFFFF"/>
                </a:solidFill>
                <a:latin typeface="Inter"/>
              </a:rPr>
              <a:t>16,800</a:t>
            </a:r>
          </a:p>
        </p:txBody>
      </p:sp>
      <p:sp>
        <p:nvSpPr>
          <p:cNvPr id="93" name="Result label 3"/>
          <p:cNvSpPr txBox="1"/>
          <p:nvPr/>
        </p:nvSpPr>
        <p:spPr>
          <a:xfrm>
            <a:off x="5897880" y="3547872"/>
            <a:ext cx="2468880" cy="274320"/>
          </a:xfrm>
          <a:prstGeom prst="rect">
            <a:avLst/>
          </a:prstGeom>
          <a:noFill/>
        </p:spPr>
        <p:txBody>
          <a:bodyPr wrap="square" lIns="0" tIns="0" rIns="0" bIns="0" anchor="t">
            <a:spAutoFit/>
          </a:bodyPr>
          <a:lstStyle/>
          <a:p>
            <a:pPr algn="l"/>
            <a:r>
              <a:rPr sz="1200" b="1">
                <a:solidFill>
                  <a:srgbClr val="FFFFFF"/>
                </a:solidFill>
                <a:latin typeface="Inter"/>
              </a:rPr>
              <a:t>engineer-hours saved a year</a:t>
            </a:r>
          </a:p>
        </p:txBody>
      </p:sp>
      <p:sp>
        <p:nvSpPr>
          <p:cNvPr id="95" name="Result formula 3"/>
          <p:cNvSpPr txBox="1"/>
          <p:nvPr/>
        </p:nvSpPr>
        <p:spPr>
          <a:xfrm>
            <a:off x="5897880" y="3895344"/>
            <a:ext cx="2468880" cy="182880"/>
          </a:xfrm>
          <a:prstGeom prst="rect">
            <a:avLst/>
          </a:prstGeom>
          <a:noFill/>
        </p:spPr>
        <p:txBody>
          <a:bodyPr wrap="square" lIns="0" tIns="0" rIns="0" bIns="0" anchor="t">
            <a:spAutoFit/>
          </a:bodyPr>
          <a:lstStyle/>
          <a:p>
            <a:pPr algn="l"/>
            <a:r>
              <a:rPr sz="800" b="0">
                <a:solidFill>
                  <a:srgbClr val="DDE8CF"/>
                </a:solidFill>
                <a:latin typeface="JetBrains Mono"/>
              </a:rPr>
              <a:t>22,400 h × 75% healed</a:t>
            </a:r>
          </a:p>
        </p:txBody>
      </p:sp>
    </p:spTree>
  </p:cSld>
  <p:clrMapOvr>
    <a:masterClrMapping/>
  </p:clrMapOvr>
  <mc:AlternateContent xmlns:mc="http://schemas.openxmlformats.org/markup-compatibility/2006" xmlns:p14="http://schemas.microsoft.com/office/powerpoint/2010/main">
    <mc:Choice Requires="p14">
      <p:transition p14:dur="450">
        <p:fade/>
      </p:transition>
    </mc:Choice>
    <mc:Fallback xmlns="">
      <p:transition>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1148</TotalTime>
  <Words>1554</Words>
  <Application>Microsoft Office PowerPoint</Application>
  <PresentationFormat>On-screen Show (16:9)</PresentationFormat>
  <Paragraphs>193</Paragraphs>
  <Slides>7</Slides>
  <Notes>7</Notes>
  <HiddenSlides>0</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JetBrains Mono</vt:lpstr>
      <vt:lpstr>Arial</vt:lpstr>
      <vt:lpstr>Inter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Tushar Agrawal</cp:lastModifiedBy>
  <cp:revision>71</cp:revision>
  <dcterms:created xsi:type="dcterms:W3CDTF">2026-09-07T12:54:47Z</dcterms:created>
  <dcterms:modified xsi:type="dcterms:W3CDTF">2026-10-06T11:54:51Z</dcterms:modified>
</cp:coreProperties>
</file>