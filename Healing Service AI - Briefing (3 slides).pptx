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Inter" panose="02000503000000020004" pitchFamily="2" charset="0"/>
      <p:regular r:id="rId6"/>
      <p:bold r:id="rId7"/>
    </p:embeddedFont>
    <p:embeddedFont>
      <p:font typeface="JetBrains Mono" panose="02000009000000000000" pitchFamily="49" charset="0"/>
      <p:regular r:id="rId8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Checker dev AUC</c:v>
                </c:pt>
              </c:strCache>
            </c:strRef>
          </c:tx>
          <c:spPr>
            <a:ln w="28575">
              <a:solidFill>
                <a:srgbClr val="5F8B2F"/>
              </a:solidFill>
            </a:ln>
          </c:spPr>
          <c:marker>
            <c:symbol val="circle"/>
            <c:size val="5"/>
            <c:spPr>
              <a:solidFill>
                <a:srgbClr val="5F8B2F"/>
              </a:solidFill>
              <a:ln>
                <a:noFill/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562" b="1">
                        <a:solidFill>
                          <a:srgbClr val="4A6E24"/>
                        </a:solidFill>
                        <a:latin typeface="JetBrains Mono"/>
                      </a:rPr>
                      <a:t>0.59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207-4986-937F-BEC4349CBCD1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sz="562" b="1">
                        <a:solidFill>
                          <a:srgbClr val="4A6E24"/>
                        </a:solidFill>
                        <a:latin typeface="JetBrains Mono"/>
                      </a:rPr>
                      <a:t>0.97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207-4986-937F-BEC4349CBC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0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     </c:v>
                </c:pt>
                <c:pt idx="5">
                  <c:v>4k</c:v>
                </c:pt>
                <c:pt idx="6">
                  <c:v>       </c:v>
                </c:pt>
                <c:pt idx="7">
                  <c:v>        </c:v>
                </c:pt>
                <c:pt idx="8">
                  <c:v>         </c:v>
                </c:pt>
                <c:pt idx="9">
                  <c:v>          </c:v>
                </c:pt>
                <c:pt idx="10">
                  <c:v>8k</c:v>
                </c:pt>
                <c:pt idx="11">
                  <c:v>            </c:v>
                </c:pt>
                <c:pt idx="12">
                  <c:v>             </c:v>
                </c:pt>
                <c:pt idx="13">
                  <c:v>              </c:v>
                </c:pt>
                <c:pt idx="14">
                  <c:v>               </c:v>
                </c:pt>
                <c:pt idx="15">
                  <c:v>                </c:v>
                </c:pt>
                <c:pt idx="16">
                  <c:v>13k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0.59399999999999997</c:v>
                </c:pt>
                <c:pt idx="1">
                  <c:v>0.94289999999999996</c:v>
                </c:pt>
                <c:pt idx="2">
                  <c:v>0.95799999999999996</c:v>
                </c:pt>
                <c:pt idx="3">
                  <c:v>0.93979999999999997</c:v>
                </c:pt>
                <c:pt idx="4">
                  <c:v>0.96160000000000001</c:v>
                </c:pt>
                <c:pt idx="5">
                  <c:v>0.96279999999999999</c:v>
                </c:pt>
                <c:pt idx="6">
                  <c:v>0.96440000000000003</c:v>
                </c:pt>
                <c:pt idx="7">
                  <c:v>0.96599999999999997</c:v>
                </c:pt>
                <c:pt idx="8">
                  <c:v>0.96550000000000002</c:v>
                </c:pt>
                <c:pt idx="9">
                  <c:v>0.97009999999999996</c:v>
                </c:pt>
                <c:pt idx="10">
                  <c:v>0.96989999999999998</c:v>
                </c:pt>
                <c:pt idx="11">
                  <c:v>0.97030000000000005</c:v>
                </c:pt>
                <c:pt idx="12">
                  <c:v>0.97040000000000004</c:v>
                </c:pt>
                <c:pt idx="13">
                  <c:v>0.97099999999999997</c:v>
                </c:pt>
                <c:pt idx="14">
                  <c:v>0.97119999999999995</c:v>
                </c:pt>
                <c:pt idx="15">
                  <c:v>0.9708</c:v>
                </c:pt>
                <c:pt idx="16">
                  <c:v>0.97050000000000003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07-4986-937F-BEC4349CBC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D7DEEA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.5"/>
        </c:scaling>
        <c:delete val="0"/>
        <c:axPos val="l"/>
        <c:majorGridlines>
          <c:spPr>
            <a:ln w="6350">
              <a:solidFill>
                <a:srgbClr val="D7DEEA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0.1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487">
          <a:solidFill>
            <a:srgbClr val="7A7F8A"/>
          </a:solidFill>
          <a:latin typeface="JetBrains Mon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Adjudicator accuracy by stage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A7F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589-436E-AFC4-59F5D28A5B54}"/>
              </c:ext>
            </c:extLst>
          </c:dPt>
          <c:dPt>
            <c:idx val="1"/>
            <c:invertIfNegative val="1"/>
            <c:bubble3D val="0"/>
            <c:spPr>
              <a:solidFill>
                <a:srgbClr val="E0A87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589-436E-AFC4-59F5D28A5B54}"/>
              </c:ext>
            </c:extLst>
          </c:dPt>
          <c:dPt>
            <c:idx val="2"/>
            <c:invertIfNegative val="1"/>
            <c:bubble3D val="0"/>
            <c:spPr>
              <a:solidFill>
                <a:srgbClr val="C1702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589-436E-AFC4-59F5D28A5B5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75" b="1">
                    <a:solidFill>
                      <a:srgbClr val="1A1A1E"/>
                    </a:solidFill>
                    <a:latin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Untuned</c:v>
                </c:pt>
                <c:pt idx="1">
                  <c:v>Stage 1</c:v>
                </c:pt>
                <c:pt idx="2">
                  <c:v>Stage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59.3</c:v>
                </c:pt>
                <c:pt idx="1">
                  <c:v>83.9</c:v>
                </c:pt>
                <c:pt idx="2">
                  <c:v>85.8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89-436E-AFC4-59F5D28A5B5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D7DEE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562">
          <a:solidFill>
            <a:srgbClr val="4A5668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comparison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428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B86-4609-9B4F-9C50B6A7D234}"/>
              </c:ext>
            </c:extLst>
          </c:dPt>
          <c:dPt>
            <c:idx val="1"/>
            <c:invertIfNegative val="1"/>
            <c:bubble3D val="0"/>
            <c:spPr>
              <a:solidFill>
                <a:srgbClr val="C1702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B86-4609-9B4F-9C50B6A7D234}"/>
              </c:ext>
            </c:extLst>
          </c:dPt>
          <c:dPt>
            <c:idx val="2"/>
            <c:invertIfNegative val="1"/>
            <c:bubble3D val="0"/>
            <c:spPr>
              <a:solidFill>
                <a:srgbClr val="E0A87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B86-4609-9B4F-9C50B6A7D23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25" b="1">
                    <a:solidFill>
                      <a:srgbClr val="1A1A1E"/>
                    </a:solidFill>
                    <a:latin typeface="JetBrains Mon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Qwen3-4B, shipped</c:v>
                </c:pt>
                <c:pt idx="1">
                  <c:v>gpt-oss-20b</c:v>
                </c:pt>
                <c:pt idx="2">
                  <c:v>gpt-oss-20b, served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85.1</c:v>
                </c:pt>
                <c:pt idx="1">
                  <c:v>81.7</c:v>
                </c:pt>
                <c:pt idx="2">
                  <c:v>79.5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B86-4609-9B4F-9C50B6A7D23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2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675">
          <a:solidFill>
            <a:srgbClr val="1A1A1E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67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[Before you click anything. Look at the room.]</a:t>
            </a:r>
          </a:p>
          <a:p>
            <a:r>
              <a:t>Quick show of hands: who has seen a bot fail overnight because a vendor renamed one button?</a:t>
            </a:r>
          </a:p>
          <a:p>
            <a:r>
              <a:t>[Pause two seconds. Nod at the hands.]</a:t>
            </a:r>
          </a:p>
          <a:p>
            <a:r>
              <a:t>Each of those breaks costs us one to two days of engineering. Our AI repairs it in seconds, while the bot is still running.</a:t>
            </a:r>
          </a:p>
          <a:p>
            <a:r>
              <a:t>When a selector breaks, a small JavaScript harvester inside the live page fingerprints the candidates. How many? Take a guess.</a:t>
            </a:r>
          </a:p>
          <a:p>
            <a:r>
              <a:t>[Pause. Let someone answer.]</a:t>
            </a:r>
          </a:p>
          <a:p>
            <a:r>
              <a:t>Up to 900 - text, IDs, labels, position, even nearby words. Only those fingerprints leave the browser, never a screenshot.</a:t>
            </a:r>
          </a:p>
          <a:p>
            <a:r>
              <a:t>[Point along the line, left to right.]</a:t>
            </a:r>
          </a:p>
          <a:p>
            <a:r>
              <a:t>The ranker scores them on eight signals and keeps the best eight.</a:t>
            </a:r>
          </a:p>
          <a:p>
            <a:r>
              <a:t>Laya, our fine-tuned 421-million-parameter checker, decides alone only when it is sure: its top pick scores at least 0.95 - or 0.76 if the step has no description - and no rival clears that bar. Tuned that way, its solo calls were at least 97 percent right. Otherwise, the LLM decides.</a:t>
            </a:r>
          </a:p>
          <a:p>
            <a:r>
              <a:t>Our fine-tuned Qwen 4B answers only with an index, so it can never invent a selector. A fixed policy makes the final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[CLICK]</a:t>
            </a:r>
          </a:p>
          <a:p>
            <a:r>
              <a:t>Where does this intelligence come from? Real data, not synthetic: 1,131 live websites, 758,000 real breakages, and no test website ever used in training.</a:t>
            </a:r>
          </a:p>
          <a:p>
            <a:r>
              <a:t>[Point to the two charts.]</a:t>
            </a:r>
          </a:p>
          <a:p>
            <a:r>
              <a:t>Laya climbed from 0.59 to 0.97 AUC. Fine-tuning lifted the 4B model from 59 to 86 percent accuracy - 26 points - in under eight GPU-hours.</a:t>
            </a:r>
          </a:p>
          <a:p>
            <a:r>
              <a:t>And the whole LLM is just 2.5 gigabytes: open weights, on our own hardware, with no external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[CLICK]</a:t>
            </a:r>
          </a:p>
          <a:p>
            <a:r>
              <a:t>One more guess. A 20-billion-parameter model against our 4-billion, on the same 1,000 unseen cases. Who wins?</a:t>
            </a:r>
          </a:p>
          <a:p>
            <a:r>
              <a:t>[Pause. Most people pick the big one.]</a:t>
            </a:r>
          </a:p>
          <a:p>
            <a:r>
              <a:t>Ours: 85.1 percent. The 20B, five times bigger: 81.7. Significant at p below 0.001.</a:t>
            </a:r>
          </a:p>
          <a:p>
            <a:r>
              <a:t>[Point to the right-hand column, top to bottom.]</a:t>
            </a:r>
          </a:p>
          <a:p>
            <a:r>
              <a:t>When our LLM is confident, it is right 99 percent of the time: 209 of 211. Laya separates right from wrong at 0.98 AUC, versus 0.77 for heuristics. 38 percent of decisions skip the LLM entirely; the rest take a median 2.2 seconds on one GPU.</a:t>
            </a:r>
          </a:p>
          <a:p>
            <a:r>
              <a:t>[Point to the green panel.]</a:t>
            </a:r>
          </a:p>
          <a:p>
            <a:r>
              <a:t>And for real? An OrangeHRM upgrade, 4.10 to 5.9, broke every address the bot used. Without healing: zero of three onboardings. With healing: three of three, every record verified.</a:t>
            </a:r>
          </a:p>
          <a:p>
            <a:r>
              <a:t>[Slow down for the close.]</a:t>
            </a:r>
          </a:p>
          <a:p>
            <a:r>
              <a:t>Our business case: about 16,800 engineer-hours back a year, from one GPU host. So - which process should we heal first?</a:t>
            </a:r>
          </a:p>
          <a:p>
            <a:r>
              <a:t>[Stop. Take questions.]</a:t>
            </a:r>
          </a:p>
          <a:p>
            <a:endParaRPr/>
          </a:p>
          <a:p>
            <a:r>
              <a:t>IF YOU ARE ASKED</a:t>
            </a:r>
          </a:p>
          <a:p>
            <a:r>
              <a:t>- How are the 900 elements harvested? The healing service serves a JavaScript bundle that the robot runs inside the live page. It walks the page, fingerprints up to 900 elements and proposes durable selectors for each one in the browser - so the AI only ever points at a real element, never writes an address.</a:t>
            </a:r>
          </a:p>
          <a:p>
            <a:r>
              <a:t>- Is the test fair? The data is split by website: no test site appears in training, and every model was scored on the same 1,000 held-out cases through the same runtime.</a:t>
            </a:r>
          </a:p>
          <a:p>
            <a:r>
              <a:t>- What does Laya's 0.95 mean? A calibrated probability that this element is the one the step meant. 0.95 applies when the step has a description, 0.76 when only the broken selector is known. Two candidates above the bar count as a tie and go to the LLM. Below 0.07 (0.05 without a description) Laya is sure nothing on the page matches, and the step is refused.</a:t>
            </a:r>
          </a:p>
          <a:p>
            <a:r>
              <a:t>- Could the AI click the wrong thing on its own? A step that has never been seen working cannot auto-apply at any confidence; it goes to a person. Everything fails open: if a model is down, the bot carries on with no opinion.</a:t>
            </a:r>
          </a:p>
          <a:p>
            <a:r>
              <a:t>- What are the eight signals? Whether the ID or class name survived, attributes, visible text, meaning (MiniLM sentence embeddings), DOM structure, neighbouring text, tag and role, and on-screen position.</a:t>
            </a:r>
          </a:p>
          <a:p>
            <a:r>
              <a:t>- What does it need to run? One GPU host for the whole fleet. The LLM is 2.5 GB and runs even on a 4 GB GPU. Robots need no GPU at all - they get one file, bis.py.</a:t>
            </a:r>
          </a:p>
          <a:p>
            <a:r>
              <a:t>- Where does 16,800 come from? Business case: 500 processes x 40 locators x 8% breaking per quarter = 6,400 breaks a year; x 3.5 hours to fix = 22,400 hours; 75% healed = 16,800.</a:t>
            </a:r>
          </a:p>
          <a:p>
            <a:r>
              <a:t>- Was the OrangeHRM run on this exact model? It ran on an earlier build of the service; re-running the live checks on the shipped model is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chart" Target="../charts/chart2.xml"/><Relationship Id="rId4" Type="http://schemas.openxmlformats.org/officeDocument/2006/relationships/image" Target="../media/image11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hart" Target="../charts/chart3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266700"/>
          </a:xfrm>
          <a:prstGeom prst="rect">
            <a:avLst/>
          </a:prstGeom>
          <a:solidFill>
            <a:srgbClr val="1A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 text"/>
          <p:cNvSpPr txBox="1"/>
          <p:nvPr/>
        </p:nvSpPr>
        <p:spPr>
          <a:xfrm>
            <a:off x="666750" y="0"/>
            <a:ext cx="781050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1" spc="38">
                <a:solidFill>
                  <a:srgbClr val="FFFFFF"/>
                </a:solidFill>
                <a:latin typeface="Inter"/>
              </a:rPr>
              <a:t>SAMSUNG SDS   |   AI IN THE HEALING SERVICE  ·  THE DECISION ENGINE</a:t>
            </a:r>
          </a:p>
        </p:txBody>
      </p:sp>
      <p:sp>
        <p:nvSpPr>
          <p:cNvPr id="4" name="Template dash 1"/>
          <p:cNvSpPr/>
          <p:nvPr/>
        </p:nvSpPr>
        <p:spPr>
          <a:xfrm>
            <a:off x="666750" y="400050"/>
            <a:ext cx="295275" cy="3810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mplate dash 2"/>
          <p:cNvSpPr/>
          <p:nvPr/>
        </p:nvSpPr>
        <p:spPr>
          <a:xfrm>
            <a:off x="1000125" y="400050"/>
            <a:ext cx="295275" cy="38100"/>
          </a:xfrm>
          <a:prstGeom prst="rect">
            <a:avLst/>
          </a:prstGeom>
          <a:solidFill>
            <a:srgbClr val="2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mplate dash 3"/>
          <p:cNvSpPr/>
          <p:nvPr/>
        </p:nvSpPr>
        <p:spPr>
          <a:xfrm>
            <a:off x="1333500" y="400050"/>
            <a:ext cx="295275" cy="38100"/>
          </a:xfrm>
          <a:prstGeom prst="rect">
            <a:avLst/>
          </a:prstGeom>
          <a:solidFill>
            <a:srgbClr val="5F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mplate dash 4"/>
          <p:cNvSpPr/>
          <p:nvPr/>
        </p:nvSpPr>
        <p:spPr>
          <a:xfrm>
            <a:off x="1666875" y="400050"/>
            <a:ext cx="295275" cy="38100"/>
          </a:xfrm>
          <a:prstGeom prst="rect">
            <a:avLst/>
          </a:prstGeom>
          <a:solidFill>
            <a:srgbClr val="C17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nfidential"/>
          <p:cNvSpPr txBox="1"/>
          <p:nvPr/>
        </p:nvSpPr>
        <p:spPr>
          <a:xfrm>
            <a:off x="3619500" y="4905375"/>
            <a:ext cx="1905000" cy="104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7A7F8A"/>
                </a:solidFill>
                <a:latin typeface="Inter"/>
              </a:rPr>
              <a:t>Confidential</a:t>
            </a:r>
          </a:p>
        </p:txBody>
      </p:sp>
      <p:sp>
        <p:nvSpPr>
          <p:cNvPr id="9" name="Footer brand"/>
          <p:cNvSpPr txBox="1"/>
          <p:nvPr/>
        </p:nvSpPr>
        <p:spPr>
          <a:xfrm>
            <a:off x="7048500" y="4857750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25" b="1">
                <a:solidFill>
                  <a:srgbClr val="1428A0"/>
                </a:solidFill>
                <a:latin typeface="Inter"/>
              </a:rPr>
              <a:t>SAMSUNG SDS</a:t>
            </a:r>
          </a:p>
        </p:txBody>
      </p:sp>
      <p:sp>
        <p:nvSpPr>
          <p:cNvPr id="10" name="Page number"/>
          <p:cNvSpPr txBox="1"/>
          <p:nvPr/>
        </p:nvSpPr>
        <p:spPr>
          <a:xfrm>
            <a:off x="7048500" y="4724400"/>
            <a:ext cx="1428750" cy="95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525" b="0" spc="19">
                <a:solidFill>
                  <a:srgbClr val="7A7F8A"/>
                </a:solidFill>
                <a:latin typeface="Inter"/>
              </a:rPr>
              <a:t>PAGE 01 / 03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66750" y="495300"/>
            <a:ext cx="78105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950" b="1" spc="-19">
                <a:solidFill>
                  <a:srgbClr val="1A1A1E"/>
                </a:solidFill>
                <a:latin typeface="Inter"/>
              </a:rPr>
              <a:t>From ~900 elements to one safe decision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666750" y="885825"/>
            <a:ext cx="7810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37" b="0">
                <a:solidFill>
                  <a:srgbClr val="4A5668"/>
                </a:solidFill>
                <a:latin typeface="Inter"/>
              </a:rPr>
              <a:t>Deterministic ranking first, two fine-tuned models next, a fixed policy last.</a:t>
            </a:r>
          </a:p>
        </p:txBody>
      </p:sp>
      <p:sp>
        <p:nvSpPr>
          <p:cNvPr id="13" name="Live page"/>
          <p:cNvSpPr/>
          <p:nvPr/>
        </p:nvSpPr>
        <p:spPr>
          <a:xfrm>
            <a:off x="666750" y="1247775"/>
            <a:ext cx="1143000" cy="2038350"/>
          </a:xfrm>
          <a:prstGeom prst="roundRect">
            <a:avLst>
              <a:gd name="adj" fmla="val 6666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0100" y="1381125"/>
            <a:ext cx="304800" cy="304800"/>
          </a:xfrm>
          <a:prstGeom prst="ellipse">
            <a:avLst/>
          </a:prstGeom>
          <a:solidFill>
            <a:srgbClr val="1A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457325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0100" y="1790700"/>
            <a:ext cx="952500" cy="95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5" b="1" spc="38">
                <a:solidFill>
                  <a:srgbClr val="7A7F8A"/>
                </a:solidFill>
                <a:latin typeface="JetBrains Mono"/>
              </a:rPr>
              <a:t>LIVE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1905000"/>
            <a:ext cx="952500" cy="3619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spc="-38">
                <a:solidFill>
                  <a:srgbClr val="1A2340"/>
                </a:solidFill>
                <a:latin typeface="Inter"/>
              </a:rPr>
              <a:t>~900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2286000"/>
            <a:ext cx="90487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4A5668"/>
                </a:solidFill>
                <a:latin typeface="Inter"/>
              </a:rPr>
              <a:t>elements fingerprinted</a:t>
            </a:r>
          </a:p>
        </p:txBody>
      </p:sp>
      <p:sp>
        <p:nvSpPr>
          <p:cNvPr id="19" name="Fleet memory"/>
          <p:cNvSpPr/>
          <p:nvPr/>
        </p:nvSpPr>
        <p:spPr>
          <a:xfrm>
            <a:off x="762000" y="2876550"/>
            <a:ext cx="952500" cy="314325"/>
          </a:xfrm>
          <a:prstGeom prst="roundRect">
            <a:avLst>
              <a:gd name="adj" fmla="val 18181"/>
            </a:avLst>
          </a:prstGeom>
          <a:solidFill>
            <a:srgbClr val="DE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450" b="1" spc="19">
                <a:solidFill>
                  <a:srgbClr val="1A2340"/>
                </a:solidFill>
                <a:latin typeface="JetBrains Mono"/>
              </a:rPr>
              <a:t>FLEET MEMORY HIT</a:t>
            </a:r>
          </a:p>
          <a:p>
            <a:pPr algn="ctr">
              <a:lnSpc>
                <a:spcPct val="130000"/>
              </a:lnSpc>
            </a:pPr>
            <a:r>
              <a:rPr sz="450" b="1" spc="19">
                <a:solidFill>
                  <a:srgbClr val="1A2340"/>
                </a:solidFill>
                <a:latin typeface="JetBrains Mono"/>
              </a:rPr>
              <a:t>INSTANT, NO AI</a:t>
            </a:r>
          </a:p>
        </p:txBody>
      </p:sp>
      <p:sp>
        <p:nvSpPr>
          <p:cNvPr id="20" name="Flow line"/>
          <p:cNvSpPr/>
          <p:nvPr/>
        </p:nvSpPr>
        <p:spPr>
          <a:xfrm>
            <a:off x="1809750" y="1600200"/>
            <a:ext cx="5905500" cy="1905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486025" y="1381125"/>
            <a:ext cx="457200" cy="457200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325" y="1495425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52625" y="1895475"/>
            <a:ext cx="1524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50" b="1">
                <a:solidFill>
                  <a:srgbClr val="1A1A1E"/>
                </a:solidFill>
                <a:latin typeface="Inter"/>
              </a:rPr>
              <a:t>Ranker</a:t>
            </a:r>
          </a:p>
        </p:txBody>
      </p:sp>
      <p:sp>
        <p:nvSpPr>
          <p:cNvPr id="24" name="Stage Ranker"/>
          <p:cNvSpPr/>
          <p:nvPr/>
        </p:nvSpPr>
        <p:spPr>
          <a:xfrm>
            <a:off x="1952625" y="2152650"/>
            <a:ext cx="1524000" cy="1133475"/>
          </a:xfrm>
          <a:prstGeom prst="roundRect">
            <a:avLst>
              <a:gd name="adj" fmla="val 67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66925" y="2266950"/>
            <a:ext cx="12954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1" dirty="0">
                <a:solidFill>
                  <a:srgbClr val="4A5668"/>
                </a:solidFill>
                <a:latin typeface="Inter"/>
              </a:rPr>
              <a:t>Scores every element</a:t>
            </a:r>
          </a:p>
          <a:p>
            <a:pPr algn="l">
              <a:lnSpc>
                <a:spcPct val="120000"/>
              </a:lnSpc>
            </a:pPr>
            <a:r>
              <a:rPr sz="787" b="1" dirty="0">
                <a:solidFill>
                  <a:srgbClr val="4A5668"/>
                </a:solidFill>
                <a:latin typeface="Inter"/>
              </a:rPr>
              <a:t>on 8 signals</a:t>
            </a:r>
          </a:p>
        </p:txBody>
      </p:sp>
      <p:sp>
        <p:nvSpPr>
          <p:cNvPr id="26" name="Rule"/>
          <p:cNvSpPr/>
          <p:nvPr/>
        </p:nvSpPr>
        <p:spPr>
          <a:xfrm>
            <a:off x="2066925" y="2600325"/>
            <a:ext cx="1295400" cy="9525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66925" y="2676525"/>
            <a:ext cx="952500" cy="857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1" spc="38">
                <a:solidFill>
                  <a:srgbClr val="7A7F8A"/>
                </a:solidFill>
                <a:latin typeface="JetBrains Mono"/>
              </a:rPr>
              <a:t>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6925" y="278130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>
                <a:solidFill>
                  <a:srgbClr val="1A1A1E"/>
                </a:solidFill>
                <a:latin typeface="Inter"/>
              </a:rPr>
              <a:t>MiniLM-L6-v2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6925" y="2943225"/>
            <a:ext cx="1295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37" b="0">
                <a:solidFill>
                  <a:srgbClr val="5A6472"/>
                </a:solidFill>
                <a:latin typeface="Inter"/>
              </a:rPr>
              <a:t>22M encoder, used as shipped</a:t>
            </a:r>
          </a:p>
        </p:txBody>
      </p:sp>
      <p:sp>
        <p:nvSpPr>
          <p:cNvPr id="30" name="Oval 29"/>
          <p:cNvSpPr/>
          <p:nvPr/>
        </p:nvSpPr>
        <p:spPr>
          <a:xfrm>
            <a:off x="4152900" y="1381125"/>
            <a:ext cx="457200" cy="457200"/>
          </a:xfrm>
          <a:prstGeom prst="ellipse">
            <a:avLst/>
          </a:prstGeom>
          <a:solidFill>
            <a:srgbClr val="5F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1495425"/>
            <a:ext cx="228600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19500" y="1895475"/>
            <a:ext cx="1524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50" b="1">
                <a:solidFill>
                  <a:srgbClr val="1A1A1E"/>
                </a:solidFill>
                <a:latin typeface="Inter"/>
              </a:rPr>
              <a:t>Checker</a:t>
            </a:r>
          </a:p>
        </p:txBody>
      </p:sp>
      <p:sp>
        <p:nvSpPr>
          <p:cNvPr id="33" name="Stage Checker"/>
          <p:cNvSpPr/>
          <p:nvPr/>
        </p:nvSpPr>
        <p:spPr>
          <a:xfrm>
            <a:off x="3619500" y="2152650"/>
            <a:ext cx="1524000" cy="1133475"/>
          </a:xfrm>
          <a:prstGeom prst="roundRect">
            <a:avLst>
              <a:gd name="adj" fmla="val 67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33800" y="2266950"/>
            <a:ext cx="12954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1">
                <a:solidFill>
                  <a:srgbClr val="4A5668"/>
                </a:solidFill>
                <a:latin typeface="Inter"/>
              </a:rPr>
              <a:t>Decides alone</a:t>
            </a:r>
          </a:p>
          <a:p>
            <a:pPr algn="l">
              <a:lnSpc>
                <a:spcPct val="120000"/>
              </a:lnSpc>
            </a:pPr>
            <a:r>
              <a:rPr sz="787" b="1">
                <a:solidFill>
                  <a:srgbClr val="4A5668"/>
                </a:solidFill>
                <a:latin typeface="Inter"/>
              </a:rPr>
              <a:t>when it is sure</a:t>
            </a:r>
          </a:p>
        </p:txBody>
      </p:sp>
      <p:sp>
        <p:nvSpPr>
          <p:cNvPr id="35" name="Rule"/>
          <p:cNvSpPr/>
          <p:nvPr/>
        </p:nvSpPr>
        <p:spPr>
          <a:xfrm>
            <a:off x="3733800" y="2600325"/>
            <a:ext cx="1295400" cy="9525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33800" y="2676525"/>
            <a:ext cx="952500" cy="857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1" spc="38">
                <a:solidFill>
                  <a:srgbClr val="7A7F8A"/>
                </a:solidFill>
                <a:latin typeface="JetBrains Mono"/>
              </a:rPr>
              <a:t>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3800" y="278130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>
                <a:solidFill>
                  <a:srgbClr val="1A1A1E"/>
                </a:solidFill>
                <a:latin typeface="Inter"/>
              </a:rPr>
              <a:t>Laya · 421M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2943225"/>
            <a:ext cx="1295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37" b="0">
                <a:solidFill>
                  <a:srgbClr val="5A6472"/>
                </a:solidFill>
                <a:latin typeface="Inter"/>
              </a:rPr>
              <a:t>Calibrated, LoRA fine-tuned</a:t>
            </a:r>
          </a:p>
        </p:txBody>
      </p:sp>
      <p:sp>
        <p:nvSpPr>
          <p:cNvPr id="39" name="Oval 38"/>
          <p:cNvSpPr/>
          <p:nvPr/>
        </p:nvSpPr>
        <p:spPr>
          <a:xfrm>
            <a:off x="5819775" y="1381125"/>
            <a:ext cx="457200" cy="457200"/>
          </a:xfrm>
          <a:prstGeom prst="ellipse">
            <a:avLst/>
          </a:prstGeom>
          <a:solidFill>
            <a:srgbClr val="C17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cpu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075" y="1495425"/>
            <a:ext cx="228600" cy="228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286375" y="1895475"/>
            <a:ext cx="1524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50" b="1">
                <a:solidFill>
                  <a:srgbClr val="1A1A1E"/>
                </a:solidFill>
                <a:latin typeface="Inter"/>
              </a:rPr>
              <a:t>Adjudicator</a:t>
            </a:r>
          </a:p>
        </p:txBody>
      </p:sp>
      <p:sp>
        <p:nvSpPr>
          <p:cNvPr id="42" name="Stage Adjudicator"/>
          <p:cNvSpPr/>
          <p:nvPr/>
        </p:nvSpPr>
        <p:spPr>
          <a:xfrm>
            <a:off x="5286375" y="2152650"/>
            <a:ext cx="1524000" cy="1133475"/>
          </a:xfrm>
          <a:prstGeom prst="roundRect">
            <a:avLst>
              <a:gd name="adj" fmla="val 67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00675" y="2266950"/>
            <a:ext cx="12954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1" dirty="0">
                <a:solidFill>
                  <a:srgbClr val="4A5668"/>
                </a:solidFill>
                <a:latin typeface="Inter"/>
              </a:rPr>
              <a:t>Picks one candidate,</a:t>
            </a:r>
          </a:p>
          <a:p>
            <a:pPr algn="l">
              <a:lnSpc>
                <a:spcPct val="120000"/>
              </a:lnSpc>
            </a:pPr>
            <a:r>
              <a:rPr sz="787" b="1" dirty="0">
                <a:solidFill>
                  <a:srgbClr val="4A5668"/>
                </a:solidFill>
                <a:latin typeface="Inter"/>
              </a:rPr>
              <a:t>or none</a:t>
            </a:r>
          </a:p>
        </p:txBody>
      </p:sp>
      <p:sp>
        <p:nvSpPr>
          <p:cNvPr id="44" name="Rule"/>
          <p:cNvSpPr/>
          <p:nvPr/>
        </p:nvSpPr>
        <p:spPr>
          <a:xfrm>
            <a:off x="5400675" y="2600325"/>
            <a:ext cx="1295400" cy="9525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00675" y="2676525"/>
            <a:ext cx="952500" cy="857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1" spc="38">
                <a:solidFill>
                  <a:srgbClr val="7A7F8A"/>
                </a:solidFill>
                <a:latin typeface="JetBrains Mono"/>
              </a:rPr>
              <a:t>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0675" y="278130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>
                <a:solidFill>
                  <a:srgbClr val="1A1A1E"/>
                </a:solidFill>
                <a:latin typeface="Inter"/>
              </a:rPr>
              <a:t>Qwen3-4B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0675" y="2943225"/>
            <a:ext cx="1295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37" b="0">
                <a:solidFill>
                  <a:srgbClr val="5A6472"/>
                </a:solidFill>
                <a:latin typeface="Inter"/>
              </a:rPr>
              <a:t>LLM, QLoRA fine-tuned</a:t>
            </a:r>
          </a:p>
        </p:txBody>
      </p:sp>
      <p:sp>
        <p:nvSpPr>
          <p:cNvPr id="48" name="Oval 47"/>
          <p:cNvSpPr/>
          <p:nvPr/>
        </p:nvSpPr>
        <p:spPr>
          <a:xfrm>
            <a:off x="7486650" y="1381125"/>
            <a:ext cx="457200" cy="457200"/>
          </a:xfrm>
          <a:prstGeom prst="ellipse">
            <a:avLst/>
          </a:prstGeom>
          <a:solidFill>
            <a:srgbClr val="2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950" y="1495425"/>
            <a:ext cx="228600" cy="2286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953250" y="1895475"/>
            <a:ext cx="1524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50" b="1">
                <a:solidFill>
                  <a:srgbClr val="1A1A1E"/>
                </a:solidFill>
                <a:latin typeface="Inter"/>
              </a:rPr>
              <a:t>Policy</a:t>
            </a:r>
          </a:p>
        </p:txBody>
      </p:sp>
      <p:sp>
        <p:nvSpPr>
          <p:cNvPr id="51" name="Stage Policy"/>
          <p:cNvSpPr/>
          <p:nvPr/>
        </p:nvSpPr>
        <p:spPr>
          <a:xfrm>
            <a:off x="6953250" y="2152650"/>
            <a:ext cx="1524000" cy="1133475"/>
          </a:xfrm>
          <a:prstGeom prst="roundRect">
            <a:avLst>
              <a:gd name="adj" fmla="val 67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67550" y="2266950"/>
            <a:ext cx="12954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1">
                <a:solidFill>
                  <a:srgbClr val="4A5668"/>
                </a:solidFill>
                <a:latin typeface="Inter"/>
              </a:rPr>
              <a:t>Applies, holds for</a:t>
            </a:r>
          </a:p>
          <a:p>
            <a:pPr algn="l">
              <a:lnSpc>
                <a:spcPct val="120000"/>
              </a:lnSpc>
            </a:pPr>
            <a:r>
              <a:rPr sz="787" b="1">
                <a:solidFill>
                  <a:srgbClr val="4A5668"/>
                </a:solidFill>
                <a:latin typeface="Inter"/>
              </a:rPr>
              <a:t>review, or refuses</a:t>
            </a:r>
          </a:p>
        </p:txBody>
      </p:sp>
      <p:sp>
        <p:nvSpPr>
          <p:cNvPr id="53" name="Rule"/>
          <p:cNvSpPr/>
          <p:nvPr/>
        </p:nvSpPr>
        <p:spPr>
          <a:xfrm>
            <a:off x="7067550" y="2600325"/>
            <a:ext cx="1295400" cy="9525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67550" y="2676525"/>
            <a:ext cx="952500" cy="857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1" spc="38">
                <a:solidFill>
                  <a:srgbClr val="7A7F8A"/>
                </a:solidFill>
                <a:latin typeface="JetBrains Mono"/>
              </a:rPr>
              <a:t>MODEL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67550" y="278130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>
                <a:solidFill>
                  <a:srgbClr val="1A1A1E"/>
                </a:solidFill>
                <a:latin typeface="Inter"/>
              </a:rPr>
              <a:t>No 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67550" y="2943225"/>
            <a:ext cx="12954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37" b="0">
                <a:solidFill>
                  <a:srgbClr val="5A6472"/>
                </a:solidFill>
                <a:latin typeface="Inter"/>
              </a:rPr>
              <a:t>Fixed confidence bands</a:t>
            </a:r>
          </a:p>
        </p:txBody>
      </p:sp>
      <p:sp>
        <p:nvSpPr>
          <p:cNvPr id="57" name="Band REFUSE"/>
          <p:cNvSpPr/>
          <p:nvPr/>
        </p:nvSpPr>
        <p:spPr>
          <a:xfrm>
            <a:off x="7067550" y="3086100"/>
            <a:ext cx="542925" cy="123825"/>
          </a:xfrm>
          <a:prstGeom prst="rect">
            <a:avLst/>
          </a:prstGeom>
          <a:solidFill>
            <a:srgbClr val="EB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487" b="1">
                <a:solidFill>
                  <a:srgbClr val="9A5620"/>
                </a:solidFill>
                <a:latin typeface="Inter"/>
              </a:rPr>
              <a:t>REFUSE</a:t>
            </a:r>
          </a:p>
        </p:txBody>
      </p:sp>
      <p:sp>
        <p:nvSpPr>
          <p:cNvPr id="58" name="Band REVIEW"/>
          <p:cNvSpPr/>
          <p:nvPr/>
        </p:nvSpPr>
        <p:spPr>
          <a:xfrm>
            <a:off x="7610475" y="3086100"/>
            <a:ext cx="257175" cy="123825"/>
          </a:xfrm>
          <a:prstGeom prst="rect">
            <a:avLst/>
          </a:prstGeom>
          <a:solidFill>
            <a:srgbClr val="C9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412" b="1">
                <a:solidFill>
                  <a:srgbClr val="1428A0"/>
                </a:solidFill>
                <a:latin typeface="Inter"/>
              </a:rPr>
              <a:t>REVIEW</a:t>
            </a:r>
          </a:p>
        </p:txBody>
      </p:sp>
      <p:sp>
        <p:nvSpPr>
          <p:cNvPr id="59" name="Band APPLY"/>
          <p:cNvSpPr/>
          <p:nvPr/>
        </p:nvSpPr>
        <p:spPr>
          <a:xfrm>
            <a:off x="7867650" y="3086100"/>
            <a:ext cx="490538" cy="123825"/>
          </a:xfrm>
          <a:prstGeom prst="rect">
            <a:avLst/>
          </a:prstGeom>
          <a:solidFill>
            <a:srgbClr val="D3E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487" b="1">
                <a:solidFill>
                  <a:srgbClr val="4A6E24"/>
                </a:solidFill>
                <a:latin typeface="Inter"/>
              </a:rPr>
              <a:t>APPLY</a:t>
            </a:r>
          </a:p>
        </p:txBody>
      </p:sp>
      <p:sp>
        <p:nvSpPr>
          <p:cNvPr id="60" name="Pill TOP 8"/>
          <p:cNvSpPr/>
          <p:nvPr/>
        </p:nvSpPr>
        <p:spPr>
          <a:xfrm>
            <a:off x="3224212" y="1519238"/>
            <a:ext cx="647700" cy="180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562" b="1" spc="19">
                <a:solidFill>
                  <a:srgbClr val="1A1A1E"/>
                </a:solidFill>
                <a:latin typeface="JetBrains Mono"/>
              </a:rPr>
              <a:t>TOP 8</a:t>
            </a:r>
          </a:p>
        </p:txBody>
      </p:sp>
      <p:sp>
        <p:nvSpPr>
          <p:cNvPr id="61" name="Pill IF UNSURE"/>
          <p:cNvSpPr/>
          <p:nvPr/>
        </p:nvSpPr>
        <p:spPr>
          <a:xfrm>
            <a:off x="4891088" y="1519238"/>
            <a:ext cx="647700" cy="180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562" b="1" spc="19">
                <a:solidFill>
                  <a:srgbClr val="1A1A1E"/>
                </a:solidFill>
                <a:latin typeface="JetBrains Mono"/>
              </a:rPr>
              <a:t>IF UNSURE</a:t>
            </a:r>
          </a:p>
        </p:txBody>
      </p:sp>
      <p:sp>
        <p:nvSpPr>
          <p:cNvPr id="62" name="Pill INDEX"/>
          <p:cNvSpPr/>
          <p:nvPr/>
        </p:nvSpPr>
        <p:spPr>
          <a:xfrm>
            <a:off x="6557962" y="1519238"/>
            <a:ext cx="647700" cy="180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562" b="1" spc="19">
                <a:solidFill>
                  <a:srgbClr val="1A1A1E"/>
                </a:solidFill>
                <a:latin typeface="JetBrains Mono"/>
              </a:rPr>
              <a:t>INDEX</a:t>
            </a:r>
          </a:p>
        </p:txBody>
      </p:sp>
      <p:sp>
        <p:nvSpPr>
          <p:cNvPr id="63" name="Guarantees"/>
          <p:cNvSpPr/>
          <p:nvPr/>
        </p:nvSpPr>
        <p:spPr>
          <a:xfrm>
            <a:off x="666750" y="3409950"/>
            <a:ext cx="7810500" cy="800100"/>
          </a:xfrm>
          <a:prstGeom prst="roundRect">
            <a:avLst>
              <a:gd name="adj" fmla="val 9523"/>
            </a:avLst>
          </a:prstGeom>
          <a:solidFill>
            <a:srgbClr val="1A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19150" y="3657600"/>
            <a:ext cx="304800" cy="304800"/>
          </a:xfrm>
          <a:prstGeom prst="ellipse">
            <a:avLst/>
          </a:prstGeom>
          <a:solidFill>
            <a:srgbClr val="263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lo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3733800"/>
            <a:ext cx="152400" cy="1524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200150" y="3619500"/>
            <a:ext cx="135255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87" b="1">
                <a:solidFill>
                  <a:srgbClr val="FFFFFF"/>
                </a:solidFill>
                <a:latin typeface="Inter"/>
              </a:rPr>
              <a:t>Index, not a selector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00150" y="3781425"/>
            <a:ext cx="12954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37" b="0">
                <a:solidFill>
                  <a:srgbClr val="D7DEEA"/>
                </a:solidFill>
                <a:latin typeface="Inter"/>
              </a:rPr>
              <a:t>The AI cannot invent an address</a:t>
            </a:r>
          </a:p>
        </p:txBody>
      </p:sp>
      <p:sp>
        <p:nvSpPr>
          <p:cNvPr id="68" name="Divider"/>
          <p:cNvSpPr/>
          <p:nvPr/>
        </p:nvSpPr>
        <p:spPr>
          <a:xfrm>
            <a:off x="2619375" y="3562350"/>
            <a:ext cx="9525" cy="495300"/>
          </a:xfrm>
          <a:prstGeom prst="rect">
            <a:avLst/>
          </a:prstGeom>
          <a:solidFill>
            <a:srgbClr val="263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771775" y="3657600"/>
            <a:ext cx="304800" cy="304800"/>
          </a:xfrm>
          <a:prstGeom prst="ellipse">
            <a:avLst/>
          </a:prstGeom>
          <a:solidFill>
            <a:srgbClr val="263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7975" y="3733800"/>
            <a:ext cx="152400" cy="1524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152775" y="3619500"/>
            <a:ext cx="135255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87" b="1">
                <a:solidFill>
                  <a:srgbClr val="FFFFFF"/>
                </a:solidFill>
                <a:latin typeface="Inter"/>
              </a:rPr>
              <a:t>Fails open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52775" y="3781425"/>
            <a:ext cx="12954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37" b="0">
                <a:solidFill>
                  <a:srgbClr val="D7DEEA"/>
                </a:solidFill>
                <a:latin typeface="Inter"/>
              </a:rPr>
              <a:t>Never stops a robot</a:t>
            </a:r>
          </a:p>
        </p:txBody>
      </p:sp>
      <p:sp>
        <p:nvSpPr>
          <p:cNvPr id="73" name="Divider"/>
          <p:cNvSpPr/>
          <p:nvPr/>
        </p:nvSpPr>
        <p:spPr>
          <a:xfrm>
            <a:off x="4572000" y="3562350"/>
            <a:ext cx="9525" cy="495300"/>
          </a:xfrm>
          <a:prstGeom prst="rect">
            <a:avLst/>
          </a:prstGeom>
          <a:solidFill>
            <a:srgbClr val="263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4724400" y="3657600"/>
            <a:ext cx="304800" cy="304800"/>
          </a:xfrm>
          <a:prstGeom prst="ellipse">
            <a:avLst/>
          </a:prstGeom>
          <a:solidFill>
            <a:srgbClr val="263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ey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3733800"/>
            <a:ext cx="152400" cy="152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105400" y="3619500"/>
            <a:ext cx="135255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87" b="1">
                <a:solidFill>
                  <a:srgbClr val="FFFFFF"/>
                </a:solidFill>
                <a:latin typeface="Inter"/>
              </a:rPr>
              <a:t>Unproven means review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05400" y="3781425"/>
            <a:ext cx="12954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37" b="0">
                <a:solidFill>
                  <a:srgbClr val="D7DEEA"/>
                </a:solidFill>
                <a:latin typeface="Inter"/>
              </a:rPr>
              <a:t>First guesses go to a person</a:t>
            </a:r>
          </a:p>
        </p:txBody>
      </p:sp>
      <p:sp>
        <p:nvSpPr>
          <p:cNvPr id="78" name="Divider"/>
          <p:cNvSpPr/>
          <p:nvPr/>
        </p:nvSpPr>
        <p:spPr>
          <a:xfrm>
            <a:off x="6524625" y="3562350"/>
            <a:ext cx="9525" cy="495300"/>
          </a:xfrm>
          <a:prstGeom prst="rect">
            <a:avLst/>
          </a:prstGeom>
          <a:solidFill>
            <a:srgbClr val="263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677025" y="3657600"/>
            <a:ext cx="304800" cy="304800"/>
          </a:xfrm>
          <a:prstGeom prst="ellipse">
            <a:avLst/>
          </a:prstGeom>
          <a:solidFill>
            <a:srgbClr val="263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server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3225" y="3733800"/>
            <a:ext cx="152400" cy="1524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058025" y="3619500"/>
            <a:ext cx="135255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87" b="1">
                <a:solidFill>
                  <a:srgbClr val="FFFFFF"/>
                </a:solidFill>
                <a:latin typeface="Inter"/>
              </a:rPr>
              <a:t>One GPU host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8025" y="3781425"/>
            <a:ext cx="12954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37" b="0">
                <a:solidFill>
                  <a:srgbClr val="D7DEEA"/>
                </a:solidFill>
                <a:latin typeface="Inter"/>
              </a:rPr>
              <a:t>Serves the whole robot fleet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266700"/>
          </a:xfrm>
          <a:prstGeom prst="rect">
            <a:avLst/>
          </a:prstGeom>
          <a:solidFill>
            <a:srgbClr val="1A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 text"/>
          <p:cNvSpPr txBox="1"/>
          <p:nvPr/>
        </p:nvSpPr>
        <p:spPr>
          <a:xfrm>
            <a:off x="666750" y="0"/>
            <a:ext cx="781050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1" spc="38">
                <a:solidFill>
                  <a:srgbClr val="FFFFFF"/>
                </a:solidFill>
                <a:latin typeface="Inter"/>
              </a:rPr>
              <a:t>SAMSUNG SDS   |   AI IN THE HEALING SERVICE  ·  MODELS &amp; FINE-TUNING</a:t>
            </a:r>
          </a:p>
        </p:txBody>
      </p:sp>
      <p:sp>
        <p:nvSpPr>
          <p:cNvPr id="4" name="Template dash 1"/>
          <p:cNvSpPr/>
          <p:nvPr/>
        </p:nvSpPr>
        <p:spPr>
          <a:xfrm>
            <a:off x="666750" y="400050"/>
            <a:ext cx="295275" cy="3810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mplate dash 2"/>
          <p:cNvSpPr/>
          <p:nvPr/>
        </p:nvSpPr>
        <p:spPr>
          <a:xfrm>
            <a:off x="1000125" y="400050"/>
            <a:ext cx="295275" cy="38100"/>
          </a:xfrm>
          <a:prstGeom prst="rect">
            <a:avLst/>
          </a:prstGeom>
          <a:solidFill>
            <a:srgbClr val="2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mplate dash 3"/>
          <p:cNvSpPr/>
          <p:nvPr/>
        </p:nvSpPr>
        <p:spPr>
          <a:xfrm>
            <a:off x="1333500" y="400050"/>
            <a:ext cx="295275" cy="38100"/>
          </a:xfrm>
          <a:prstGeom prst="rect">
            <a:avLst/>
          </a:prstGeom>
          <a:solidFill>
            <a:srgbClr val="5F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mplate dash 4"/>
          <p:cNvSpPr/>
          <p:nvPr/>
        </p:nvSpPr>
        <p:spPr>
          <a:xfrm>
            <a:off x="1666875" y="400050"/>
            <a:ext cx="295275" cy="38100"/>
          </a:xfrm>
          <a:prstGeom prst="rect">
            <a:avLst/>
          </a:prstGeom>
          <a:solidFill>
            <a:srgbClr val="C17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nfidential"/>
          <p:cNvSpPr txBox="1"/>
          <p:nvPr/>
        </p:nvSpPr>
        <p:spPr>
          <a:xfrm>
            <a:off x="3619500" y="4905375"/>
            <a:ext cx="1905000" cy="104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7A7F8A"/>
                </a:solidFill>
                <a:latin typeface="Inter"/>
              </a:rPr>
              <a:t>Confidential</a:t>
            </a:r>
          </a:p>
        </p:txBody>
      </p:sp>
      <p:sp>
        <p:nvSpPr>
          <p:cNvPr id="9" name="Footer brand"/>
          <p:cNvSpPr txBox="1"/>
          <p:nvPr/>
        </p:nvSpPr>
        <p:spPr>
          <a:xfrm>
            <a:off x="7048500" y="4857750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25" b="1">
                <a:solidFill>
                  <a:srgbClr val="1428A0"/>
                </a:solidFill>
                <a:latin typeface="Inter"/>
              </a:rPr>
              <a:t>SAMSUNG SDS</a:t>
            </a:r>
          </a:p>
        </p:txBody>
      </p:sp>
      <p:sp>
        <p:nvSpPr>
          <p:cNvPr id="10" name="Page number"/>
          <p:cNvSpPr txBox="1"/>
          <p:nvPr/>
        </p:nvSpPr>
        <p:spPr>
          <a:xfrm>
            <a:off x="7048500" y="4724400"/>
            <a:ext cx="1428750" cy="95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525" b="0" spc="19">
                <a:solidFill>
                  <a:srgbClr val="7A7F8A"/>
                </a:solidFill>
                <a:latin typeface="Inter"/>
              </a:rPr>
              <a:t>PAGE 02 / 03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66750" y="495300"/>
            <a:ext cx="78105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950" b="1" spc="-19">
                <a:solidFill>
                  <a:srgbClr val="1A1A1E"/>
                </a:solidFill>
                <a:latin typeface="Inter"/>
              </a:rPr>
              <a:t>Two small open models, fine-tuned on real breakages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666750" y="885825"/>
            <a:ext cx="7810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37" b="0">
                <a:solidFill>
                  <a:srgbClr val="4A5668"/>
                </a:solidFill>
                <a:latin typeface="Inter"/>
              </a:rPr>
              <a:t>Every training example is a real page from a live website; test sites never appear in training.</a:t>
            </a:r>
          </a:p>
        </p:txBody>
      </p:sp>
      <p:sp>
        <p:nvSpPr>
          <p:cNvPr id="13" name="Data 1,131"/>
          <p:cNvSpPr/>
          <p:nvPr/>
        </p:nvSpPr>
        <p:spPr>
          <a:xfrm>
            <a:off x="666750" y="1247775"/>
            <a:ext cx="2000250" cy="533400"/>
          </a:xfrm>
          <a:prstGeom prst="roundRect">
            <a:avLst>
              <a:gd name="adj" fmla="val 14285"/>
            </a:avLst>
          </a:prstGeom>
          <a:solidFill>
            <a:srgbClr val="E3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glob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419225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7750" y="1304925"/>
            <a:ext cx="1524000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75" b="1" spc="-19">
                <a:solidFill>
                  <a:srgbClr val="1428A0"/>
                </a:solidFill>
                <a:latin typeface="Inter"/>
              </a:rPr>
              <a:t>1,131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1562100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4A5668"/>
                </a:solidFill>
                <a:latin typeface="Inter"/>
              </a:rPr>
              <a:t>live websites crawled</a:t>
            </a:r>
          </a:p>
        </p:txBody>
      </p:sp>
      <p:sp>
        <p:nvSpPr>
          <p:cNvPr id="17" name="Data 758k"/>
          <p:cNvSpPr/>
          <p:nvPr/>
        </p:nvSpPr>
        <p:spPr>
          <a:xfrm>
            <a:off x="762000" y="1857375"/>
            <a:ext cx="1809750" cy="533400"/>
          </a:xfrm>
          <a:prstGeom prst="roundRect">
            <a:avLst>
              <a:gd name="adj" fmla="val 14285"/>
            </a:avLst>
          </a:prstGeom>
          <a:solidFill>
            <a:srgbClr val="D2D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unlin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028825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3000" y="1914525"/>
            <a:ext cx="1333500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75" b="1" spc="-19">
                <a:solidFill>
                  <a:srgbClr val="1428A0"/>
                </a:solidFill>
                <a:latin typeface="Inter"/>
              </a:rPr>
              <a:t>758k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171700"/>
            <a:ext cx="1333500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4A5668"/>
                </a:solidFill>
                <a:latin typeface="Inter"/>
              </a:rPr>
              <a:t>real breakages harvested</a:t>
            </a:r>
          </a:p>
        </p:txBody>
      </p:sp>
      <p:sp>
        <p:nvSpPr>
          <p:cNvPr id="21" name="Data 208k"/>
          <p:cNvSpPr/>
          <p:nvPr/>
        </p:nvSpPr>
        <p:spPr>
          <a:xfrm>
            <a:off x="857250" y="2466975"/>
            <a:ext cx="1619250" cy="533400"/>
          </a:xfrm>
          <a:prstGeom prst="roundRect">
            <a:avLst>
              <a:gd name="adj" fmla="val 14285"/>
            </a:avLst>
          </a:prstGeom>
          <a:solidFill>
            <a:srgbClr val="B9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layers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638425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8250" y="2524125"/>
            <a:ext cx="1143000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75" b="1" spc="-19">
                <a:solidFill>
                  <a:srgbClr val="1428A0"/>
                </a:solidFill>
                <a:latin typeface="Inter"/>
              </a:rPr>
              <a:t>208k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781300"/>
            <a:ext cx="1143000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A1A1E"/>
                </a:solidFill>
                <a:latin typeface="Inter"/>
              </a:rPr>
              <a:t>checker shortlists,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A1A1E"/>
                </a:solidFill>
                <a:latin typeface="Inter"/>
              </a:rPr>
              <a:t>plus 139k LLM examples</a:t>
            </a:r>
          </a:p>
        </p:txBody>
      </p:sp>
      <p:sp>
        <p:nvSpPr>
          <p:cNvPr id="25" name="Data 1,000"/>
          <p:cNvSpPr/>
          <p:nvPr/>
        </p:nvSpPr>
        <p:spPr>
          <a:xfrm>
            <a:off x="952500" y="3076575"/>
            <a:ext cx="1428750" cy="533400"/>
          </a:xfrm>
          <a:prstGeom prst="roundRect">
            <a:avLst>
              <a:gd name="adj" fmla="val 14285"/>
            </a:avLst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3248025"/>
            <a:ext cx="19050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33500" y="3133725"/>
            <a:ext cx="952500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75" b="1" spc="-19">
                <a:solidFill>
                  <a:srgbClr val="FFFFFF"/>
                </a:solidFill>
                <a:latin typeface="Inter"/>
              </a:rPr>
              <a:t>1,000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3500" y="3390900"/>
            <a:ext cx="952500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C9D2EC"/>
                </a:solidFill>
                <a:latin typeface="Inter"/>
              </a:rPr>
              <a:t>test cases from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C9D2EC"/>
                </a:solidFill>
                <a:latin typeface="Inter"/>
              </a:rPr>
              <a:t>unseen websites</a:t>
            </a:r>
          </a:p>
        </p:txBody>
      </p:sp>
      <p:sp>
        <p:nvSpPr>
          <p:cNvPr id="29" name="Pill SPLIT BY WEBSITE · 0 SYNTHETIC"/>
          <p:cNvSpPr/>
          <p:nvPr/>
        </p:nvSpPr>
        <p:spPr>
          <a:xfrm>
            <a:off x="952500" y="3705225"/>
            <a:ext cx="1428750" cy="209550"/>
          </a:xfrm>
          <a:prstGeom prst="roundRect">
            <a:avLst>
              <a:gd name="adj" fmla="val 50000"/>
            </a:avLst>
          </a:prstGeom>
          <a:solidFill>
            <a:srgbClr val="E4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487" b="1" spc="19">
                <a:solidFill>
                  <a:srgbClr val="4A6E24"/>
                </a:solidFill>
                <a:latin typeface="JetBrains Mono"/>
              </a:rPr>
              <a:t>SPLIT BY WEBSITE · 0 SYNTHETIC</a:t>
            </a:r>
          </a:p>
        </p:txBody>
      </p:sp>
      <p:sp>
        <p:nvSpPr>
          <p:cNvPr id="30" name="Model Laya 421M + LoRA"/>
          <p:cNvSpPr/>
          <p:nvPr/>
        </p:nvSpPr>
        <p:spPr>
          <a:xfrm>
            <a:off x="2809875" y="1247775"/>
            <a:ext cx="2762250" cy="266700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943225" y="1381125"/>
            <a:ext cx="304800" cy="304800"/>
          </a:xfrm>
          <a:prstGeom prst="ellipse">
            <a:avLst/>
          </a:prstGeom>
          <a:solidFill>
            <a:srgbClr val="5F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9425" y="1457325"/>
            <a:ext cx="1524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324225" y="1400175"/>
            <a:ext cx="2095500" cy="95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5" b="1" spc="38">
                <a:solidFill>
                  <a:srgbClr val="5F8B2F"/>
                </a:solidFill>
                <a:latin typeface="JetBrains Mono"/>
              </a:rPr>
              <a:t>CHECKER  ·  FIRST OPINION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4225" y="1504950"/>
            <a:ext cx="20955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1A1A1E"/>
                </a:solidFill>
                <a:latin typeface="Inter"/>
              </a:rPr>
              <a:t>Laya 421M + LoRA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3225" y="1838325"/>
            <a:ext cx="1714500" cy="90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7" b="1" spc="38">
                <a:solidFill>
                  <a:srgbClr val="7A7F8A"/>
                </a:solidFill>
                <a:latin typeface="JetBrains Mono"/>
              </a:rPr>
              <a:t>DEV AUC DURING TRAINING</a:t>
            </a:r>
          </a:p>
        </p:txBody>
      </p:sp>
      <p:sp>
        <p:nvSpPr>
          <p:cNvPr id="36" name="Pill +0.38 AUC"/>
          <p:cNvSpPr/>
          <p:nvPr/>
        </p:nvSpPr>
        <p:spPr>
          <a:xfrm>
            <a:off x="4724400" y="1800225"/>
            <a:ext cx="714375" cy="171450"/>
          </a:xfrm>
          <a:prstGeom prst="roundRect">
            <a:avLst>
              <a:gd name="adj" fmla="val 50000"/>
            </a:avLst>
          </a:prstGeom>
          <a:solidFill>
            <a:srgbClr val="E4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525" b="1" spc="19">
                <a:solidFill>
                  <a:srgbClr val="4A6E24"/>
                </a:solidFill>
                <a:latin typeface="JetBrains Mono"/>
              </a:rPr>
              <a:t>+0.38 AUC</a:t>
            </a:r>
          </a:p>
        </p:txBody>
      </p:sp>
      <p:graphicFrame>
        <p:nvGraphicFramePr>
          <p:cNvPr id="37" name="Checker dev AUC"/>
          <p:cNvGraphicFramePr>
            <a:graphicFrameLocks noGrp="1"/>
          </p:cNvGraphicFramePr>
          <p:nvPr/>
        </p:nvGraphicFramePr>
        <p:xfrm>
          <a:off x="2867025" y="1971675"/>
          <a:ext cx="2647950" cy="107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8" name="Rule"/>
          <p:cNvSpPr/>
          <p:nvPr/>
        </p:nvSpPr>
        <p:spPr>
          <a:xfrm>
            <a:off x="2943225" y="3114675"/>
            <a:ext cx="2495550" cy="9525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43225" y="3200400"/>
            <a:ext cx="1190625" cy="90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7" b="1" spc="38">
                <a:solidFill>
                  <a:srgbClr val="5F8B2F"/>
                </a:solidFill>
                <a:latin typeface="JetBrains Mono"/>
              </a:rPr>
              <a:t>METHOD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3225" y="3305175"/>
            <a:ext cx="1190625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0">
                <a:solidFill>
                  <a:srgbClr val="1A1A1E"/>
                </a:solidFill>
                <a:latin typeface="Inter"/>
              </a:rPr>
              <a:t>LoRA r16, all 28 layers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48150" y="3200400"/>
            <a:ext cx="1190625" cy="90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7" b="1" spc="38">
                <a:solidFill>
                  <a:srgbClr val="5F8B2F"/>
                </a:solidFill>
                <a:latin typeface="JetBrains Mono"/>
              </a:rPr>
              <a:t>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48150" y="3305175"/>
            <a:ext cx="1190625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0">
                <a:solidFill>
                  <a:srgbClr val="1A1A1E"/>
                </a:solidFill>
                <a:latin typeface="Inter"/>
              </a:rPr>
              <a:t>208k real shortlists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3225" y="3533775"/>
            <a:ext cx="1190625" cy="90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7" b="1" spc="38">
                <a:solidFill>
                  <a:srgbClr val="5F8B2F"/>
                </a:solidFill>
                <a:latin typeface="JetBrains Mono"/>
              </a:rPr>
              <a:t>COMPUTE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3225" y="3638550"/>
            <a:ext cx="1190625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0">
                <a:solidFill>
                  <a:srgbClr val="1A1A1E"/>
                </a:solidFill>
                <a:latin typeface="Inter"/>
              </a:rPr>
              <a:t>13k training updates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8150" y="3533775"/>
            <a:ext cx="1190625" cy="90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7" b="1" spc="38">
                <a:solidFill>
                  <a:srgbClr val="5F8B2F"/>
                </a:solidFill>
                <a:latin typeface="JetBrains Mono"/>
              </a:rPr>
              <a:t>SERVES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48150" y="3638550"/>
            <a:ext cx="1190625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0">
                <a:solidFill>
                  <a:srgbClr val="1A1A1E"/>
                </a:solidFill>
                <a:latin typeface="Inter"/>
              </a:rPr>
              <a:t>~0.3 s a shortlist, GPU</a:t>
            </a:r>
          </a:p>
        </p:txBody>
      </p:sp>
      <p:sp>
        <p:nvSpPr>
          <p:cNvPr id="47" name="Model Qwen3-4B + QLoRA"/>
          <p:cNvSpPr/>
          <p:nvPr/>
        </p:nvSpPr>
        <p:spPr>
          <a:xfrm>
            <a:off x="5715000" y="1247775"/>
            <a:ext cx="2762250" cy="2667000"/>
          </a:xfrm>
          <a:prstGeom prst="roundRect">
            <a:avLst>
              <a:gd name="adj" fmla="val 2857"/>
            </a:avLst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848350" y="1381125"/>
            <a:ext cx="304800" cy="304800"/>
          </a:xfrm>
          <a:prstGeom prst="ellipse">
            <a:avLst/>
          </a:prstGeom>
          <a:solidFill>
            <a:srgbClr val="C17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cpu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550" y="1457325"/>
            <a:ext cx="152400" cy="152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29350" y="1400175"/>
            <a:ext cx="2095500" cy="95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5" b="1" spc="38">
                <a:solidFill>
                  <a:srgbClr val="C1702D"/>
                </a:solidFill>
                <a:latin typeface="JetBrains Mono"/>
              </a:rPr>
              <a:t>ADJUDICATOR  ·  DECIDES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29350" y="1504950"/>
            <a:ext cx="20955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1A1A1E"/>
                </a:solidFill>
                <a:latin typeface="Inter"/>
              </a:rPr>
              <a:t>Qwen3-4B + QLoRA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8350" y="1838325"/>
            <a:ext cx="1714500" cy="90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7" b="1" spc="38">
                <a:solidFill>
                  <a:srgbClr val="7A7F8A"/>
                </a:solidFill>
                <a:latin typeface="JetBrains Mono"/>
              </a:rPr>
              <a:t>ACCURACY BY STAGE · v1 TEST</a:t>
            </a:r>
          </a:p>
        </p:txBody>
      </p:sp>
      <p:sp>
        <p:nvSpPr>
          <p:cNvPr id="53" name="Pill +26.5 PTS"/>
          <p:cNvSpPr/>
          <p:nvPr/>
        </p:nvSpPr>
        <p:spPr>
          <a:xfrm>
            <a:off x="7629525" y="1800225"/>
            <a:ext cx="714375" cy="171450"/>
          </a:xfrm>
          <a:prstGeom prst="roundRect">
            <a:avLst>
              <a:gd name="adj" fmla="val 50000"/>
            </a:avLst>
          </a:prstGeom>
          <a:solidFill>
            <a:srgbClr val="F5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525" b="1" spc="19">
                <a:solidFill>
                  <a:srgbClr val="9A5620"/>
                </a:solidFill>
                <a:latin typeface="JetBrains Mono"/>
              </a:rPr>
              <a:t>+26.5 PTS</a:t>
            </a:r>
          </a:p>
        </p:txBody>
      </p:sp>
      <p:graphicFrame>
        <p:nvGraphicFramePr>
          <p:cNvPr id="54" name="Adjudicator accuracy by stage"/>
          <p:cNvGraphicFramePr>
            <a:graphicFrameLocks noGrp="1"/>
          </p:cNvGraphicFramePr>
          <p:nvPr/>
        </p:nvGraphicFramePr>
        <p:xfrm>
          <a:off x="5772150" y="1971675"/>
          <a:ext cx="2647950" cy="107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5" name="Rule"/>
          <p:cNvSpPr/>
          <p:nvPr/>
        </p:nvSpPr>
        <p:spPr>
          <a:xfrm>
            <a:off x="5848350" y="3114675"/>
            <a:ext cx="2495550" cy="9525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48350" y="3200400"/>
            <a:ext cx="1190625" cy="90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7" b="1" spc="38">
                <a:solidFill>
                  <a:srgbClr val="C1702D"/>
                </a:solidFill>
                <a:latin typeface="JetBrains Mono"/>
              </a:rPr>
              <a:t>METHOD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8350" y="3305175"/>
            <a:ext cx="1190625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0">
                <a:solidFill>
                  <a:srgbClr val="1A1A1E"/>
                </a:solidFill>
                <a:latin typeface="Inter"/>
              </a:rPr>
              <a:t>QLoRA r16, 4-bit base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3275" y="3200400"/>
            <a:ext cx="1190625" cy="90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7" b="1" spc="38">
                <a:solidFill>
                  <a:srgbClr val="C1702D"/>
                </a:solidFill>
                <a:latin typeface="JetBrains Mono"/>
              </a:rPr>
              <a:t>DATA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53275" y="3305175"/>
            <a:ext cx="1190625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0">
                <a:solidFill>
                  <a:srgbClr val="1A1A1E"/>
                </a:solidFill>
                <a:latin typeface="Inter"/>
              </a:rPr>
              <a:t>139k examples, 3 stages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48350" y="3533775"/>
            <a:ext cx="1190625" cy="90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7" b="1" spc="38">
                <a:solidFill>
                  <a:srgbClr val="C1702D"/>
                </a:solidFill>
                <a:latin typeface="JetBrains Mono"/>
              </a:rPr>
              <a:t>COMPUTE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8350" y="3638550"/>
            <a:ext cx="1190625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0">
                <a:solidFill>
                  <a:srgbClr val="1A1A1E"/>
                </a:solidFill>
                <a:latin typeface="Inter"/>
              </a:rPr>
              <a:t>L40S, 7.5 GPU-hours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53275" y="3533775"/>
            <a:ext cx="1190625" cy="90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7" b="1" spc="38">
                <a:solidFill>
                  <a:srgbClr val="C1702D"/>
                </a:solidFill>
                <a:latin typeface="JetBrains Mono"/>
              </a:rPr>
              <a:t>SERVES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53275" y="3638550"/>
            <a:ext cx="1190625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0">
                <a:solidFill>
                  <a:srgbClr val="1A1A1E"/>
                </a:solidFill>
                <a:latin typeface="Inter"/>
              </a:rPr>
              <a:t>2.5 GB, fits a 4 GB GPU</a:t>
            </a:r>
          </a:p>
        </p:txBody>
      </p:sp>
      <p:sp>
        <p:nvSpPr>
          <p:cNvPr id="64" name="Strip"/>
          <p:cNvSpPr/>
          <p:nvPr/>
        </p:nvSpPr>
        <p:spPr>
          <a:xfrm>
            <a:off x="666750" y="4029075"/>
            <a:ext cx="7810500" cy="266700"/>
          </a:xfrm>
          <a:prstGeom prst="roundRect">
            <a:avLst>
              <a:gd name="adj" fmla="val 28571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lockopen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50" y="4095750"/>
            <a:ext cx="133350" cy="13335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19175" y="4029075"/>
            <a:ext cx="21272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1">
                <a:solidFill>
                  <a:srgbClr val="1A1A1E"/>
                </a:solidFill>
                <a:latin typeface="Inter"/>
              </a:rPr>
              <a:t>Open weights, Apache-2.0</a:t>
            </a:r>
          </a:p>
        </p:txBody>
      </p:sp>
      <p:pic>
        <p:nvPicPr>
          <p:cNvPr id="67" name="Picture 66" descr="filetext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2650" y="4095750"/>
            <a:ext cx="133350" cy="13335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3622675" y="4029075"/>
            <a:ext cx="21272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1">
                <a:solidFill>
                  <a:srgbClr val="1A1A1E"/>
                </a:solidFill>
                <a:latin typeface="Inter"/>
              </a:rPr>
              <a:t>Every decision explained, audit-ready</a:t>
            </a:r>
          </a:p>
        </p:txBody>
      </p:sp>
      <p:pic>
        <p:nvPicPr>
          <p:cNvPr id="69" name="Picture 68" descr="server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6150" y="4095750"/>
            <a:ext cx="133350" cy="13335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226175" y="4029075"/>
            <a:ext cx="21272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1">
                <a:solidFill>
                  <a:srgbClr val="1A1A1E"/>
                </a:solidFill>
                <a:latin typeface="Inter"/>
              </a:rPr>
              <a:t>Runs offline: no external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266700"/>
          </a:xfrm>
          <a:prstGeom prst="rect">
            <a:avLst/>
          </a:prstGeom>
          <a:solidFill>
            <a:srgbClr val="1A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 text"/>
          <p:cNvSpPr txBox="1"/>
          <p:nvPr/>
        </p:nvSpPr>
        <p:spPr>
          <a:xfrm>
            <a:off x="666750" y="0"/>
            <a:ext cx="781050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1" spc="38">
                <a:solidFill>
                  <a:srgbClr val="FFFFFF"/>
                </a:solidFill>
                <a:latin typeface="Inter"/>
              </a:rPr>
              <a:t>SAMSUNG SDS   |   AI IN THE HEALING SERVICE  ·  RESULTS</a:t>
            </a:r>
          </a:p>
        </p:txBody>
      </p:sp>
      <p:sp>
        <p:nvSpPr>
          <p:cNvPr id="4" name="Template dash 1"/>
          <p:cNvSpPr/>
          <p:nvPr/>
        </p:nvSpPr>
        <p:spPr>
          <a:xfrm>
            <a:off x="666750" y="400050"/>
            <a:ext cx="295275" cy="3810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mplate dash 2"/>
          <p:cNvSpPr/>
          <p:nvPr/>
        </p:nvSpPr>
        <p:spPr>
          <a:xfrm>
            <a:off x="1000125" y="400050"/>
            <a:ext cx="295275" cy="38100"/>
          </a:xfrm>
          <a:prstGeom prst="rect">
            <a:avLst/>
          </a:prstGeom>
          <a:solidFill>
            <a:srgbClr val="2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mplate dash 3"/>
          <p:cNvSpPr/>
          <p:nvPr/>
        </p:nvSpPr>
        <p:spPr>
          <a:xfrm>
            <a:off x="1333500" y="400050"/>
            <a:ext cx="295275" cy="38100"/>
          </a:xfrm>
          <a:prstGeom prst="rect">
            <a:avLst/>
          </a:prstGeom>
          <a:solidFill>
            <a:srgbClr val="5F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mplate dash 4"/>
          <p:cNvSpPr/>
          <p:nvPr/>
        </p:nvSpPr>
        <p:spPr>
          <a:xfrm>
            <a:off x="1666875" y="400050"/>
            <a:ext cx="295275" cy="38100"/>
          </a:xfrm>
          <a:prstGeom prst="rect">
            <a:avLst/>
          </a:prstGeom>
          <a:solidFill>
            <a:srgbClr val="C17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nfidential"/>
          <p:cNvSpPr txBox="1"/>
          <p:nvPr/>
        </p:nvSpPr>
        <p:spPr>
          <a:xfrm>
            <a:off x="3619500" y="4905375"/>
            <a:ext cx="1905000" cy="104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7A7F8A"/>
                </a:solidFill>
                <a:latin typeface="Inter"/>
              </a:rPr>
              <a:t>Confidential</a:t>
            </a:r>
          </a:p>
        </p:txBody>
      </p:sp>
      <p:sp>
        <p:nvSpPr>
          <p:cNvPr id="9" name="Footer brand"/>
          <p:cNvSpPr txBox="1"/>
          <p:nvPr/>
        </p:nvSpPr>
        <p:spPr>
          <a:xfrm>
            <a:off x="7048500" y="4857750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25" b="1">
                <a:solidFill>
                  <a:srgbClr val="1428A0"/>
                </a:solidFill>
                <a:latin typeface="Inter"/>
              </a:rPr>
              <a:t>SAMSUNG SDS</a:t>
            </a:r>
          </a:p>
        </p:txBody>
      </p:sp>
      <p:sp>
        <p:nvSpPr>
          <p:cNvPr id="10" name="Page number"/>
          <p:cNvSpPr txBox="1"/>
          <p:nvPr/>
        </p:nvSpPr>
        <p:spPr>
          <a:xfrm>
            <a:off x="7048500" y="4724400"/>
            <a:ext cx="1428750" cy="95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525" b="0" spc="19">
                <a:solidFill>
                  <a:srgbClr val="7A7F8A"/>
                </a:solidFill>
                <a:latin typeface="Inter"/>
              </a:rPr>
              <a:t>PAGE 03 / 03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66750" y="495300"/>
            <a:ext cx="78105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950" b="1" spc="-19">
                <a:solidFill>
                  <a:srgbClr val="1A1A1E"/>
                </a:solidFill>
                <a:latin typeface="Inter"/>
              </a:rPr>
              <a:t>Fine-tuning beat scale: a 4B model outperforms 20B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666750" y="885825"/>
            <a:ext cx="7810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37" b="0">
                <a:solidFill>
                  <a:srgbClr val="4A5668"/>
                </a:solidFill>
                <a:latin typeface="Inter"/>
              </a:rPr>
              <a:t>Offline: 1,000 held-out cases from websites no model trained on. Live: a real vendor upgrade.</a:t>
            </a:r>
          </a:p>
        </p:txBody>
      </p:sp>
      <p:sp>
        <p:nvSpPr>
          <p:cNvPr id="13" name="Comparison card"/>
          <p:cNvSpPr/>
          <p:nvPr/>
        </p:nvSpPr>
        <p:spPr>
          <a:xfrm>
            <a:off x="666750" y="1247775"/>
            <a:ext cx="4095750" cy="1666875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" y="1362075"/>
            <a:ext cx="2857500" cy="95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5" b="1" spc="38">
                <a:solidFill>
                  <a:srgbClr val="1428A0"/>
                </a:solidFill>
                <a:latin typeface="JetBrains Mono"/>
              </a:rPr>
              <a:t>ACCURACY · SAME 1,000 HELD-OUT CASES</a:t>
            </a:r>
          </a:p>
        </p:txBody>
      </p:sp>
      <p:sp>
        <p:nvSpPr>
          <p:cNvPr id="15" name="Pill p &lt; 0.001"/>
          <p:cNvSpPr/>
          <p:nvPr/>
        </p:nvSpPr>
        <p:spPr>
          <a:xfrm>
            <a:off x="3981450" y="1323975"/>
            <a:ext cx="647700" cy="171450"/>
          </a:xfrm>
          <a:prstGeom prst="roundRect">
            <a:avLst>
              <a:gd name="adj" fmla="val 50000"/>
            </a:avLst>
          </a:prstGeom>
          <a:solidFill>
            <a:srgbClr val="E4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562" b="1" spc="19">
                <a:solidFill>
                  <a:srgbClr val="4A6E24"/>
                </a:solidFill>
                <a:latin typeface="JetBrains Mono"/>
              </a:rPr>
              <a:t>p &lt; 0.001</a:t>
            </a:r>
          </a:p>
        </p:txBody>
      </p:sp>
      <p:graphicFrame>
        <p:nvGraphicFramePr>
          <p:cNvPr id="16" name="Accuracy comparison"/>
          <p:cNvGraphicFramePr>
            <a:graphicFrameLocks noGrp="1"/>
          </p:cNvGraphicFramePr>
          <p:nvPr/>
        </p:nvGraphicFramePr>
        <p:xfrm>
          <a:off x="723900" y="1552575"/>
          <a:ext cx="3981450" cy="1123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00100" y="2714625"/>
            <a:ext cx="38100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>
                <a:solidFill>
                  <a:srgbClr val="5A6472"/>
                </a:solidFill>
                <a:latin typeface="Inter"/>
              </a:rPr>
              <a:t>Both fine-tuned for this task. gpt-oss-20b is a 21B mixture-of-experts, five times larger.</a:t>
            </a:r>
          </a:p>
        </p:txBody>
      </p:sp>
      <p:sp>
        <p:nvSpPr>
          <p:cNvPr id="18" name="Live result"/>
          <p:cNvSpPr/>
          <p:nvPr/>
        </p:nvSpPr>
        <p:spPr>
          <a:xfrm>
            <a:off x="666750" y="3028950"/>
            <a:ext cx="4095750" cy="1171575"/>
          </a:xfrm>
          <a:prstGeom prst="roundRect">
            <a:avLst>
              <a:gd name="adj" fmla="val 6504"/>
            </a:avLst>
          </a:prstGeom>
          <a:solidFill>
            <a:srgbClr val="4A6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150" y="3162300"/>
            <a:ext cx="3810000" cy="95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5" b="1" spc="38">
                <a:solidFill>
                  <a:srgbClr val="DDE8CF"/>
                </a:solidFill>
                <a:latin typeface="JetBrains Mono"/>
              </a:rPr>
              <a:t>LIVE · REAL VENDOR UPGRADE · ORANGEHRM 4.10 → 5.9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3448050"/>
            <a:ext cx="1143000" cy="857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1" spc="38">
                <a:solidFill>
                  <a:srgbClr val="DDE8CF"/>
                </a:solidFill>
                <a:latin typeface="JetBrains Mono"/>
              </a:rPr>
              <a:t>WITHOUT HEALING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3543300"/>
            <a:ext cx="1095375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50" b="1" spc="-38">
                <a:solidFill>
                  <a:srgbClr val="A9C38F"/>
                </a:solidFill>
                <a:latin typeface="Inter"/>
              </a:rPr>
              <a:t>0 / 3</a:t>
            </a:r>
          </a:p>
        </p:txBody>
      </p:sp>
      <p:pic>
        <p:nvPicPr>
          <p:cNvPr id="22" name="Picture 21" descr="arrow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0" y="3676650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266950" y="3448050"/>
            <a:ext cx="1143000" cy="857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1" spc="38">
                <a:solidFill>
                  <a:srgbClr val="FFFFFF"/>
                </a:solidFill>
                <a:latin typeface="JetBrains Mono"/>
              </a:rPr>
              <a:t>WITH HEALING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6950" y="3543300"/>
            <a:ext cx="1095375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50" b="1" spc="-38">
                <a:solidFill>
                  <a:srgbClr val="FFFFFF"/>
                </a:solidFill>
                <a:latin typeface="Inter"/>
              </a:rPr>
              <a:t>3 /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2800" y="3543300"/>
            <a:ext cx="1285875" cy="5238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675" b="0">
                <a:solidFill>
                  <a:srgbClr val="FFFFFF"/>
                </a:solidFill>
                <a:latin typeface="Inter"/>
              </a:rPr>
              <a:t>onboardings completed across the upgrade, 22 repairs, every record verified in the app</a:t>
            </a:r>
          </a:p>
        </p:txBody>
      </p:sp>
      <p:sp>
        <p:nvSpPr>
          <p:cNvPr id="26" name="KPI 99%"/>
          <p:cNvSpPr/>
          <p:nvPr/>
        </p:nvSpPr>
        <p:spPr>
          <a:xfrm>
            <a:off x="4905375" y="1247775"/>
            <a:ext cx="3571875" cy="666750"/>
          </a:xfrm>
          <a:prstGeom prst="roundRect">
            <a:avLst>
              <a:gd name="adj" fmla="val 1142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38725" y="1428750"/>
            <a:ext cx="304800" cy="304800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925" y="1504950"/>
            <a:ext cx="1524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57825" y="1247775"/>
            <a:ext cx="952500" cy="666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25" b="1" spc="-38">
                <a:solidFill>
                  <a:srgbClr val="1428A0"/>
                </a:solidFill>
                <a:latin typeface="Inter"/>
              </a:rPr>
              <a:t>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7950" y="1247775"/>
            <a:ext cx="1885950" cy="666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4A5668"/>
                </a:solidFill>
                <a:latin typeface="Inter"/>
              </a:rPr>
              <a:t>precision when the LLM</a:t>
            </a:r>
          </a:p>
          <a:p>
            <a:pPr algn="l">
              <a:lnSpc>
                <a:spcPct val="120000"/>
              </a:lnSpc>
            </a:pPr>
            <a:r>
              <a:rPr sz="712" b="0">
                <a:solidFill>
                  <a:srgbClr val="4A5668"/>
                </a:solidFill>
                <a:latin typeface="Inter"/>
              </a:rPr>
              <a:t>is at least 75% confident</a:t>
            </a:r>
          </a:p>
        </p:txBody>
      </p:sp>
      <p:sp>
        <p:nvSpPr>
          <p:cNvPr id="31" name="KPI 0.98"/>
          <p:cNvSpPr/>
          <p:nvPr/>
        </p:nvSpPr>
        <p:spPr>
          <a:xfrm>
            <a:off x="4905375" y="2009775"/>
            <a:ext cx="3571875" cy="666750"/>
          </a:xfrm>
          <a:prstGeom prst="roundRect">
            <a:avLst>
              <a:gd name="adj" fmla="val 1142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38725" y="2190750"/>
            <a:ext cx="304800" cy="304800"/>
          </a:xfrm>
          <a:prstGeom prst="ellipse">
            <a:avLst/>
          </a:prstGeom>
          <a:solidFill>
            <a:srgbClr val="5F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4925" y="2266950"/>
            <a:ext cx="15240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57825" y="2009775"/>
            <a:ext cx="952500" cy="666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25" b="1" spc="-38">
                <a:solidFill>
                  <a:srgbClr val="5F8B2F"/>
                </a:solidFill>
                <a:latin typeface="Inter"/>
              </a:rPr>
              <a:t>0.98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7950" y="2009775"/>
            <a:ext cx="1885950" cy="666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4A5668"/>
                </a:solidFill>
                <a:latin typeface="Inter"/>
              </a:rPr>
              <a:t>checker AUC, against 0.77</a:t>
            </a:r>
          </a:p>
          <a:p>
            <a:pPr algn="l">
              <a:lnSpc>
                <a:spcPct val="120000"/>
              </a:lnSpc>
            </a:pPr>
            <a:r>
              <a:rPr sz="712" b="0">
                <a:solidFill>
                  <a:srgbClr val="4A5668"/>
                </a:solidFill>
                <a:latin typeface="Inter"/>
              </a:rPr>
              <a:t>for the heuristic ranker</a:t>
            </a:r>
          </a:p>
        </p:txBody>
      </p:sp>
      <p:sp>
        <p:nvSpPr>
          <p:cNvPr id="36" name="KPI 38%"/>
          <p:cNvSpPr/>
          <p:nvPr/>
        </p:nvSpPr>
        <p:spPr>
          <a:xfrm>
            <a:off x="4905375" y="2771775"/>
            <a:ext cx="3571875" cy="666750"/>
          </a:xfrm>
          <a:prstGeom prst="roundRect">
            <a:avLst>
              <a:gd name="adj" fmla="val 1142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038725" y="2952750"/>
            <a:ext cx="304800" cy="304800"/>
          </a:xfrm>
          <a:prstGeom prst="ellipse">
            <a:avLst/>
          </a:prstGeom>
          <a:solidFill>
            <a:srgbClr val="C17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z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4925" y="3028950"/>
            <a:ext cx="152400" cy="152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457825" y="2771775"/>
            <a:ext cx="952500" cy="666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25" b="1" spc="-38">
                <a:solidFill>
                  <a:srgbClr val="C1702D"/>
                </a:solidFill>
                <a:latin typeface="Inter"/>
              </a:rPr>
              <a:t>38%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7950" y="2771775"/>
            <a:ext cx="1885950" cy="666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4A5668"/>
                </a:solidFill>
                <a:latin typeface="Inter"/>
              </a:rPr>
              <a:t>of decisions made</a:t>
            </a:r>
          </a:p>
          <a:p>
            <a:pPr algn="l">
              <a:lnSpc>
                <a:spcPct val="120000"/>
              </a:lnSpc>
            </a:pPr>
            <a:r>
              <a:rPr sz="712" b="0">
                <a:solidFill>
                  <a:srgbClr val="4A5668"/>
                </a:solidFill>
                <a:latin typeface="Inter"/>
              </a:rPr>
              <a:t>without calling the LLM</a:t>
            </a:r>
          </a:p>
        </p:txBody>
      </p:sp>
      <p:sp>
        <p:nvSpPr>
          <p:cNvPr id="41" name="KPI 2.2 s"/>
          <p:cNvSpPr/>
          <p:nvPr/>
        </p:nvSpPr>
        <p:spPr>
          <a:xfrm>
            <a:off x="4905375" y="3533775"/>
            <a:ext cx="3571875" cy="666750"/>
          </a:xfrm>
          <a:prstGeom prst="roundRect">
            <a:avLst>
              <a:gd name="adj" fmla="val 1142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038725" y="3714750"/>
            <a:ext cx="304800" cy="304800"/>
          </a:xfrm>
          <a:prstGeom prst="ellipse">
            <a:avLst/>
          </a:prstGeom>
          <a:solidFill>
            <a:srgbClr val="2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tim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4925" y="3790950"/>
            <a:ext cx="152400" cy="152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457825" y="3533775"/>
            <a:ext cx="952500" cy="666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25" b="1" spc="-38">
                <a:solidFill>
                  <a:srgbClr val="2A5C9E"/>
                </a:solidFill>
                <a:latin typeface="Inter"/>
              </a:rPr>
              <a:t>2.2 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7950" y="3533775"/>
            <a:ext cx="1885950" cy="666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712" b="0">
                <a:solidFill>
                  <a:srgbClr val="4A5668"/>
                </a:solidFill>
                <a:latin typeface="Inter"/>
              </a:rPr>
              <a:t>median decision time</a:t>
            </a:r>
          </a:p>
          <a:p>
            <a:pPr algn="l">
              <a:lnSpc>
                <a:spcPct val="120000"/>
              </a:lnSpc>
            </a:pPr>
            <a:r>
              <a:rPr sz="712" b="0">
                <a:solidFill>
                  <a:srgbClr val="4A5668"/>
                </a:solidFill>
                <a:latin typeface="Inter"/>
              </a:rPr>
              <a:t>on a single L4 GPU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1383</Words>
  <Application>Microsoft Office PowerPoint</Application>
  <PresentationFormat>On-screen Show (16:9)</PresentationFormat>
  <Paragraphs>159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Inter</vt:lpstr>
      <vt:lpstr>Arial</vt:lpstr>
      <vt:lpstr>JetBrains Mono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Tushar Agrawal</cp:lastModifiedBy>
  <cp:revision>2</cp:revision>
  <dcterms:created xsi:type="dcterms:W3CDTF">2013-01-27T09:14:16Z</dcterms:created>
  <dcterms:modified xsi:type="dcterms:W3CDTF">2026-10-21T04:46:59Z</dcterms:modified>
  <cp:category/>
</cp:coreProperties>
</file>