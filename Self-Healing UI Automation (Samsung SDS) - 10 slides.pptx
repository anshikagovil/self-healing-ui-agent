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68" r:id="rId3"/>
    <p:sldId id="257" r:id="rId4"/>
    <p:sldId id="258" r:id="rId5"/>
    <p:sldId id="259" r:id="rId6"/>
    <p:sldId id="269" r:id="rId7"/>
    <p:sldId id="270" r:id="rId8"/>
    <p:sldId id="260" r:id="rId9"/>
    <p:sldId id="261" r:id="rId10"/>
    <p:sldId id="267" r:id="rId11"/>
  </p:sldIdLst>
  <p:sldSz cx="9144000" cy="5143500" type="screen16x9"/>
  <p:notesSz cx="5143500" cy="9144000"/>
  <p:embeddedFontLst>
    <p:embeddedFont>
      <p:font typeface="Inter" panose="02000503000000020004" pitchFamily="2" charset="0"/>
      <p:regular r:id="rId13"/>
      <p:bold r:id="rId14"/>
    </p:embeddedFont>
    <p:embeddedFont>
      <p:font typeface="JetBrains Mono" panose="02000009000000000000" pitchFamily="49"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7932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One sentence framing: "Our robots break every time a website changes. This AI agent makes them heal themselves, the moment a step fails."</a:t>
            </a:r>
          </a:p>
          <a:p>
            <a:r>
              <a:t>Point at the event log on the right. The step was written against jobTitle and the release renamed it to positionTitle. The failed lookup raised an event; the Healing Agent read the live page, recalled what the field looked like when it last worked, reasoned over the candidates, proved the new address on the page, and the robot carried on - 6.2 seconds, nothing in the script edited.</a:t>
            </a:r>
          </a:p>
          <a:p>
            <a:r>
              <a:t>If someone asks cost up front: "Fifty-four lakh, pays back in about twelve months - the commercial case, slide ten." Then move 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otes Placeholder 2"/>
          <p:cNvSpPr>
            <a:spLocks noGrp="1"/>
          </p:cNvSpPr>
          <p:nvPr>
            <p:ph type="body" idx="1"/>
          </p:nvPr>
        </p:nvSpPr>
        <p:spPr/>
        <p:txBody>
          <a:bodyPr/>
          <a:lstStyle/>
          <a:p>
            <a:r>
              <a:t>Eight parts: the problem, the Healing Agent and its healing flow, the architecture and the AI inside it, the demo, then what it is worth. If time is short, go from 'The Healing Agent' straight to the demo and finish on the commercial case.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slide is for whoever in the room has never written a selector. The analogy that lands: a selector is a postal address for a button. The building did not move; the street got renamed.</a:t>
            </a:r>
          </a:p>
          <a:p>
            <a:r>
              <a:t>Walk the four cards left to right. The point is the handoffs, not any single number. The 4-8 hour detection window is the one that stings for ops: nobody is watching at two in the morning. These durations are typical, not measured on our estate - offer to instrument them.</a:t>
            </a:r>
          </a:p>
          <a:p>
            <a:r>
              <a:t>Scope: web robots on Selenium or Playwright, both selector languages, healed at runtime by the event-driven agent. Nobody is asked to rewrite an automation. Desktop, mainframe and Citrix UIs are not in phase 1, and a control a vendor deleted is reported as gone, never invented.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This is the pivot. Read it left to right: what wakes the agent, how it reasons, and how it decides to act.</a:t>
            </a:r>
          </a:p>
          <a:p>
            <a:r>
              <a:t>Left: the agent is event-driven. It costs nothing until a selector misses; that miss is the trigger, and the agent runs inline while the robot waits - no ticket, no redeploy, nobody woken at two in the morning.</a:t>
            </a:r>
          </a:p>
          <a:p>
            <a:r>
              <a:t>Middle: the selector recovery pipeline. RAG memory and semantic similarity are fast and deterministic; only the fine-tuned AI step needs the GPU, which is why a heal takes about six seconds and not sixty. The AI is handed a numbered list harvested from the live page and answers with an index - it is structurally incapable of inventing a selector.</a:t>
            </a:r>
          </a:p>
          <a:p>
            <a:r>
              <a:t>Right: confidence-based execution. When the agent is confident on a step it has seen working, it heals on its own - and on its high-confidence decisions it was right 209 times out of 211, on websites it had never seen. When it is unsure, a person reviews; when nothing matches, it refuses and the step fails loudly, exactly as today. A step that was never seen working is never auto-applied.</a:t>
            </a:r>
          </a:p>
          <a:p>
            <a:r>
              <a:t>Keep model names off this slide; they are on the AI slide for anyone who asks.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One GPU, many robots: "We buy the intelligence once, not once per robot."</a:t>
            </a:r>
          </a:p>
          <a:p>
            <a:r>
              <a:t>Left box: the robot host keeps its existing script and gains one client file. That client is the agent's trigger - it fires the moment a lookup fails - and it runs the JavaScript harvest and the final bind. No GPU, no model; rollout is a package install.</a:t>
            </a:r>
          </a:p>
          <a:p>
            <a:r>
              <a:t>The arrows between the boxes are the security story: element fingerprints cross the wire - never the page, never a screenshot, never the values the robot is typing - and the agent answers with an index, never a selector. The robot binds and proves it on the live page itself.</a:t>
            </a:r>
          </a:p>
          <a:p>
            <a:r>
              <a:t>Top of the agent host: RAG memory. Every decision is grounded in fixes the fleet already proved and in what this element looked like the last time the step worked; every verified heal is written back, so a break one robot solves is free for every robot after it.</a:t>
            </a:r>
          </a:p>
          <a:p>
            <a:r>
              <a:t>Right: every component is open source or open weights, on hardware we own.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Walk the flow left to right, then the loop underneath.</a:t>
            </a:r>
          </a:p>
          <a:p>
            <a:r>
              <a:t>Trigger: the robot asks for an element. When the selector misses, that miss is the event, and the Healing Agent is called inline - the robot pauses instead of crashing.</a:t>
            </a:r>
          </a:p>
          <a:p>
            <a:r>
              <a:t>01 Perceive: the agent's JavaScript runs inside the live page and fingerprints up to about 900 elements - text, ids, ARIA labels, attributes, DOM path, position, neighbouring words - and proposes durable selectors for each, in the browser. Only those fingerprints leave the machine: never a screenshot, never the values being typed.</a:t>
            </a:r>
          </a:p>
          <a:p>
            <a:r>
              <a:t>02 Recall: RAG memory first. If another robot already proved a fix for this step, it is reused instantly with no AI call. Otherwise the last-known-good fingerprint grounds everything that follows.</a:t>
            </a:r>
          </a:p>
          <a:p>
            <a:r>
              <a:t>03 Analyse: semantic similarity analysis scores every element on eight signals, including sentence embeddings of the step's intent, and keeps the best eight.</a:t>
            </a:r>
          </a:p>
          <a:p>
            <a:r>
              <a:t>04 Reason: the fine-tuned checker gives a calibrated first opinion and decides alone when it is sure; otherwise the fine-tuned LLM reasons over the shortlist. Either way the answer is an index into what the page offered.</a:t>
            </a:r>
          </a:p>
          <a:p>
            <a:r>
              <a:t>05 Decide: confidence-based execution - heal, send to review, or refuse.</a:t>
            </a:r>
          </a:p>
          <a:p>
            <a:r>
              <a:t>06 Act: back in the browser, the page proves the new selector is unique and visible, and the step carries on.</a:t>
            </a:r>
          </a:p>
          <a:p>
            <a:r>
              <a:t>07 Learn: the verified fix and its fingerprint go back into RAG memory, so the next robot that meets the same change heals instantly.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Where does the intelligence come from? Real data, not synthetic: 1,131 live websites crawled, 758,000 real breakages harvested, and no test website ever used in training - the split is by website.</a:t>
            </a:r>
          </a:p>
          <a:p>
            <a:r>
              <a:t>Two small open models, each fine-tuned for one job. The checker - Laya, 421 million parameters, LoRA - gives a calibrated first opinion. Fine-tuning lifted its AUC by 0.38 during training; on held-out sites it separates right from wrong at 0.98, against 0.77 for heuristics, and it settles 38 percent of decisions without calling the LLM. The adjudicator - Qwen3-4B, QLoRA - gained 26.5 points from fine-tuning in under eight GPU-hours, and the whole model is 2.5 gigabytes.</a:t>
            </a:r>
          </a:p>
          <a:p>
            <a:r>
              <a:t>Ask the room: a 20-billion-parameter model against our 4-billion, on the same 1,000 unseen cases - who wins? Ours, significant at p below 0.001.</a:t>
            </a:r>
          </a:p>
          <a:p>
            <a:r>
              <a:t>The headline: when the agent is confident it is right 209 times out of 211 - 99 percent. And live, across a real OrangeHRM upgrade from 4.10 to 5.9 that broke every address the bot used: zero of three onboardings without the agent, three of three with it, every record verified in the app.</a:t>
            </a:r>
          </a:p>
          <a:p>
            <a:r>
              <a:t>IF YOU ARE ASKED</a:t>
            </a:r>
          </a:p>
          <a:p>
            <a:r>
              <a:t>- What is the raw accuracy over every case, confident or not? 85.1% top-1 for our fine-tuned 4B model against 81.7% for the fine-tuned 20B, on the same 1,000 held-out cases. The agent does not act on every guess: confidence-based execution sends the unsure ones to a person, which is why the high-confidence figure is the one that matters for unattended runs.</a:t>
            </a:r>
          </a:p>
          <a:p>
            <a:r>
              <a:t>- Is the test fair? The data is split by website: no test site appears in training, and every model was scored on the same 1,000 cases through the same runtime.</a:t>
            </a:r>
          </a:p>
          <a:p>
            <a:r>
              <a:t>- Was the OrangeHRM run on this exact model? It ran on an earlier build of the service; re-running the live checks on the shipped model is the next step.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32-second video, three parts, all on the HR portal: on release 2025.1 the robot files a new hire unattended; on 2026.1 with the Healing Agent off it stops at the renamed Position Title field; on 2026.1 with the Healing Agent on, the card says what broke, what it found and how sure it is, and the hire completes.</a:t>
            </a:r>
          </a:p>
          <a:p>
            <a:r>
              <a:t>Design rules: business language, not stack traces; the control being used is ringed on screen; the overlay never intercepts a click, so it observes the run rather than changing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Pick the column that matches your room and lead with it. Do not read all eight rows.</a:t>
            </a:r>
          </a:p>
          <a:p>
            <a:r>
              <a:t>For operations: runs stop failing overnight for reasons nobody is awake to fix, and every decision the system made is written down.</a:t>
            </a:r>
          </a:p>
          <a:p>
            <a:r>
              <a:t>For engineering: no rewrite - one client file beside an existing script - and it works with both drivers and both selector languages already in use. The AI picks an index; the page proves it.</a:t>
            </a:r>
          </a:p>
          <a:p>
            <a:r>
              <a:t>The ₹87 L figure is the modelled saving from the ROI slide, not a measurement. The closing line is the strategic argument: the capability is ours, on our hardware, with no bill that grows as we succeed.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Say the disclaimer before anyone asks. The engineering numbers are measured; these are a model. The dashed border is doing that job visually.</a:t>
            </a:r>
          </a:p>
          <a:p>
            <a:endParaRPr/>
          </a:p>
          <a:p>
            <a:r>
              <a:t>Invite challenge on the five assumptions directly: "If you think eight per cent is wrong, tell me your number and I will rerun this live." That invitation is what makes the slide credible.</a:t>
            </a:r>
          </a:p>
          <a:p>
            <a:endParaRPr/>
          </a:p>
          <a:p>
            <a:r>
              <a:t>The 75% heal rate is deliberately below our demo result. Do not quote 100% here.</a:t>
            </a:r>
          </a:p>
          <a:p>
            <a:endParaRPr/>
          </a:p>
          <a:p>
            <a:r>
              <a:t>Only the last line matters: ₹87 L a year recovered. Everything above is how we got there.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3.png"/><Relationship Id="rId4" Type="http://schemas.openxmlformats.org/officeDocument/2006/relationships/image" Target="../media/image39.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1.png"/><Relationship Id="rId5" Type="http://schemas.openxmlformats.org/officeDocument/2006/relationships/image" Target="../media/image46.png"/><Relationship Id="rId10" Type="http://schemas.openxmlformats.org/officeDocument/2006/relationships/image" Target="../media/image50.png"/><Relationship Id="rId4" Type="http://schemas.openxmlformats.org/officeDocument/2006/relationships/image" Target="../media/image45.png"/><Relationship Id="rId9" Type="http://schemas.openxmlformats.org/officeDocument/2006/relationships/image" Target="../media/image4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lang="en-US" sz="855" b="1" i="0" spc="21" dirty="0">
                <a:solidFill>
                  <a:srgbClr val="FFFFFF"/>
                </a:solidFill>
                <a:latin typeface="Inter"/>
              </a:rPr>
              <a:t>SAMSUNG SDS</a:t>
            </a:r>
            <a:r>
              <a:rPr lang="en-US" sz="855" b="0" i="0" spc="21" dirty="0">
                <a:solidFill>
                  <a:srgbClr val="B9C6DA"/>
                </a:solidFill>
                <a:latin typeface="Inter"/>
              </a:rPr>
              <a:t>   |   </a:t>
            </a:r>
            <a:r>
              <a:rPr lang="en-US" sz="855" b="1" i="0" spc="21" dirty="0">
                <a:solidFill>
                  <a:srgbClr val="B9C6DA"/>
                </a:solidFill>
                <a:latin typeface="Inter"/>
              </a:rPr>
              <a:t>AGENTIC AI USE CASE  ·  DEVELOPMENT APPROVAL REQUEST</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0" name="Cover eyebrow"/>
          <p:cNvSpPr txBox="1"/>
          <p:nvPr/>
        </p:nvSpPr>
        <p:spPr>
          <a:xfrm>
            <a:off x="667512" y="914400"/>
            <a:ext cx="4572000" cy="146304"/>
          </a:xfrm>
          <a:prstGeom prst="rect">
            <a:avLst/>
          </a:prstGeom>
          <a:noFill/>
        </p:spPr>
        <p:txBody>
          <a:bodyPr wrap="square" lIns="0" tIns="0" rIns="0" bIns="0" anchor="t">
            <a:noAutofit/>
          </a:bodyPr>
          <a:lstStyle/>
          <a:p>
            <a:pPr algn="l"/>
            <a:r>
              <a:rPr lang="en-US" sz="700" b="1" i="0" spc="120" dirty="0">
                <a:solidFill>
                  <a:srgbClr val="2A5C9E"/>
                </a:solidFill>
                <a:latin typeface="Inter"/>
              </a:rPr>
              <a:t>EVENT-DRIVEN  ·  AGENTIC AI  ·  RUNTIME HEALING</a:t>
            </a:r>
          </a:p>
        </p:txBody>
      </p:sp>
      <p:sp>
        <p:nvSpPr>
          <p:cNvPr id="11" name="Cover title"/>
          <p:cNvSpPr txBox="1"/>
          <p:nvPr/>
        </p:nvSpPr>
        <p:spPr>
          <a:xfrm>
            <a:off x="667512" y="1115568"/>
            <a:ext cx="4709160" cy="987552"/>
          </a:xfrm>
          <a:prstGeom prst="rect">
            <a:avLst/>
          </a:prstGeom>
          <a:noFill/>
        </p:spPr>
        <p:txBody>
          <a:bodyPr wrap="square" lIns="0" tIns="0" rIns="0" bIns="0" anchor="t">
            <a:noAutofit/>
          </a:bodyPr>
          <a:lstStyle/>
          <a:p>
            <a:pPr algn="l">
              <a:lnSpc>
                <a:spcPct val="95000"/>
              </a:lnSpc>
            </a:pPr>
            <a:r>
              <a:rPr lang="en-US" sz="3400" b="1" i="0" spc="-150" dirty="0">
                <a:solidFill>
                  <a:srgbClr val="1A1A1E"/>
                </a:solidFill>
                <a:latin typeface="Inter"/>
              </a:rPr>
              <a:t>Self-Healing </a:t>
            </a:r>
            <a:r>
              <a:rPr lang="en-US" sz="3400" b="1" i="0" spc="-150" dirty="0">
                <a:solidFill>
                  <a:srgbClr val="1428A0"/>
                </a:solidFill>
                <a:latin typeface="Inter"/>
              </a:rPr>
              <a:t>AI Agent</a:t>
            </a:r>
          </a:p>
          <a:p>
            <a:pPr algn="l">
              <a:lnSpc>
                <a:spcPct val="95000"/>
              </a:lnSpc>
            </a:pPr>
            <a:r>
              <a:rPr lang="en-US" sz="3400" b="1" i="0" spc="-150" dirty="0">
                <a:solidFill>
                  <a:srgbClr val="1A1A1E"/>
                </a:solidFill>
                <a:latin typeface="Inter"/>
              </a:rPr>
              <a:t>for UI Automation</a:t>
            </a:r>
          </a:p>
        </p:txBody>
      </p:sp>
      <p:sp>
        <p:nvSpPr>
          <p:cNvPr id="12" name="Cover rule"/>
          <p:cNvSpPr/>
          <p:nvPr/>
        </p:nvSpPr>
        <p:spPr>
          <a:xfrm>
            <a:off x="667512" y="2121408"/>
            <a:ext cx="457200" cy="23774"/>
          </a:xfrm>
          <a:prstGeom prst="round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over subtitle"/>
          <p:cNvSpPr txBox="1"/>
          <p:nvPr/>
        </p:nvSpPr>
        <p:spPr>
          <a:xfrm>
            <a:off x="667512" y="2258568"/>
            <a:ext cx="4526280" cy="640080"/>
          </a:xfrm>
          <a:prstGeom prst="rect">
            <a:avLst/>
          </a:prstGeom>
          <a:noFill/>
        </p:spPr>
        <p:txBody>
          <a:bodyPr wrap="square" lIns="0" tIns="0" rIns="0" bIns="0" anchor="t">
            <a:noAutofit/>
          </a:bodyPr>
          <a:lstStyle/>
          <a:p>
            <a:pPr algn="l">
              <a:lnSpc>
                <a:spcPct val="125000"/>
              </a:lnSpc>
            </a:pPr>
            <a:r>
              <a:rPr lang="en-US" sz="1100" b="0" i="0" dirty="0">
                <a:solidFill>
                  <a:srgbClr val="4A5668"/>
                </a:solidFill>
                <a:latin typeface="Inter"/>
              </a:rPr>
              <a:t>The moment an automation step fails, the Healing Agent wakes, finds the moved element with fine-tuned AI and repairs the selector at runtime, on hardware we already own.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Header text"/>
          <p:cNvSpPr txBox="1"/>
          <p:nvPr/>
        </p:nvSpPr>
        <p:spPr>
          <a:xfrm>
            <a:off x="666598" y="80924"/>
            <a:ext cx="7616952" cy="182880"/>
          </a:xfrm>
          <a:prstGeom prst="rect">
            <a:avLst/>
          </a:prstGeom>
          <a:noFill/>
        </p:spPr>
        <p:txBody>
          <a:bodyPr wrap="square" lIns="0" tIns="0" rIns="0" bIns="0" anchor="t">
            <a:noAutofit/>
          </a:bodyPr>
          <a:lstStyle/>
          <a:p>
            <a:pPr algn="l"/>
            <a:r>
              <a:rPr lang="en-US" sz="855" b="1" i="0" spc="21" dirty="0">
                <a:solidFill>
                  <a:srgbClr val="FFFFFF"/>
                </a:solidFill>
                <a:latin typeface="Inter"/>
              </a:rPr>
              <a:t>SAMSUNG SDS</a:t>
            </a:r>
            <a:r>
              <a:rPr lang="en-US" sz="855" b="0" i="0" spc="21" dirty="0">
                <a:solidFill>
                  <a:srgbClr val="B9C6DA"/>
                </a:solidFill>
                <a:latin typeface="Inter"/>
              </a:rPr>
              <a:t>   |   </a:t>
            </a:r>
            <a:r>
              <a:rPr lang="en-US" sz="855" b="1" i="0" spc="21" dirty="0">
                <a:solidFill>
                  <a:srgbClr val="B9C6DA"/>
                </a:solidFill>
                <a:latin typeface="Inter"/>
              </a:rPr>
              <a:t>AGENDA</a:t>
            </a:r>
          </a:p>
        </p:txBody>
      </p:sp>
      <p:sp>
        <p:nvSpPr>
          <p:cNvPr id="5"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10"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02 / 10</a:t>
            </a:r>
          </a:p>
        </p:txBody>
      </p:sp>
      <p:sp>
        <p:nvSpPr>
          <p:cNvPr id="11"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2"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From the problem to the business case, in eight steps.</a:t>
            </a:r>
          </a:p>
        </p:txBody>
      </p:sp>
      <p:sp>
        <p:nvSpPr>
          <p:cNvPr id="13" name="Agenda card 1"/>
          <p:cNvSpPr/>
          <p:nvPr/>
        </p:nvSpPr>
        <p:spPr>
          <a:xfrm>
            <a:off x="667512" y="1207008"/>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Agenda 1 circle"/>
          <p:cNvSpPr/>
          <p:nvPr/>
        </p:nvSpPr>
        <p:spPr>
          <a:xfrm>
            <a:off x="850392" y="1426464"/>
            <a:ext cx="402336" cy="402336"/>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Agenda 1 icon" descr="Lu-siren-FFFFFF.png"/>
          <p:cNvPicPr>
            <a:picLocks noChangeAspect="1"/>
          </p:cNvPicPr>
          <p:nvPr/>
        </p:nvPicPr>
        <p:blipFill>
          <a:blip r:embed="rId3"/>
          <a:stretch>
            <a:fillRect/>
          </a:stretch>
        </p:blipFill>
        <p:spPr>
          <a:xfrm>
            <a:off x="946953" y="1523025"/>
            <a:ext cx="209215" cy="209215"/>
          </a:xfrm>
          <a:prstGeom prst="rect">
            <a:avLst/>
          </a:prstGeom>
        </p:spPr>
      </p:pic>
      <p:sp>
        <p:nvSpPr>
          <p:cNvPr id="16" name="Agenda number 1"/>
          <p:cNvSpPr txBox="1"/>
          <p:nvPr/>
        </p:nvSpPr>
        <p:spPr>
          <a:xfrm>
            <a:off x="1961388" y="1463040"/>
            <a:ext cx="365760" cy="146304"/>
          </a:xfrm>
          <a:prstGeom prst="rect">
            <a:avLst/>
          </a:prstGeom>
          <a:noFill/>
        </p:spPr>
        <p:txBody>
          <a:bodyPr wrap="square" lIns="0" tIns="0" rIns="0" bIns="0" anchor="t">
            <a:noAutofit/>
          </a:bodyPr>
          <a:lstStyle/>
          <a:p>
            <a:pPr algn="r"/>
            <a:r>
              <a:rPr lang="en-US" sz="650" b="1" i="0" dirty="0">
                <a:solidFill>
                  <a:srgbClr val="9A5620"/>
                </a:solidFill>
                <a:latin typeface="JetBrains Mono"/>
              </a:rPr>
              <a:t>01</a:t>
            </a:r>
          </a:p>
        </p:txBody>
      </p:sp>
      <p:sp>
        <p:nvSpPr>
          <p:cNvPr id="17" name="Agenda title 1"/>
          <p:cNvSpPr txBox="1"/>
          <p:nvPr/>
        </p:nvSpPr>
        <p:spPr>
          <a:xfrm>
            <a:off x="850392" y="2029968"/>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The problem</a:t>
            </a:r>
          </a:p>
        </p:txBody>
      </p:sp>
      <p:sp>
        <p:nvSpPr>
          <p:cNvPr id="18" name="Agenda line 1"/>
          <p:cNvSpPr txBox="1"/>
          <p:nvPr/>
        </p:nvSpPr>
        <p:spPr>
          <a:xfrm>
            <a:off x="850392" y="2304288"/>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One renamed field stops a robot.</a:t>
            </a:r>
          </a:p>
        </p:txBody>
      </p:sp>
      <p:sp>
        <p:nvSpPr>
          <p:cNvPr id="19" name="Agenda card 2"/>
          <p:cNvSpPr/>
          <p:nvPr/>
        </p:nvSpPr>
        <p:spPr>
          <a:xfrm>
            <a:off x="2656332" y="1207008"/>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genda 2 circle"/>
          <p:cNvSpPr/>
          <p:nvPr/>
        </p:nvSpPr>
        <p:spPr>
          <a:xfrm>
            <a:off x="2839212" y="1426464"/>
            <a:ext cx="402336" cy="40233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Agenda 2 icon" descr="Lu-bot-FFFFFF.png"/>
          <p:cNvPicPr>
            <a:picLocks noChangeAspect="1"/>
          </p:cNvPicPr>
          <p:nvPr/>
        </p:nvPicPr>
        <p:blipFill>
          <a:blip r:embed="rId4"/>
          <a:stretch>
            <a:fillRect/>
          </a:stretch>
        </p:blipFill>
        <p:spPr>
          <a:xfrm>
            <a:off x="2935773" y="1523025"/>
            <a:ext cx="209215" cy="209215"/>
          </a:xfrm>
          <a:prstGeom prst="rect">
            <a:avLst/>
          </a:prstGeom>
        </p:spPr>
      </p:pic>
      <p:sp>
        <p:nvSpPr>
          <p:cNvPr id="22" name="Agenda number 2"/>
          <p:cNvSpPr txBox="1"/>
          <p:nvPr/>
        </p:nvSpPr>
        <p:spPr>
          <a:xfrm>
            <a:off x="3950208" y="1463040"/>
            <a:ext cx="365760" cy="146304"/>
          </a:xfrm>
          <a:prstGeom prst="rect">
            <a:avLst/>
          </a:prstGeom>
          <a:noFill/>
        </p:spPr>
        <p:txBody>
          <a:bodyPr wrap="square" lIns="0" tIns="0" rIns="0" bIns="0" anchor="t">
            <a:noAutofit/>
          </a:bodyPr>
          <a:lstStyle/>
          <a:p>
            <a:pPr algn="r"/>
            <a:r>
              <a:rPr lang="en-US" sz="650" b="1" i="0" dirty="0">
                <a:solidFill>
                  <a:srgbClr val="1428A0"/>
                </a:solidFill>
                <a:latin typeface="JetBrains Mono"/>
              </a:rPr>
              <a:t>02</a:t>
            </a:r>
          </a:p>
        </p:txBody>
      </p:sp>
      <p:sp>
        <p:nvSpPr>
          <p:cNvPr id="23" name="Agenda title 2"/>
          <p:cNvSpPr txBox="1"/>
          <p:nvPr/>
        </p:nvSpPr>
        <p:spPr>
          <a:xfrm>
            <a:off x="2839212" y="2029968"/>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The Healing Agent</a:t>
            </a:r>
          </a:p>
        </p:txBody>
      </p:sp>
      <p:sp>
        <p:nvSpPr>
          <p:cNvPr id="24" name="Agenda line 2"/>
          <p:cNvSpPr txBox="1"/>
          <p:nvPr/>
        </p:nvSpPr>
        <p:spPr>
          <a:xfrm>
            <a:off x="2839212" y="2304288"/>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Event-driven. Heals at runtime.</a:t>
            </a:r>
          </a:p>
        </p:txBody>
      </p:sp>
      <p:sp>
        <p:nvSpPr>
          <p:cNvPr id="25" name="Agenda card 3"/>
          <p:cNvSpPr/>
          <p:nvPr/>
        </p:nvSpPr>
        <p:spPr>
          <a:xfrm>
            <a:off x="4645152" y="1207008"/>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genda 3 circle"/>
          <p:cNvSpPr/>
          <p:nvPr/>
        </p:nvSpPr>
        <p:spPr>
          <a:xfrm>
            <a:off x="4828032" y="1426464"/>
            <a:ext cx="402336" cy="402336"/>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Agenda 3 icon" descr="Lu-workflow-FFFFFF.png"/>
          <p:cNvPicPr>
            <a:picLocks noChangeAspect="1"/>
          </p:cNvPicPr>
          <p:nvPr/>
        </p:nvPicPr>
        <p:blipFill>
          <a:blip r:embed="rId5"/>
          <a:stretch>
            <a:fillRect/>
          </a:stretch>
        </p:blipFill>
        <p:spPr>
          <a:xfrm>
            <a:off x="4924593" y="1523025"/>
            <a:ext cx="209215" cy="209215"/>
          </a:xfrm>
          <a:prstGeom prst="rect">
            <a:avLst/>
          </a:prstGeom>
        </p:spPr>
      </p:pic>
      <p:sp>
        <p:nvSpPr>
          <p:cNvPr id="28" name="Agenda number 3"/>
          <p:cNvSpPr txBox="1"/>
          <p:nvPr/>
        </p:nvSpPr>
        <p:spPr>
          <a:xfrm>
            <a:off x="5939028" y="1463040"/>
            <a:ext cx="365760" cy="146304"/>
          </a:xfrm>
          <a:prstGeom prst="rect">
            <a:avLst/>
          </a:prstGeom>
          <a:noFill/>
        </p:spPr>
        <p:txBody>
          <a:bodyPr wrap="square" lIns="0" tIns="0" rIns="0" bIns="0" anchor="t">
            <a:noAutofit/>
          </a:bodyPr>
          <a:lstStyle/>
          <a:p>
            <a:pPr algn="r"/>
            <a:r>
              <a:rPr lang="en-US" sz="650" b="1" i="0" dirty="0">
                <a:solidFill>
                  <a:srgbClr val="2A5C9E"/>
                </a:solidFill>
                <a:latin typeface="JetBrains Mono"/>
              </a:rPr>
              <a:t>03</a:t>
            </a:r>
          </a:p>
        </p:txBody>
      </p:sp>
      <p:sp>
        <p:nvSpPr>
          <p:cNvPr id="29" name="Agenda title 3"/>
          <p:cNvSpPr txBox="1"/>
          <p:nvPr/>
        </p:nvSpPr>
        <p:spPr>
          <a:xfrm>
            <a:off x="4828032" y="2029968"/>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Healing flow</a:t>
            </a:r>
          </a:p>
        </p:txBody>
      </p:sp>
      <p:sp>
        <p:nvSpPr>
          <p:cNvPr id="30" name="Agenda line 3"/>
          <p:cNvSpPr txBox="1"/>
          <p:nvPr/>
        </p:nvSpPr>
        <p:spPr>
          <a:xfrm>
            <a:off x="4828032" y="2304288"/>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From failure event to recovery.</a:t>
            </a:r>
          </a:p>
        </p:txBody>
      </p:sp>
      <p:sp>
        <p:nvSpPr>
          <p:cNvPr id="31" name="Agenda card 4"/>
          <p:cNvSpPr/>
          <p:nvPr/>
        </p:nvSpPr>
        <p:spPr>
          <a:xfrm>
            <a:off x="6633972" y="1207008"/>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Agenda 4 circle"/>
          <p:cNvSpPr/>
          <p:nvPr/>
        </p:nvSpPr>
        <p:spPr>
          <a:xfrm>
            <a:off x="6816852" y="1426464"/>
            <a:ext cx="402336" cy="40233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Agenda 4 icon" descr="Lu-server-FFFFFF.png"/>
          <p:cNvPicPr>
            <a:picLocks noChangeAspect="1"/>
          </p:cNvPicPr>
          <p:nvPr/>
        </p:nvPicPr>
        <p:blipFill>
          <a:blip r:embed="rId6"/>
          <a:stretch>
            <a:fillRect/>
          </a:stretch>
        </p:blipFill>
        <p:spPr>
          <a:xfrm>
            <a:off x="6913413" y="1523025"/>
            <a:ext cx="209215" cy="209215"/>
          </a:xfrm>
          <a:prstGeom prst="rect">
            <a:avLst/>
          </a:prstGeom>
        </p:spPr>
      </p:pic>
      <p:sp>
        <p:nvSpPr>
          <p:cNvPr id="34" name="Agenda number 4"/>
          <p:cNvSpPr txBox="1"/>
          <p:nvPr/>
        </p:nvSpPr>
        <p:spPr>
          <a:xfrm>
            <a:off x="7927848" y="1463040"/>
            <a:ext cx="365760" cy="146304"/>
          </a:xfrm>
          <a:prstGeom prst="rect">
            <a:avLst/>
          </a:prstGeom>
          <a:noFill/>
        </p:spPr>
        <p:txBody>
          <a:bodyPr wrap="square" lIns="0" tIns="0" rIns="0" bIns="0" anchor="t">
            <a:noAutofit/>
          </a:bodyPr>
          <a:lstStyle/>
          <a:p>
            <a:pPr algn="r"/>
            <a:r>
              <a:rPr lang="en-US" sz="650" b="1" i="0" dirty="0">
                <a:solidFill>
                  <a:srgbClr val="1428A0"/>
                </a:solidFill>
                <a:latin typeface="JetBrains Mono"/>
              </a:rPr>
              <a:t>04</a:t>
            </a:r>
          </a:p>
        </p:txBody>
      </p:sp>
      <p:sp>
        <p:nvSpPr>
          <p:cNvPr id="35" name="Agenda title 4"/>
          <p:cNvSpPr txBox="1"/>
          <p:nvPr/>
        </p:nvSpPr>
        <p:spPr>
          <a:xfrm>
            <a:off x="6816852" y="2029968"/>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Architecture</a:t>
            </a:r>
          </a:p>
        </p:txBody>
      </p:sp>
      <p:sp>
        <p:nvSpPr>
          <p:cNvPr id="36" name="Agenda line 4"/>
          <p:cNvSpPr txBox="1"/>
          <p:nvPr/>
        </p:nvSpPr>
        <p:spPr>
          <a:xfrm>
            <a:off x="6816852" y="2304288"/>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One GPU host, shared RAG memory.</a:t>
            </a:r>
          </a:p>
        </p:txBody>
      </p:sp>
      <p:sp>
        <p:nvSpPr>
          <p:cNvPr id="37" name="Agenda card 5"/>
          <p:cNvSpPr/>
          <p:nvPr/>
        </p:nvSpPr>
        <p:spPr>
          <a:xfrm>
            <a:off x="667512" y="2916936"/>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Agenda 5 circle"/>
          <p:cNvSpPr/>
          <p:nvPr/>
        </p:nvSpPr>
        <p:spPr>
          <a:xfrm>
            <a:off x="850392" y="3136392"/>
            <a:ext cx="402336" cy="402336"/>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Agenda 5 icon" descr="Lu-brain-FFFFFF.png"/>
          <p:cNvPicPr>
            <a:picLocks noChangeAspect="1"/>
          </p:cNvPicPr>
          <p:nvPr/>
        </p:nvPicPr>
        <p:blipFill>
          <a:blip r:embed="rId7"/>
          <a:stretch>
            <a:fillRect/>
          </a:stretch>
        </p:blipFill>
        <p:spPr>
          <a:xfrm>
            <a:off x="946953" y="3232953"/>
            <a:ext cx="209215" cy="209215"/>
          </a:xfrm>
          <a:prstGeom prst="rect">
            <a:avLst/>
          </a:prstGeom>
        </p:spPr>
      </p:pic>
      <p:sp>
        <p:nvSpPr>
          <p:cNvPr id="40" name="Agenda number 5"/>
          <p:cNvSpPr txBox="1"/>
          <p:nvPr/>
        </p:nvSpPr>
        <p:spPr>
          <a:xfrm>
            <a:off x="1961388" y="3172968"/>
            <a:ext cx="365760" cy="146304"/>
          </a:xfrm>
          <a:prstGeom prst="rect">
            <a:avLst/>
          </a:prstGeom>
          <a:noFill/>
        </p:spPr>
        <p:txBody>
          <a:bodyPr wrap="square" lIns="0" tIns="0" rIns="0" bIns="0" anchor="t">
            <a:noAutofit/>
          </a:bodyPr>
          <a:lstStyle/>
          <a:p>
            <a:pPr algn="r"/>
            <a:r>
              <a:rPr lang="en-US" sz="650" b="1" i="0" dirty="0">
                <a:solidFill>
                  <a:srgbClr val="2A5C9E"/>
                </a:solidFill>
                <a:latin typeface="JetBrains Mono"/>
              </a:rPr>
              <a:t>05</a:t>
            </a:r>
          </a:p>
        </p:txBody>
      </p:sp>
      <p:sp>
        <p:nvSpPr>
          <p:cNvPr id="41" name="Agenda title 5"/>
          <p:cNvSpPr txBox="1"/>
          <p:nvPr/>
        </p:nvSpPr>
        <p:spPr>
          <a:xfrm>
            <a:off x="850392" y="3739896"/>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AI &amp; fine-tuning</a:t>
            </a:r>
          </a:p>
        </p:txBody>
      </p:sp>
      <p:sp>
        <p:nvSpPr>
          <p:cNvPr id="42" name="Agenda line 5"/>
          <p:cNvSpPr txBox="1"/>
          <p:nvPr/>
        </p:nvSpPr>
        <p:spPr>
          <a:xfrm>
            <a:off x="850392" y="4014216"/>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Trained on 758k real breakages.</a:t>
            </a:r>
          </a:p>
        </p:txBody>
      </p:sp>
      <p:sp>
        <p:nvSpPr>
          <p:cNvPr id="43" name="Agenda card 6"/>
          <p:cNvSpPr/>
          <p:nvPr/>
        </p:nvSpPr>
        <p:spPr>
          <a:xfrm>
            <a:off x="2656332" y="2916936"/>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Agenda 6 circle"/>
          <p:cNvSpPr/>
          <p:nvPr/>
        </p:nvSpPr>
        <p:spPr>
          <a:xfrm>
            <a:off x="2839212" y="3136392"/>
            <a:ext cx="402336" cy="402336"/>
          </a:xfrm>
          <a:prstGeom prst="ellipse">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Agenda 6 icon" descr="Lu-monitor-play-FFFFFF.png"/>
          <p:cNvPicPr>
            <a:picLocks noChangeAspect="1"/>
          </p:cNvPicPr>
          <p:nvPr/>
        </p:nvPicPr>
        <p:blipFill>
          <a:blip r:embed="rId8"/>
          <a:stretch>
            <a:fillRect/>
          </a:stretch>
        </p:blipFill>
        <p:spPr>
          <a:xfrm>
            <a:off x="2935773" y="3232953"/>
            <a:ext cx="209215" cy="209215"/>
          </a:xfrm>
          <a:prstGeom prst="rect">
            <a:avLst/>
          </a:prstGeom>
        </p:spPr>
      </p:pic>
      <p:sp>
        <p:nvSpPr>
          <p:cNvPr id="46" name="Agenda number 6"/>
          <p:cNvSpPr txBox="1"/>
          <p:nvPr/>
        </p:nvSpPr>
        <p:spPr>
          <a:xfrm>
            <a:off x="3950208" y="3172968"/>
            <a:ext cx="365760" cy="146304"/>
          </a:xfrm>
          <a:prstGeom prst="rect">
            <a:avLst/>
          </a:prstGeom>
          <a:noFill/>
        </p:spPr>
        <p:txBody>
          <a:bodyPr wrap="square" lIns="0" tIns="0" rIns="0" bIns="0" anchor="t">
            <a:noAutofit/>
          </a:bodyPr>
          <a:lstStyle/>
          <a:p>
            <a:pPr algn="r"/>
            <a:r>
              <a:rPr lang="en-US" sz="650" b="1" i="0" dirty="0">
                <a:solidFill>
                  <a:srgbClr val="1A2340"/>
                </a:solidFill>
                <a:latin typeface="JetBrains Mono"/>
              </a:rPr>
              <a:t>06</a:t>
            </a:r>
          </a:p>
        </p:txBody>
      </p:sp>
      <p:sp>
        <p:nvSpPr>
          <p:cNvPr id="47" name="Agenda title 6"/>
          <p:cNvSpPr txBox="1"/>
          <p:nvPr/>
        </p:nvSpPr>
        <p:spPr>
          <a:xfrm>
            <a:off x="2839212" y="3739896"/>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Live demo</a:t>
            </a:r>
          </a:p>
        </p:txBody>
      </p:sp>
      <p:sp>
        <p:nvSpPr>
          <p:cNvPr id="48" name="Agenda line 6"/>
          <p:cNvSpPr txBox="1"/>
          <p:nvPr/>
        </p:nvSpPr>
        <p:spPr>
          <a:xfrm>
            <a:off x="2839212" y="4014216"/>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Watch a release break, then heal.</a:t>
            </a:r>
          </a:p>
        </p:txBody>
      </p:sp>
      <p:sp>
        <p:nvSpPr>
          <p:cNvPr id="49" name="Agenda card 7"/>
          <p:cNvSpPr/>
          <p:nvPr/>
        </p:nvSpPr>
        <p:spPr>
          <a:xfrm>
            <a:off x="4645152" y="2916936"/>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Agenda 7 circle"/>
          <p:cNvSpPr/>
          <p:nvPr/>
        </p:nvSpPr>
        <p:spPr>
          <a:xfrm>
            <a:off x="4828032" y="3136392"/>
            <a:ext cx="402336" cy="402336"/>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Agenda 7 icon" descr="Lu-check-FFFFFF.png"/>
          <p:cNvPicPr>
            <a:picLocks noChangeAspect="1"/>
          </p:cNvPicPr>
          <p:nvPr/>
        </p:nvPicPr>
        <p:blipFill>
          <a:blip r:embed="rId9"/>
          <a:stretch>
            <a:fillRect/>
          </a:stretch>
        </p:blipFill>
        <p:spPr>
          <a:xfrm>
            <a:off x="4924593" y="3232953"/>
            <a:ext cx="209215" cy="209215"/>
          </a:xfrm>
          <a:prstGeom prst="rect">
            <a:avLst/>
          </a:prstGeom>
        </p:spPr>
      </p:pic>
      <p:sp>
        <p:nvSpPr>
          <p:cNvPr id="52" name="Agenda number 7"/>
          <p:cNvSpPr txBox="1"/>
          <p:nvPr/>
        </p:nvSpPr>
        <p:spPr>
          <a:xfrm>
            <a:off x="5939028" y="3172968"/>
            <a:ext cx="365760" cy="146304"/>
          </a:xfrm>
          <a:prstGeom prst="rect">
            <a:avLst/>
          </a:prstGeom>
          <a:noFill/>
        </p:spPr>
        <p:txBody>
          <a:bodyPr wrap="square" lIns="0" tIns="0" rIns="0" bIns="0" anchor="t">
            <a:noAutofit/>
          </a:bodyPr>
          <a:lstStyle/>
          <a:p>
            <a:pPr algn="r"/>
            <a:r>
              <a:rPr lang="en-US" sz="650" b="1" i="0" dirty="0">
                <a:solidFill>
                  <a:srgbClr val="4A6E24"/>
                </a:solidFill>
                <a:latin typeface="JetBrains Mono"/>
              </a:rPr>
              <a:t>07</a:t>
            </a:r>
          </a:p>
        </p:txBody>
      </p:sp>
      <p:sp>
        <p:nvSpPr>
          <p:cNvPr id="53" name="Agenda title 7"/>
          <p:cNvSpPr txBox="1"/>
          <p:nvPr/>
        </p:nvSpPr>
        <p:spPr>
          <a:xfrm>
            <a:off x="4828032" y="3739896"/>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Benefits</a:t>
            </a:r>
          </a:p>
        </p:txBody>
      </p:sp>
      <p:sp>
        <p:nvSpPr>
          <p:cNvPr id="54" name="Agenda line 7"/>
          <p:cNvSpPr txBox="1"/>
          <p:nvPr/>
        </p:nvSpPr>
        <p:spPr>
          <a:xfrm>
            <a:off x="4828032" y="4014216"/>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For the business and for engineering.</a:t>
            </a:r>
          </a:p>
        </p:txBody>
      </p:sp>
      <p:sp>
        <p:nvSpPr>
          <p:cNvPr id="55" name="Agenda card 8"/>
          <p:cNvSpPr/>
          <p:nvPr/>
        </p:nvSpPr>
        <p:spPr>
          <a:xfrm>
            <a:off x="6633972" y="2916936"/>
            <a:ext cx="1842516" cy="1527048"/>
          </a:xfrm>
          <a:prstGeom prst="roundRect">
            <a:avLst>
              <a:gd name="adj" fmla="val 3664"/>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Agenda 8 circle"/>
          <p:cNvSpPr/>
          <p:nvPr/>
        </p:nvSpPr>
        <p:spPr>
          <a:xfrm>
            <a:off x="6816852" y="3136392"/>
            <a:ext cx="402336" cy="402336"/>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Agenda 8 icon" descr="Lu-indian-rupee-FFFFFF.png"/>
          <p:cNvPicPr>
            <a:picLocks noChangeAspect="1"/>
          </p:cNvPicPr>
          <p:nvPr/>
        </p:nvPicPr>
        <p:blipFill>
          <a:blip r:embed="rId10"/>
          <a:stretch>
            <a:fillRect/>
          </a:stretch>
        </p:blipFill>
        <p:spPr>
          <a:xfrm>
            <a:off x="6913413" y="3232953"/>
            <a:ext cx="209215" cy="209215"/>
          </a:xfrm>
          <a:prstGeom prst="rect">
            <a:avLst/>
          </a:prstGeom>
        </p:spPr>
      </p:pic>
      <p:sp>
        <p:nvSpPr>
          <p:cNvPr id="58" name="Agenda number 8"/>
          <p:cNvSpPr txBox="1"/>
          <p:nvPr/>
        </p:nvSpPr>
        <p:spPr>
          <a:xfrm>
            <a:off x="7927848" y="3172968"/>
            <a:ext cx="365760" cy="146304"/>
          </a:xfrm>
          <a:prstGeom prst="rect">
            <a:avLst/>
          </a:prstGeom>
          <a:noFill/>
        </p:spPr>
        <p:txBody>
          <a:bodyPr wrap="square" lIns="0" tIns="0" rIns="0" bIns="0" anchor="t">
            <a:noAutofit/>
          </a:bodyPr>
          <a:lstStyle/>
          <a:p>
            <a:pPr algn="r"/>
            <a:r>
              <a:rPr lang="en-US" sz="650" b="1" i="0" dirty="0">
                <a:solidFill>
                  <a:srgbClr val="4A6E24"/>
                </a:solidFill>
                <a:latin typeface="JetBrains Mono"/>
              </a:rPr>
              <a:t>08</a:t>
            </a:r>
          </a:p>
        </p:txBody>
      </p:sp>
      <p:sp>
        <p:nvSpPr>
          <p:cNvPr id="59" name="Agenda title 8"/>
          <p:cNvSpPr txBox="1"/>
          <p:nvPr/>
        </p:nvSpPr>
        <p:spPr>
          <a:xfrm>
            <a:off x="6816852" y="3739896"/>
            <a:ext cx="1476756" cy="219456"/>
          </a:xfrm>
          <a:prstGeom prst="rect">
            <a:avLst/>
          </a:prstGeom>
          <a:noFill/>
        </p:spPr>
        <p:txBody>
          <a:bodyPr wrap="square" lIns="0" tIns="0" rIns="0" bIns="0" anchor="t">
            <a:noAutofit/>
          </a:bodyPr>
          <a:lstStyle/>
          <a:p>
            <a:pPr algn="l"/>
            <a:r>
              <a:rPr lang="en-US" sz="1200" b="1" i="0" dirty="0">
                <a:solidFill>
                  <a:srgbClr val="1A1A1E"/>
                </a:solidFill>
                <a:latin typeface="Inter"/>
              </a:rPr>
              <a:t>Commercial case</a:t>
            </a:r>
          </a:p>
        </p:txBody>
      </p:sp>
      <p:sp>
        <p:nvSpPr>
          <p:cNvPr id="60" name="Agenda line 8"/>
          <p:cNvSpPr txBox="1"/>
          <p:nvPr/>
        </p:nvSpPr>
        <p:spPr>
          <a:xfrm>
            <a:off x="6816852" y="4014216"/>
            <a:ext cx="1476756" cy="329184"/>
          </a:xfrm>
          <a:prstGeom prst="rect">
            <a:avLst/>
          </a:prstGeom>
          <a:noFill/>
        </p:spPr>
        <p:txBody>
          <a:bodyPr wrap="square" lIns="0" tIns="0" rIns="0" bIns="0" anchor="t">
            <a:noAutofit/>
          </a:bodyPr>
          <a:lstStyle/>
          <a:p>
            <a:pPr algn="l"/>
            <a:r>
              <a:rPr lang="en-US" sz="900" b="0" i="0" dirty="0">
                <a:solidFill>
                  <a:srgbClr val="4A5668"/>
                </a:solidFill>
                <a:latin typeface="Inter"/>
              </a:rPr>
              <a:t>~16,800 engineer-hours back a year.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a:solidFill>
                  <a:srgbClr val="FFFFFF"/>
                </a:solidFill>
                <a:latin typeface="Inter"/>
              </a:rPr>
              <a:t>SAMSUNG SDS</a:t>
            </a:r>
            <a:r>
              <a:rPr sz="855" b="0" i="0" spc="21">
                <a:solidFill>
                  <a:srgbClr val="B9C6DA"/>
                </a:solidFill>
                <a:latin typeface="Inter"/>
              </a:rPr>
              <a:t>   |   </a:t>
            </a:r>
            <a:r>
              <a:rPr sz="855" b="1" i="0" spc="21">
                <a:solidFill>
                  <a:srgbClr val="B9C6DA"/>
                </a:solidFill>
                <a:latin typeface="Inter"/>
              </a:rPr>
              <a:t>USE CASE  ·  PROBLEM STATEMENT &amp; SCOPE</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03 / 10</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Even a minor UI change can disrupt an entire automation.</a:t>
            </a:r>
            <a:endParaRPr sz="2000" b="1" i="0" spc="-60" dirty="0">
              <a:solidFill>
                <a:srgbClr val="1A1A1E"/>
              </a:solidFill>
              <a:latin typeface="Inter"/>
            </a:endParaRP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sz="950" b="0" i="0" dirty="0">
                <a:solidFill>
                  <a:srgbClr val="4A5668"/>
                </a:solidFill>
                <a:latin typeface="Inter"/>
              </a:rPr>
              <a:t>A renamed field stops the robot, even though the field is still there.</a:t>
            </a:r>
          </a:p>
        </p:txBody>
      </p:sp>
      <p:sp>
        <p:nvSpPr>
          <p:cNvPr id="13" name="TextBox 12"/>
          <p:cNvSpPr txBox="1"/>
          <p:nvPr/>
        </p:nvSpPr>
        <p:spPr>
          <a:xfrm>
            <a:off x="667512" y="1276685"/>
            <a:ext cx="5687568" cy="177211"/>
          </a:xfrm>
          <a:prstGeom prst="rect">
            <a:avLst/>
          </a:prstGeom>
          <a:noFill/>
        </p:spPr>
        <p:txBody>
          <a:bodyPr wrap="square" lIns="0" tIns="0" rIns="0" bIns="0" anchor="t">
            <a:noAutofit/>
          </a:bodyPr>
          <a:lstStyle/>
          <a:p>
            <a:pPr algn="l"/>
            <a:r>
              <a:rPr sz="900" b="1" i="0" spc="90" dirty="0">
                <a:solidFill>
                  <a:schemeClr val="accent1">
                    <a:lumMod val="75000"/>
                  </a:schemeClr>
                </a:solidFill>
                <a:latin typeface="Inter"/>
              </a:rPr>
              <a:t>ONE BROKEN SELECTOR, FIXED BY HAND</a:t>
            </a:r>
          </a:p>
        </p:txBody>
      </p:sp>
      <p:sp>
        <p:nvSpPr>
          <p:cNvPr id="14" name="Rounded Rectangle 13"/>
          <p:cNvSpPr/>
          <p:nvPr/>
        </p:nvSpPr>
        <p:spPr>
          <a:xfrm>
            <a:off x="667512"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13816"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uSiren_w.png"/>
          <p:cNvPicPr>
            <a:picLocks noChangeAspect="1"/>
          </p:cNvPicPr>
          <p:nvPr/>
        </p:nvPicPr>
        <p:blipFill>
          <a:blip r:embed="rId3"/>
          <a:stretch>
            <a:fillRect/>
          </a:stretch>
        </p:blipFill>
        <p:spPr>
          <a:xfrm>
            <a:off x="897209" y="1747601"/>
            <a:ext cx="180685" cy="180685"/>
          </a:xfrm>
          <a:prstGeom prst="rect">
            <a:avLst/>
          </a:prstGeom>
        </p:spPr>
      </p:pic>
      <p:sp>
        <p:nvSpPr>
          <p:cNvPr id="17" name="TextBox 16"/>
          <p:cNvSpPr txBox="1"/>
          <p:nvPr/>
        </p:nvSpPr>
        <p:spPr>
          <a:xfrm>
            <a:off x="1252728"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Failure</a:t>
            </a:r>
          </a:p>
        </p:txBody>
      </p:sp>
      <p:sp>
        <p:nvSpPr>
          <p:cNvPr id="18" name="TextBox 17"/>
          <p:cNvSpPr txBox="1"/>
          <p:nvPr/>
        </p:nvSpPr>
        <p:spPr>
          <a:xfrm>
            <a:off x="2039112"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01</a:t>
            </a:r>
          </a:p>
        </p:txBody>
      </p:sp>
      <p:sp>
        <p:nvSpPr>
          <p:cNvPr id="20" name="TextBox 19"/>
          <p:cNvSpPr txBox="1"/>
          <p:nvPr/>
        </p:nvSpPr>
        <p:spPr>
          <a:xfrm>
            <a:off x="813816" y="2103120"/>
            <a:ext cx="1536192" cy="256032"/>
          </a:xfrm>
          <a:prstGeom prst="rect">
            <a:avLst/>
          </a:prstGeom>
          <a:noFill/>
        </p:spPr>
        <p:txBody>
          <a:bodyPr wrap="square" lIns="0" tIns="0" rIns="0" bIns="0" anchor="t">
            <a:noAutofit/>
          </a:bodyPr>
          <a:lstStyle/>
          <a:p>
            <a:pPr algn="l"/>
            <a:r>
              <a:rPr sz="1500" b="1" i="0" spc="-20" dirty="0">
                <a:solidFill>
                  <a:srgbClr val="C1702D"/>
                </a:solidFill>
                <a:latin typeface="Inter"/>
              </a:rPr>
              <a:t>4</a:t>
            </a:r>
            <a:r>
              <a:rPr lang="en-US" sz="1500" b="1" i="0" spc="-20" dirty="0">
                <a:solidFill>
                  <a:srgbClr val="C1702D"/>
                </a:solidFill>
                <a:latin typeface="Inter"/>
              </a:rPr>
              <a:t>-8</a:t>
            </a:r>
            <a:r>
              <a:rPr sz="1500" b="1" i="0" spc="-20" dirty="0">
                <a:solidFill>
                  <a:srgbClr val="C1702D"/>
                </a:solidFill>
                <a:latin typeface="Inter"/>
              </a:rPr>
              <a:t> h</a:t>
            </a:r>
            <a:r>
              <a:rPr sz="800" b="0" i="0" dirty="0">
                <a:solidFill>
                  <a:srgbClr val="5A6472"/>
                </a:solidFill>
                <a:latin typeface="Inter"/>
              </a:rPr>
              <a:t>  to notice</a:t>
            </a:r>
          </a:p>
        </p:txBody>
      </p:sp>
      <p:pic>
        <p:nvPicPr>
          <p:cNvPr id="21" name="Picture 20" descr="LuArrowRight_m.png"/>
          <p:cNvPicPr>
            <a:picLocks noChangeAspect="1"/>
          </p:cNvPicPr>
          <p:nvPr/>
        </p:nvPicPr>
        <p:blipFill>
          <a:blip r:embed="rId4"/>
          <a:stretch>
            <a:fillRect/>
          </a:stretch>
        </p:blipFill>
        <p:spPr>
          <a:xfrm>
            <a:off x="2514600" y="1920240"/>
            <a:ext cx="128016" cy="128016"/>
          </a:xfrm>
          <a:prstGeom prst="rect">
            <a:avLst/>
          </a:prstGeom>
        </p:spPr>
      </p:pic>
      <p:sp>
        <p:nvSpPr>
          <p:cNvPr id="22" name="Rounded Rectangle 21"/>
          <p:cNvSpPr/>
          <p:nvPr/>
        </p:nvSpPr>
        <p:spPr>
          <a:xfrm>
            <a:off x="2660904"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807208"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LuSearch_w.png"/>
          <p:cNvPicPr>
            <a:picLocks noChangeAspect="1"/>
          </p:cNvPicPr>
          <p:nvPr/>
        </p:nvPicPr>
        <p:blipFill>
          <a:blip r:embed="rId5"/>
          <a:stretch>
            <a:fillRect/>
          </a:stretch>
        </p:blipFill>
        <p:spPr>
          <a:xfrm>
            <a:off x="2890601" y="1747601"/>
            <a:ext cx="180685" cy="180685"/>
          </a:xfrm>
          <a:prstGeom prst="rect">
            <a:avLst/>
          </a:prstGeom>
        </p:spPr>
      </p:pic>
      <p:sp>
        <p:nvSpPr>
          <p:cNvPr id="25" name="TextBox 24"/>
          <p:cNvSpPr txBox="1"/>
          <p:nvPr/>
        </p:nvSpPr>
        <p:spPr>
          <a:xfrm>
            <a:off x="3246120"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Triage</a:t>
            </a:r>
          </a:p>
        </p:txBody>
      </p:sp>
      <p:sp>
        <p:nvSpPr>
          <p:cNvPr id="26" name="TextBox 25"/>
          <p:cNvSpPr txBox="1"/>
          <p:nvPr/>
        </p:nvSpPr>
        <p:spPr>
          <a:xfrm>
            <a:off x="4032504"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02</a:t>
            </a:r>
          </a:p>
        </p:txBody>
      </p:sp>
      <p:sp>
        <p:nvSpPr>
          <p:cNvPr id="28" name="TextBox 27"/>
          <p:cNvSpPr txBox="1"/>
          <p:nvPr/>
        </p:nvSpPr>
        <p:spPr>
          <a:xfrm>
            <a:off x="2807208" y="2103120"/>
            <a:ext cx="1536192" cy="256032"/>
          </a:xfrm>
          <a:prstGeom prst="rect">
            <a:avLst/>
          </a:prstGeom>
          <a:noFill/>
        </p:spPr>
        <p:txBody>
          <a:bodyPr wrap="square" lIns="0" tIns="0" rIns="0" bIns="0" anchor="t">
            <a:noAutofit/>
          </a:bodyPr>
          <a:lstStyle/>
          <a:p>
            <a:pPr algn="l"/>
            <a:r>
              <a:rPr lang="en-US" sz="1500" b="1" i="0" spc="-20" dirty="0">
                <a:solidFill>
                  <a:srgbClr val="C1702D"/>
                </a:solidFill>
                <a:latin typeface="Inter"/>
              </a:rPr>
              <a:t>30-</a:t>
            </a:r>
            <a:r>
              <a:rPr sz="1500" b="1" i="0" spc="-20" dirty="0">
                <a:solidFill>
                  <a:srgbClr val="C1702D"/>
                </a:solidFill>
                <a:latin typeface="Inter"/>
              </a:rPr>
              <a:t>45 min</a:t>
            </a:r>
            <a:r>
              <a:rPr sz="800" b="0" i="0" dirty="0">
                <a:solidFill>
                  <a:srgbClr val="5A6472"/>
                </a:solidFill>
                <a:latin typeface="Inter"/>
              </a:rPr>
              <a:t>  to diagnose</a:t>
            </a:r>
          </a:p>
        </p:txBody>
      </p:sp>
      <p:pic>
        <p:nvPicPr>
          <p:cNvPr id="29" name="Picture 28" descr="LuArrowRight_m.png"/>
          <p:cNvPicPr>
            <a:picLocks noChangeAspect="1"/>
          </p:cNvPicPr>
          <p:nvPr/>
        </p:nvPicPr>
        <p:blipFill>
          <a:blip r:embed="rId4"/>
          <a:stretch>
            <a:fillRect/>
          </a:stretch>
        </p:blipFill>
        <p:spPr>
          <a:xfrm>
            <a:off x="4507992" y="1920240"/>
            <a:ext cx="128016" cy="128016"/>
          </a:xfrm>
          <a:prstGeom prst="rect">
            <a:avLst/>
          </a:prstGeom>
        </p:spPr>
      </p:pic>
      <p:sp>
        <p:nvSpPr>
          <p:cNvPr id="30" name="Rounded Rectangle 29"/>
          <p:cNvSpPr/>
          <p:nvPr/>
        </p:nvSpPr>
        <p:spPr>
          <a:xfrm>
            <a:off x="4654296"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800600"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LuWrench_w.png"/>
          <p:cNvPicPr>
            <a:picLocks noChangeAspect="1"/>
          </p:cNvPicPr>
          <p:nvPr/>
        </p:nvPicPr>
        <p:blipFill>
          <a:blip r:embed="rId6"/>
          <a:stretch>
            <a:fillRect/>
          </a:stretch>
        </p:blipFill>
        <p:spPr>
          <a:xfrm>
            <a:off x="4883993" y="1747601"/>
            <a:ext cx="180685" cy="180685"/>
          </a:xfrm>
          <a:prstGeom prst="rect">
            <a:avLst/>
          </a:prstGeom>
        </p:spPr>
      </p:pic>
      <p:sp>
        <p:nvSpPr>
          <p:cNvPr id="33" name="TextBox 32"/>
          <p:cNvSpPr txBox="1"/>
          <p:nvPr/>
        </p:nvSpPr>
        <p:spPr>
          <a:xfrm>
            <a:off x="5239512"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Repair</a:t>
            </a:r>
          </a:p>
        </p:txBody>
      </p:sp>
      <p:sp>
        <p:nvSpPr>
          <p:cNvPr id="34" name="TextBox 33"/>
          <p:cNvSpPr txBox="1"/>
          <p:nvPr/>
        </p:nvSpPr>
        <p:spPr>
          <a:xfrm>
            <a:off x="6025896"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03</a:t>
            </a:r>
          </a:p>
        </p:txBody>
      </p:sp>
      <p:sp>
        <p:nvSpPr>
          <p:cNvPr id="36" name="TextBox 35"/>
          <p:cNvSpPr txBox="1"/>
          <p:nvPr/>
        </p:nvSpPr>
        <p:spPr>
          <a:xfrm>
            <a:off x="4800600" y="2103120"/>
            <a:ext cx="1536192" cy="256032"/>
          </a:xfrm>
          <a:prstGeom prst="rect">
            <a:avLst/>
          </a:prstGeom>
          <a:noFill/>
        </p:spPr>
        <p:txBody>
          <a:bodyPr wrap="square" lIns="0" tIns="0" rIns="0" bIns="0" anchor="t">
            <a:noAutofit/>
          </a:bodyPr>
          <a:lstStyle/>
          <a:p>
            <a:pPr algn="l"/>
            <a:r>
              <a:rPr sz="1500" b="1" i="0" spc="-20" dirty="0">
                <a:solidFill>
                  <a:srgbClr val="C1702D"/>
                </a:solidFill>
                <a:latin typeface="Inter"/>
              </a:rPr>
              <a:t>2</a:t>
            </a:r>
            <a:r>
              <a:rPr lang="en-US" sz="1500" b="1" spc="-20" dirty="0">
                <a:solidFill>
                  <a:srgbClr val="C1702D"/>
                </a:solidFill>
                <a:latin typeface="Inter"/>
              </a:rPr>
              <a:t>-</a:t>
            </a:r>
            <a:r>
              <a:rPr sz="1500" b="1" i="0" spc="-20" dirty="0">
                <a:solidFill>
                  <a:srgbClr val="C1702D"/>
                </a:solidFill>
                <a:latin typeface="Inter"/>
              </a:rPr>
              <a:t>4 h</a:t>
            </a:r>
            <a:r>
              <a:rPr sz="800" b="0" i="0" dirty="0">
                <a:solidFill>
                  <a:srgbClr val="5A6472"/>
                </a:solidFill>
                <a:latin typeface="Inter"/>
              </a:rPr>
              <a:t>  to fix</a:t>
            </a:r>
          </a:p>
        </p:txBody>
      </p:sp>
      <p:pic>
        <p:nvPicPr>
          <p:cNvPr id="37" name="Picture 36" descr="LuArrowRight_m.png"/>
          <p:cNvPicPr>
            <a:picLocks noChangeAspect="1"/>
          </p:cNvPicPr>
          <p:nvPr/>
        </p:nvPicPr>
        <p:blipFill>
          <a:blip r:embed="rId4"/>
          <a:stretch>
            <a:fillRect/>
          </a:stretch>
        </p:blipFill>
        <p:spPr>
          <a:xfrm>
            <a:off x="6501384" y="1920240"/>
            <a:ext cx="128016" cy="128016"/>
          </a:xfrm>
          <a:prstGeom prst="rect">
            <a:avLst/>
          </a:prstGeom>
        </p:spPr>
      </p:pic>
      <p:sp>
        <p:nvSpPr>
          <p:cNvPr id="38" name="Rounded Rectangle 37"/>
          <p:cNvSpPr/>
          <p:nvPr/>
        </p:nvSpPr>
        <p:spPr>
          <a:xfrm>
            <a:off x="6647688" y="1517904"/>
            <a:ext cx="1828800" cy="93268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793992" y="1664208"/>
            <a:ext cx="347472" cy="347472"/>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LuRocket_w.png"/>
          <p:cNvPicPr>
            <a:picLocks noChangeAspect="1"/>
          </p:cNvPicPr>
          <p:nvPr/>
        </p:nvPicPr>
        <p:blipFill>
          <a:blip r:embed="rId7"/>
          <a:stretch>
            <a:fillRect/>
          </a:stretch>
        </p:blipFill>
        <p:spPr>
          <a:xfrm>
            <a:off x="6877385" y="1747601"/>
            <a:ext cx="180685" cy="180685"/>
          </a:xfrm>
          <a:prstGeom prst="rect">
            <a:avLst/>
          </a:prstGeom>
        </p:spPr>
      </p:pic>
      <p:sp>
        <p:nvSpPr>
          <p:cNvPr id="41" name="TextBox 40"/>
          <p:cNvSpPr txBox="1"/>
          <p:nvPr/>
        </p:nvSpPr>
        <p:spPr>
          <a:xfrm>
            <a:off x="7232904" y="1700784"/>
            <a:ext cx="1097280" cy="182880"/>
          </a:xfrm>
          <a:prstGeom prst="rect">
            <a:avLst/>
          </a:prstGeom>
          <a:noFill/>
        </p:spPr>
        <p:txBody>
          <a:bodyPr wrap="square" lIns="0" tIns="0" rIns="0" bIns="0" anchor="t">
            <a:noAutofit/>
          </a:bodyPr>
          <a:lstStyle/>
          <a:p>
            <a:pPr algn="l"/>
            <a:r>
              <a:rPr sz="1150" b="1" i="0">
                <a:solidFill>
                  <a:srgbClr val="1A1A1E"/>
                </a:solidFill>
                <a:latin typeface="Inter"/>
              </a:rPr>
              <a:t>Redeploy</a:t>
            </a:r>
          </a:p>
        </p:txBody>
      </p:sp>
      <p:sp>
        <p:nvSpPr>
          <p:cNvPr id="42" name="TextBox 41"/>
          <p:cNvSpPr txBox="1"/>
          <p:nvPr/>
        </p:nvSpPr>
        <p:spPr>
          <a:xfrm>
            <a:off x="8019288" y="1700784"/>
            <a:ext cx="310896" cy="146304"/>
          </a:xfrm>
          <a:prstGeom prst="rect">
            <a:avLst/>
          </a:prstGeom>
          <a:noFill/>
        </p:spPr>
        <p:txBody>
          <a:bodyPr wrap="square" lIns="0" tIns="0" rIns="0" bIns="0" anchor="t">
            <a:noAutofit/>
          </a:bodyPr>
          <a:lstStyle/>
          <a:p>
            <a:pPr algn="r"/>
            <a:r>
              <a:rPr sz="650" b="1" i="0">
                <a:solidFill>
                  <a:srgbClr val="9A5620"/>
                </a:solidFill>
                <a:latin typeface="JetBrains Mono"/>
              </a:rPr>
              <a:t>04</a:t>
            </a:r>
          </a:p>
        </p:txBody>
      </p:sp>
      <p:sp>
        <p:nvSpPr>
          <p:cNvPr id="44" name="TextBox 43"/>
          <p:cNvSpPr txBox="1"/>
          <p:nvPr/>
        </p:nvSpPr>
        <p:spPr>
          <a:xfrm>
            <a:off x="6793992" y="2103120"/>
            <a:ext cx="1536192" cy="256032"/>
          </a:xfrm>
          <a:prstGeom prst="rect">
            <a:avLst/>
          </a:prstGeom>
          <a:noFill/>
        </p:spPr>
        <p:txBody>
          <a:bodyPr wrap="square" lIns="0" tIns="0" rIns="0" bIns="0" anchor="t">
            <a:noAutofit/>
          </a:bodyPr>
          <a:lstStyle/>
          <a:p>
            <a:pPr algn="l"/>
            <a:r>
              <a:rPr lang="en-US" sz="1500" b="1" spc="-20" dirty="0">
                <a:solidFill>
                  <a:srgbClr val="C1702D"/>
                </a:solidFill>
                <a:latin typeface="Inter"/>
              </a:rPr>
              <a:t>2-</a:t>
            </a:r>
            <a:r>
              <a:rPr lang="en-US" sz="1500" b="1" i="0" spc="-20" dirty="0">
                <a:solidFill>
                  <a:srgbClr val="C1702D"/>
                </a:solidFill>
                <a:latin typeface="Inter"/>
              </a:rPr>
              <a:t>4</a:t>
            </a:r>
            <a:r>
              <a:rPr sz="1500" b="1" i="0" spc="-20" dirty="0">
                <a:solidFill>
                  <a:srgbClr val="C1702D"/>
                </a:solidFill>
                <a:latin typeface="Inter"/>
              </a:rPr>
              <a:t> </a:t>
            </a:r>
            <a:r>
              <a:rPr lang="en-US" sz="1500" b="1" i="0" spc="-20" dirty="0">
                <a:solidFill>
                  <a:srgbClr val="C1702D"/>
                </a:solidFill>
                <a:latin typeface="Inter"/>
              </a:rPr>
              <a:t>h</a:t>
            </a:r>
            <a:r>
              <a:rPr sz="800" b="0" i="0" dirty="0">
                <a:solidFill>
                  <a:srgbClr val="5A6472"/>
                </a:solidFill>
                <a:latin typeface="Inter"/>
              </a:rPr>
              <a:t>  to land</a:t>
            </a:r>
          </a:p>
        </p:txBody>
      </p:sp>
      <p:sp>
        <p:nvSpPr>
          <p:cNvPr id="45" name="TextBox 44"/>
          <p:cNvSpPr txBox="1"/>
          <p:nvPr/>
        </p:nvSpPr>
        <p:spPr>
          <a:xfrm>
            <a:off x="667512" y="2953512"/>
            <a:ext cx="5486400" cy="146304"/>
          </a:xfrm>
          <a:prstGeom prst="rect">
            <a:avLst/>
          </a:prstGeom>
          <a:noFill/>
        </p:spPr>
        <p:txBody>
          <a:bodyPr wrap="square" lIns="0" tIns="0" rIns="0" bIns="0" anchor="t">
            <a:noAutofit/>
          </a:bodyPr>
          <a:lstStyle/>
          <a:p>
            <a:pPr algn="l"/>
            <a:r>
              <a:rPr sz="700" b="1" i="0" spc="90">
                <a:solidFill>
                  <a:srgbClr val="1428A0"/>
                </a:solidFill>
                <a:latin typeface="Inter"/>
              </a:rPr>
              <a:t>SCOPE OF THE PROJECT</a:t>
            </a:r>
          </a:p>
        </p:txBody>
      </p:sp>
      <p:sp>
        <p:nvSpPr>
          <p:cNvPr id="46" name="Rounded Rectangle 45"/>
          <p:cNvSpPr/>
          <p:nvPr/>
        </p:nvSpPr>
        <p:spPr>
          <a:xfrm>
            <a:off x="667512" y="3136392"/>
            <a:ext cx="5029200" cy="148132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850392" y="3282696"/>
            <a:ext cx="237744" cy="237744"/>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LuCheck_w.png"/>
          <p:cNvPicPr>
            <a:picLocks noChangeAspect="1"/>
          </p:cNvPicPr>
          <p:nvPr/>
        </p:nvPicPr>
        <p:blipFill>
          <a:blip r:embed="rId8"/>
          <a:stretch>
            <a:fillRect/>
          </a:stretch>
        </p:blipFill>
        <p:spPr>
          <a:xfrm>
            <a:off x="907451" y="3339755"/>
            <a:ext cx="123627" cy="123627"/>
          </a:xfrm>
          <a:prstGeom prst="rect">
            <a:avLst/>
          </a:prstGeom>
        </p:spPr>
      </p:pic>
      <p:sp>
        <p:nvSpPr>
          <p:cNvPr id="49" name="TextBox 48"/>
          <p:cNvSpPr txBox="1"/>
          <p:nvPr/>
        </p:nvSpPr>
        <p:spPr>
          <a:xfrm>
            <a:off x="1161288" y="3332988"/>
            <a:ext cx="2743200" cy="146304"/>
          </a:xfrm>
          <a:prstGeom prst="rect">
            <a:avLst/>
          </a:prstGeom>
          <a:noFill/>
        </p:spPr>
        <p:txBody>
          <a:bodyPr wrap="square" lIns="0" tIns="0" rIns="0" bIns="0" anchor="t">
            <a:noAutofit/>
          </a:bodyPr>
          <a:lstStyle/>
          <a:p>
            <a:pPr algn="l"/>
            <a:r>
              <a:rPr sz="750" b="1" i="0" spc="90">
                <a:solidFill>
                  <a:srgbClr val="4A6E24"/>
                </a:solidFill>
                <a:latin typeface="Inter"/>
              </a:rPr>
              <a:t>IN SCOPE</a:t>
            </a:r>
          </a:p>
        </p:txBody>
      </p:sp>
      <p:pic>
        <p:nvPicPr>
          <p:cNvPr id="50" name="Picture 49" descr="LuCheck_g.png"/>
          <p:cNvPicPr>
            <a:picLocks noChangeAspect="1"/>
          </p:cNvPicPr>
          <p:nvPr/>
        </p:nvPicPr>
        <p:blipFill>
          <a:blip r:embed="rId9"/>
          <a:stretch>
            <a:fillRect/>
          </a:stretch>
        </p:blipFill>
        <p:spPr>
          <a:xfrm>
            <a:off x="868680" y="3689604"/>
            <a:ext cx="137160" cy="137160"/>
          </a:xfrm>
          <a:prstGeom prst="rect">
            <a:avLst/>
          </a:prstGeom>
        </p:spPr>
      </p:pic>
      <p:sp>
        <p:nvSpPr>
          <p:cNvPr id="51" name="TextBox 50"/>
          <p:cNvSpPr txBox="1"/>
          <p:nvPr/>
        </p:nvSpPr>
        <p:spPr>
          <a:xfrm>
            <a:off x="1088136" y="3675887"/>
            <a:ext cx="2148840" cy="182880"/>
          </a:xfrm>
          <a:prstGeom prst="rect">
            <a:avLst/>
          </a:prstGeom>
          <a:noFill/>
        </p:spPr>
        <p:txBody>
          <a:bodyPr wrap="square" lIns="0" tIns="0" rIns="0" bIns="0" anchor="t">
            <a:noAutofit/>
          </a:bodyPr>
          <a:lstStyle/>
          <a:p>
            <a:pPr algn="l"/>
            <a:r>
              <a:rPr lang="en-US" sz="900" dirty="0">
                <a:solidFill>
                  <a:srgbClr val="1A1A1E"/>
                </a:solidFill>
                <a:latin typeface="Inter"/>
              </a:rPr>
              <a:t>W</a:t>
            </a:r>
            <a:r>
              <a:rPr sz="900" b="0" i="0" dirty="0">
                <a:solidFill>
                  <a:srgbClr val="1A1A1E"/>
                </a:solidFill>
                <a:latin typeface="Inter"/>
              </a:rPr>
              <a:t>eb bots</a:t>
            </a:r>
          </a:p>
        </p:txBody>
      </p:sp>
      <p:pic>
        <p:nvPicPr>
          <p:cNvPr id="52" name="Picture 51" descr="LuCheck_g.png"/>
          <p:cNvPicPr>
            <a:picLocks noChangeAspect="1"/>
          </p:cNvPicPr>
          <p:nvPr/>
        </p:nvPicPr>
        <p:blipFill>
          <a:blip r:embed="rId9"/>
          <a:stretch>
            <a:fillRect/>
          </a:stretch>
        </p:blipFill>
        <p:spPr>
          <a:xfrm>
            <a:off x="868680" y="3991355"/>
            <a:ext cx="137160" cy="137160"/>
          </a:xfrm>
          <a:prstGeom prst="rect">
            <a:avLst/>
          </a:prstGeom>
        </p:spPr>
      </p:pic>
      <p:sp>
        <p:nvSpPr>
          <p:cNvPr id="53" name="TextBox 52"/>
          <p:cNvSpPr txBox="1"/>
          <p:nvPr/>
        </p:nvSpPr>
        <p:spPr>
          <a:xfrm>
            <a:off x="1088136" y="3977639"/>
            <a:ext cx="2148840" cy="182880"/>
          </a:xfrm>
          <a:prstGeom prst="rect">
            <a:avLst/>
          </a:prstGeom>
          <a:noFill/>
        </p:spPr>
        <p:txBody>
          <a:bodyPr wrap="square" lIns="0" tIns="0" rIns="0" bIns="0" anchor="t">
            <a:noAutofit/>
          </a:bodyPr>
          <a:lstStyle/>
          <a:p>
            <a:pPr algn="l"/>
            <a:r>
              <a:rPr sz="900" b="0" i="0" dirty="0">
                <a:solidFill>
                  <a:srgbClr val="1A1A1E"/>
                </a:solidFill>
                <a:latin typeface="Inter"/>
              </a:rPr>
              <a:t>CSS and XPath</a:t>
            </a:r>
          </a:p>
        </p:txBody>
      </p:sp>
      <p:pic>
        <p:nvPicPr>
          <p:cNvPr id="54" name="Picture 53" descr="LuCheck_g.png"/>
          <p:cNvPicPr>
            <a:picLocks noChangeAspect="1"/>
          </p:cNvPicPr>
          <p:nvPr/>
        </p:nvPicPr>
        <p:blipFill>
          <a:blip r:embed="rId9"/>
          <a:stretch>
            <a:fillRect/>
          </a:stretch>
        </p:blipFill>
        <p:spPr>
          <a:xfrm>
            <a:off x="868680" y="4293107"/>
            <a:ext cx="137160" cy="137160"/>
          </a:xfrm>
          <a:prstGeom prst="rect">
            <a:avLst/>
          </a:prstGeom>
        </p:spPr>
      </p:pic>
      <p:sp>
        <p:nvSpPr>
          <p:cNvPr id="55" name="TextBox 54"/>
          <p:cNvSpPr txBox="1"/>
          <p:nvPr/>
        </p:nvSpPr>
        <p:spPr>
          <a:xfrm>
            <a:off x="1088136" y="4279392"/>
            <a:ext cx="2148840" cy="182880"/>
          </a:xfrm>
          <a:prstGeom prst="rect">
            <a:avLst/>
          </a:prstGeom>
          <a:noFill/>
        </p:spPr>
        <p:txBody>
          <a:bodyPr wrap="square" lIns="0" tIns="0" rIns="0" bIns="0" anchor="t">
            <a:noAutofit/>
          </a:bodyPr>
          <a:lstStyle/>
          <a:p>
            <a:pPr algn="l"/>
            <a:r>
              <a:rPr sz="900" b="0" i="0">
                <a:solidFill>
                  <a:srgbClr val="1A1A1E"/>
                </a:solidFill>
                <a:latin typeface="Inter"/>
              </a:rPr>
              <a:t>Runtime healing, event-driven</a:t>
            </a:r>
          </a:p>
        </p:txBody>
      </p:sp>
      <p:pic>
        <p:nvPicPr>
          <p:cNvPr id="56" name="Picture 55" descr="LuCheck_g.png"/>
          <p:cNvPicPr>
            <a:picLocks noChangeAspect="1"/>
          </p:cNvPicPr>
          <p:nvPr/>
        </p:nvPicPr>
        <p:blipFill>
          <a:blip r:embed="rId9"/>
          <a:stretch>
            <a:fillRect/>
          </a:stretch>
        </p:blipFill>
        <p:spPr>
          <a:xfrm>
            <a:off x="3264408" y="3689604"/>
            <a:ext cx="137160" cy="137160"/>
          </a:xfrm>
          <a:prstGeom prst="rect">
            <a:avLst/>
          </a:prstGeom>
        </p:spPr>
      </p:pic>
      <p:sp>
        <p:nvSpPr>
          <p:cNvPr id="57" name="TextBox 56"/>
          <p:cNvSpPr txBox="1"/>
          <p:nvPr/>
        </p:nvSpPr>
        <p:spPr>
          <a:xfrm>
            <a:off x="3483864" y="3675887"/>
            <a:ext cx="2148840" cy="182880"/>
          </a:xfrm>
          <a:prstGeom prst="rect">
            <a:avLst/>
          </a:prstGeom>
          <a:noFill/>
        </p:spPr>
        <p:txBody>
          <a:bodyPr wrap="square" lIns="0" tIns="0" rIns="0" bIns="0" anchor="t">
            <a:noAutofit/>
          </a:bodyPr>
          <a:lstStyle/>
          <a:p>
            <a:pPr algn="l"/>
            <a:r>
              <a:rPr sz="900" b="0" i="0">
                <a:solidFill>
                  <a:srgbClr val="1A1A1E"/>
                </a:solidFill>
                <a:latin typeface="Inter"/>
              </a:rPr>
              <a:t>Fleet-wide RAG memory</a:t>
            </a:r>
          </a:p>
        </p:txBody>
      </p:sp>
      <p:pic>
        <p:nvPicPr>
          <p:cNvPr id="58" name="Picture 57" descr="LuCheck_g.png"/>
          <p:cNvPicPr>
            <a:picLocks noChangeAspect="1"/>
          </p:cNvPicPr>
          <p:nvPr/>
        </p:nvPicPr>
        <p:blipFill>
          <a:blip r:embed="rId9"/>
          <a:stretch>
            <a:fillRect/>
          </a:stretch>
        </p:blipFill>
        <p:spPr>
          <a:xfrm>
            <a:off x="3264408" y="3991355"/>
            <a:ext cx="137160" cy="137160"/>
          </a:xfrm>
          <a:prstGeom prst="rect">
            <a:avLst/>
          </a:prstGeom>
        </p:spPr>
      </p:pic>
      <p:sp>
        <p:nvSpPr>
          <p:cNvPr id="59" name="TextBox 58"/>
          <p:cNvSpPr txBox="1"/>
          <p:nvPr/>
        </p:nvSpPr>
        <p:spPr>
          <a:xfrm>
            <a:off x="3483864" y="3977639"/>
            <a:ext cx="2148840" cy="182880"/>
          </a:xfrm>
          <a:prstGeom prst="rect">
            <a:avLst/>
          </a:prstGeom>
          <a:noFill/>
        </p:spPr>
        <p:txBody>
          <a:bodyPr wrap="square" lIns="0" tIns="0" rIns="0" bIns="0" anchor="t">
            <a:noAutofit/>
          </a:bodyPr>
          <a:lstStyle/>
          <a:p>
            <a:pPr algn="l"/>
            <a:r>
              <a:rPr sz="900" b="0" i="0">
                <a:solidFill>
                  <a:srgbClr val="1A1A1E"/>
                </a:solidFill>
                <a:latin typeface="Inter"/>
              </a:rPr>
              <a:t>Audit trail</a:t>
            </a:r>
          </a:p>
        </p:txBody>
      </p:sp>
      <p:pic>
        <p:nvPicPr>
          <p:cNvPr id="60" name="Picture 59" descr="LuCheck_g.png"/>
          <p:cNvPicPr>
            <a:picLocks noChangeAspect="1"/>
          </p:cNvPicPr>
          <p:nvPr/>
        </p:nvPicPr>
        <p:blipFill>
          <a:blip r:embed="rId9"/>
          <a:stretch>
            <a:fillRect/>
          </a:stretch>
        </p:blipFill>
        <p:spPr>
          <a:xfrm>
            <a:off x="3264408" y="4293107"/>
            <a:ext cx="137160" cy="137160"/>
          </a:xfrm>
          <a:prstGeom prst="rect">
            <a:avLst/>
          </a:prstGeom>
        </p:spPr>
      </p:pic>
      <p:sp>
        <p:nvSpPr>
          <p:cNvPr id="61" name="TextBox 60"/>
          <p:cNvSpPr txBox="1"/>
          <p:nvPr/>
        </p:nvSpPr>
        <p:spPr>
          <a:xfrm>
            <a:off x="3483864" y="4279392"/>
            <a:ext cx="2148840" cy="182880"/>
          </a:xfrm>
          <a:prstGeom prst="rect">
            <a:avLst/>
          </a:prstGeom>
          <a:noFill/>
        </p:spPr>
        <p:txBody>
          <a:bodyPr wrap="square" lIns="0" tIns="0" rIns="0" bIns="0" anchor="t">
            <a:noAutofit/>
          </a:bodyPr>
          <a:lstStyle/>
          <a:p>
            <a:pPr algn="l"/>
            <a:r>
              <a:rPr sz="900" b="0" i="0">
                <a:solidFill>
                  <a:srgbClr val="1A1A1E"/>
                </a:solidFill>
                <a:latin typeface="Inter"/>
              </a:rPr>
              <a:t>On-prem AI, no cloud</a:t>
            </a:r>
          </a:p>
        </p:txBody>
      </p:sp>
      <p:sp>
        <p:nvSpPr>
          <p:cNvPr id="62" name="Rounded Rectangle 61"/>
          <p:cNvSpPr/>
          <p:nvPr/>
        </p:nvSpPr>
        <p:spPr>
          <a:xfrm>
            <a:off x="5861304" y="3136392"/>
            <a:ext cx="2615184" cy="148132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6044184" y="3282696"/>
            <a:ext cx="237744" cy="237744"/>
          </a:xfrm>
          <a:prstGeom prst="ellipse">
            <a:avLst/>
          </a:prstGeom>
          <a:solidFill>
            <a:srgbClr val="7A7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4" name="Picture 63" descr="LuMinus_w.png"/>
          <p:cNvPicPr>
            <a:picLocks noChangeAspect="1"/>
          </p:cNvPicPr>
          <p:nvPr/>
        </p:nvPicPr>
        <p:blipFill>
          <a:blip r:embed="rId10"/>
          <a:stretch>
            <a:fillRect/>
          </a:stretch>
        </p:blipFill>
        <p:spPr>
          <a:xfrm>
            <a:off x="6101243" y="3339755"/>
            <a:ext cx="123627" cy="123627"/>
          </a:xfrm>
          <a:prstGeom prst="rect">
            <a:avLst/>
          </a:prstGeom>
        </p:spPr>
      </p:pic>
      <p:sp>
        <p:nvSpPr>
          <p:cNvPr id="65" name="TextBox 64"/>
          <p:cNvSpPr txBox="1"/>
          <p:nvPr/>
        </p:nvSpPr>
        <p:spPr>
          <a:xfrm>
            <a:off x="6355080" y="3332988"/>
            <a:ext cx="2011680" cy="146304"/>
          </a:xfrm>
          <a:prstGeom prst="rect">
            <a:avLst/>
          </a:prstGeom>
          <a:noFill/>
        </p:spPr>
        <p:txBody>
          <a:bodyPr wrap="square" lIns="0" tIns="0" rIns="0" bIns="0" anchor="t">
            <a:noAutofit/>
          </a:bodyPr>
          <a:lstStyle/>
          <a:p>
            <a:pPr algn="l"/>
            <a:r>
              <a:rPr sz="750" b="1" i="0" spc="90">
                <a:solidFill>
                  <a:srgbClr val="5A6472"/>
                </a:solidFill>
                <a:latin typeface="Inter"/>
              </a:rPr>
              <a:t>NOT IN PHASE 1</a:t>
            </a:r>
          </a:p>
        </p:txBody>
      </p:sp>
      <p:pic>
        <p:nvPicPr>
          <p:cNvPr id="66" name="Picture 65" descr="LuMinus_m.png"/>
          <p:cNvPicPr>
            <a:picLocks noChangeAspect="1"/>
          </p:cNvPicPr>
          <p:nvPr/>
        </p:nvPicPr>
        <p:blipFill>
          <a:blip r:embed="rId11"/>
          <a:stretch>
            <a:fillRect/>
          </a:stretch>
        </p:blipFill>
        <p:spPr>
          <a:xfrm>
            <a:off x="6062472" y="3689604"/>
            <a:ext cx="137160" cy="137160"/>
          </a:xfrm>
          <a:prstGeom prst="rect">
            <a:avLst/>
          </a:prstGeom>
        </p:spPr>
      </p:pic>
      <p:sp>
        <p:nvSpPr>
          <p:cNvPr id="67" name="TextBox 66"/>
          <p:cNvSpPr txBox="1"/>
          <p:nvPr/>
        </p:nvSpPr>
        <p:spPr>
          <a:xfrm>
            <a:off x="6281928" y="3675887"/>
            <a:ext cx="2103120" cy="182880"/>
          </a:xfrm>
          <a:prstGeom prst="rect">
            <a:avLst/>
          </a:prstGeom>
          <a:noFill/>
        </p:spPr>
        <p:txBody>
          <a:bodyPr wrap="square" lIns="0" tIns="0" rIns="0" bIns="0" anchor="t">
            <a:noAutofit/>
          </a:bodyPr>
          <a:lstStyle/>
          <a:p>
            <a:pPr algn="l"/>
            <a:r>
              <a:rPr sz="900" b="0" i="0">
                <a:solidFill>
                  <a:srgbClr val="4A5668"/>
                </a:solidFill>
                <a:latin typeface="Inter"/>
              </a:rPr>
              <a:t>Rewriting automations</a:t>
            </a:r>
          </a:p>
        </p:txBody>
      </p:sp>
      <p:pic>
        <p:nvPicPr>
          <p:cNvPr id="68" name="Picture 67" descr="LuMinus_m.png"/>
          <p:cNvPicPr>
            <a:picLocks noChangeAspect="1"/>
          </p:cNvPicPr>
          <p:nvPr/>
        </p:nvPicPr>
        <p:blipFill>
          <a:blip r:embed="rId11"/>
          <a:stretch>
            <a:fillRect/>
          </a:stretch>
        </p:blipFill>
        <p:spPr>
          <a:xfrm>
            <a:off x="6062472" y="3991355"/>
            <a:ext cx="137160" cy="137160"/>
          </a:xfrm>
          <a:prstGeom prst="rect">
            <a:avLst/>
          </a:prstGeom>
        </p:spPr>
      </p:pic>
      <p:sp>
        <p:nvSpPr>
          <p:cNvPr id="69" name="TextBox 68"/>
          <p:cNvSpPr txBox="1"/>
          <p:nvPr/>
        </p:nvSpPr>
        <p:spPr>
          <a:xfrm>
            <a:off x="6281928" y="3977639"/>
            <a:ext cx="2103120" cy="182880"/>
          </a:xfrm>
          <a:prstGeom prst="rect">
            <a:avLst/>
          </a:prstGeom>
          <a:noFill/>
        </p:spPr>
        <p:txBody>
          <a:bodyPr wrap="square" lIns="0" tIns="0" rIns="0" bIns="0" anchor="t">
            <a:noAutofit/>
          </a:bodyPr>
          <a:lstStyle/>
          <a:p>
            <a:pPr algn="l"/>
            <a:r>
              <a:rPr sz="900" b="0" i="0">
                <a:solidFill>
                  <a:srgbClr val="4A5668"/>
                </a:solidFill>
                <a:latin typeface="Inter"/>
              </a:rPr>
              <a:t>Desktop, mainframe, Citrix</a:t>
            </a:r>
          </a:p>
        </p:txBody>
      </p:sp>
      <p:pic>
        <p:nvPicPr>
          <p:cNvPr id="70" name="Picture 69" descr="LuMinus_m.png"/>
          <p:cNvPicPr>
            <a:picLocks noChangeAspect="1"/>
          </p:cNvPicPr>
          <p:nvPr/>
        </p:nvPicPr>
        <p:blipFill>
          <a:blip r:embed="rId11"/>
          <a:stretch>
            <a:fillRect/>
          </a:stretch>
        </p:blipFill>
        <p:spPr>
          <a:xfrm>
            <a:off x="6062472" y="4293107"/>
            <a:ext cx="137160" cy="137160"/>
          </a:xfrm>
          <a:prstGeom prst="rect">
            <a:avLst/>
          </a:prstGeom>
        </p:spPr>
      </p:pic>
      <p:sp>
        <p:nvSpPr>
          <p:cNvPr id="71" name="TextBox 70"/>
          <p:cNvSpPr txBox="1"/>
          <p:nvPr/>
        </p:nvSpPr>
        <p:spPr>
          <a:xfrm>
            <a:off x="6281928" y="4279392"/>
            <a:ext cx="2103120" cy="182880"/>
          </a:xfrm>
          <a:prstGeom prst="rect">
            <a:avLst/>
          </a:prstGeom>
          <a:noFill/>
        </p:spPr>
        <p:txBody>
          <a:bodyPr wrap="square" lIns="0" tIns="0" rIns="0" bIns="0" anchor="t">
            <a:noAutofit/>
          </a:bodyPr>
          <a:lstStyle/>
          <a:p>
            <a:pPr algn="l"/>
            <a:r>
              <a:rPr lang="en-US" sz="900" b="0" i="0" dirty="0">
                <a:solidFill>
                  <a:srgbClr val="4A5668"/>
                </a:solidFill>
                <a:latin typeface="Inter"/>
              </a:rPr>
              <a:t>Deleted page elements</a:t>
            </a:r>
          </a:p>
        </p:txBody>
      </p:sp>
      <p:sp>
        <p:nvSpPr>
          <p:cNvPr id="72" name="Total strip"/>
          <p:cNvSpPr/>
          <p:nvPr/>
        </p:nvSpPr>
        <p:spPr>
          <a:xfrm>
            <a:off x="667512" y="2542032"/>
            <a:ext cx="7808975" cy="274320"/>
          </a:xfrm>
          <a:prstGeom prst="roundRect">
            <a:avLst>
              <a:gd name="adj" fmla="val 50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otal text"/>
          <p:cNvSpPr txBox="1"/>
          <p:nvPr/>
        </p:nvSpPr>
        <p:spPr>
          <a:xfrm>
            <a:off x="667512" y="2542032"/>
            <a:ext cx="7808975" cy="274320"/>
          </a:xfrm>
          <a:prstGeom prst="rect">
            <a:avLst/>
          </a:prstGeom>
          <a:noFill/>
        </p:spPr>
        <p:txBody>
          <a:bodyPr wrap="square" lIns="0" tIns="0" rIns="0" bIns="0" anchor="ctr">
            <a:spAutoFit/>
          </a:bodyPr>
          <a:lstStyle/>
          <a:p>
            <a:pPr algn="ctr"/>
            <a:r>
              <a:rPr sz="950" b="1">
                <a:solidFill>
                  <a:srgbClr val="1A1A1E"/>
                </a:solidFill>
                <a:latin typeface="Inter"/>
              </a:rPr>
              <a:t>Today: </a:t>
            </a:r>
            <a:r>
              <a:rPr sz="950" b="1">
                <a:solidFill>
                  <a:srgbClr val="C1702D"/>
                </a:solidFill>
                <a:latin typeface="Inter"/>
              </a:rPr>
              <a:t>1-2 days</a:t>
            </a:r>
            <a:r>
              <a:rPr sz="950" b="1">
                <a:solidFill>
                  <a:srgbClr val="1A1A1E"/>
                </a:solidFill>
                <a:latin typeface="Inter"/>
              </a:rPr>
              <a:t> per broken selector      With the Healing Agent: </a:t>
            </a:r>
            <a:r>
              <a:rPr sz="950" b="1">
                <a:solidFill>
                  <a:srgbClr val="4A6E24"/>
                </a:solidFill>
                <a:latin typeface="Inter"/>
              </a:rPr>
              <a:t>~6 seconds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lang="en-US" sz="855" b="1" i="0" spc="21" dirty="0">
                <a:solidFill>
                  <a:srgbClr val="FFFFFF"/>
                </a:solidFill>
                <a:latin typeface="Inter"/>
              </a:rPr>
              <a:t>SAMSUNG SDS</a:t>
            </a:r>
            <a:r>
              <a:rPr lang="en-US" sz="855" b="0" i="0" spc="21" dirty="0">
                <a:solidFill>
                  <a:srgbClr val="B9C6DA"/>
                </a:solidFill>
                <a:latin typeface="Inter"/>
              </a:rPr>
              <a:t>   |   </a:t>
            </a:r>
            <a:r>
              <a:rPr lang="en-US" sz="855" b="1" i="0" spc="21" dirty="0">
                <a:solidFill>
                  <a:srgbClr val="B9C6DA"/>
                </a:solidFill>
                <a:latin typeface="Inter"/>
              </a:rPr>
              <a:t>HOW IT WORKS  ·  THE HEALING AGENT</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04 / 10</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An event-driven AI agent heals the robot in about six seconds.</a:t>
            </a: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lang="en-US" sz="950" dirty="0">
                <a:solidFill>
                  <a:srgbClr val="4A5668"/>
                </a:solidFill>
                <a:latin typeface="Inter"/>
              </a:rPr>
              <a:t>A</a:t>
            </a:r>
            <a:r>
              <a:rPr lang="en-US" sz="950" b="0" i="0" dirty="0">
                <a:solidFill>
                  <a:srgbClr val="4A5668"/>
                </a:solidFill>
                <a:latin typeface="Inter"/>
              </a:rPr>
              <a:t> selector break raises an event, </a:t>
            </a:r>
            <a:r>
              <a:rPr lang="en-US" sz="950" b="1" i="0" dirty="0">
                <a:solidFill>
                  <a:srgbClr val="4A5668"/>
                </a:solidFill>
                <a:latin typeface="Inter"/>
              </a:rPr>
              <a:t>the healing AI agent steps in before the automation fails.</a:t>
            </a:r>
          </a:p>
        </p:txBody>
      </p:sp>
      <p:sp>
        <p:nvSpPr>
          <p:cNvPr id="13" name="Column 1"/>
          <p:cNvSpPr/>
          <p:nvPr/>
        </p:nvSpPr>
        <p:spPr>
          <a:xfrm>
            <a:off x="667512" y="1298448"/>
            <a:ext cx="2395728" cy="2615184"/>
          </a:xfrm>
          <a:prstGeom prst="roundRect">
            <a:avLst>
              <a:gd name="adj" fmla="val 45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olumn 1 circle"/>
          <p:cNvSpPr/>
          <p:nvPr/>
        </p:nvSpPr>
        <p:spPr>
          <a:xfrm>
            <a:off x="832104" y="1463040"/>
            <a:ext cx="402336" cy="40233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Column 1 icon" descr="Lu-zap-FFFFFF.png"/>
          <p:cNvPicPr>
            <a:picLocks noChangeAspect="1"/>
          </p:cNvPicPr>
          <p:nvPr/>
        </p:nvPicPr>
        <p:blipFill>
          <a:blip r:embed="rId3"/>
          <a:stretch>
            <a:fillRect/>
          </a:stretch>
        </p:blipFill>
        <p:spPr>
          <a:xfrm>
            <a:off x="928665" y="1559601"/>
            <a:ext cx="209215" cy="209215"/>
          </a:xfrm>
          <a:prstGeom prst="rect">
            <a:avLst/>
          </a:prstGeom>
        </p:spPr>
      </p:pic>
      <p:sp>
        <p:nvSpPr>
          <p:cNvPr id="16" name="Column 1 label"/>
          <p:cNvSpPr txBox="1"/>
          <p:nvPr/>
        </p:nvSpPr>
        <p:spPr>
          <a:xfrm>
            <a:off x="1344168" y="1481328"/>
            <a:ext cx="1664208" cy="128016"/>
          </a:xfrm>
          <a:prstGeom prst="rect">
            <a:avLst/>
          </a:prstGeom>
          <a:noFill/>
        </p:spPr>
        <p:txBody>
          <a:bodyPr wrap="square" lIns="0" tIns="0" rIns="0" bIns="0" anchor="t">
            <a:noAutofit/>
          </a:bodyPr>
          <a:lstStyle/>
          <a:p>
            <a:pPr algn="l"/>
            <a:r>
              <a:rPr lang="en-US" sz="650" b="1" i="0" spc="40" dirty="0">
                <a:solidFill>
                  <a:srgbClr val="1428A0"/>
                </a:solidFill>
                <a:latin typeface="Inter"/>
              </a:rPr>
              <a:t>01  EVENT-DRIVEN TRIGGER</a:t>
            </a:r>
          </a:p>
        </p:txBody>
      </p:sp>
      <p:sp>
        <p:nvSpPr>
          <p:cNvPr id="17" name="Column 1 title"/>
          <p:cNvSpPr txBox="1"/>
          <p:nvPr/>
        </p:nvSpPr>
        <p:spPr>
          <a:xfrm>
            <a:off x="1344168" y="1636776"/>
            <a:ext cx="1664208" cy="201168"/>
          </a:xfrm>
          <a:prstGeom prst="rect">
            <a:avLst/>
          </a:prstGeom>
          <a:noFill/>
        </p:spPr>
        <p:txBody>
          <a:bodyPr wrap="square" lIns="0" tIns="0" rIns="0" bIns="0" anchor="t">
            <a:noAutofit/>
          </a:bodyPr>
          <a:lstStyle/>
          <a:p>
            <a:pPr algn="l"/>
            <a:r>
              <a:rPr lang="en-US" sz="1150" b="1" i="0" dirty="0">
                <a:solidFill>
                  <a:srgbClr val="1A1A1E"/>
                </a:solidFill>
                <a:latin typeface="Inter"/>
              </a:rPr>
              <a:t>Senses the failure</a:t>
            </a:r>
          </a:p>
        </p:txBody>
      </p:sp>
      <p:sp>
        <p:nvSpPr>
          <p:cNvPr id="18" name="Column 1 rule"/>
          <p:cNvSpPr/>
          <p:nvPr/>
        </p:nvSpPr>
        <p:spPr>
          <a:xfrm>
            <a:off x="832104" y="2011680"/>
            <a:ext cx="2066544" cy="7315"/>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Column arrow 1" descr="Lu-arrow-right-5A6472.png"/>
          <p:cNvPicPr>
            <a:picLocks noChangeAspect="1"/>
          </p:cNvPicPr>
          <p:nvPr/>
        </p:nvPicPr>
        <p:blipFill>
          <a:blip r:embed="rId4"/>
          <a:stretch>
            <a:fillRect/>
          </a:stretch>
        </p:blipFill>
        <p:spPr>
          <a:xfrm>
            <a:off x="3127248" y="2514600"/>
            <a:ext cx="182880" cy="182880"/>
          </a:xfrm>
          <a:prstGeom prst="rect">
            <a:avLst/>
          </a:prstGeom>
        </p:spPr>
      </p:pic>
      <p:sp>
        <p:nvSpPr>
          <p:cNvPr id="20" name="Column 2"/>
          <p:cNvSpPr/>
          <p:nvPr/>
        </p:nvSpPr>
        <p:spPr>
          <a:xfrm>
            <a:off x="3374136" y="1298448"/>
            <a:ext cx="2395728" cy="2615184"/>
          </a:xfrm>
          <a:prstGeom prst="roundRect">
            <a:avLst>
              <a:gd name="adj" fmla="val 45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olumn 2 circle"/>
          <p:cNvSpPr/>
          <p:nvPr/>
        </p:nvSpPr>
        <p:spPr>
          <a:xfrm>
            <a:off x="3538728" y="1463040"/>
            <a:ext cx="402336" cy="402336"/>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Column 2 icon" descr="Lu-cpu-FFFFFF.png"/>
          <p:cNvPicPr>
            <a:picLocks noChangeAspect="1"/>
          </p:cNvPicPr>
          <p:nvPr/>
        </p:nvPicPr>
        <p:blipFill>
          <a:blip r:embed="rId5"/>
          <a:stretch>
            <a:fillRect/>
          </a:stretch>
        </p:blipFill>
        <p:spPr>
          <a:xfrm>
            <a:off x="3635289" y="1559601"/>
            <a:ext cx="209215" cy="209215"/>
          </a:xfrm>
          <a:prstGeom prst="rect">
            <a:avLst/>
          </a:prstGeom>
        </p:spPr>
      </p:pic>
      <p:sp>
        <p:nvSpPr>
          <p:cNvPr id="23" name="Column 2 label"/>
          <p:cNvSpPr txBox="1"/>
          <p:nvPr/>
        </p:nvSpPr>
        <p:spPr>
          <a:xfrm>
            <a:off x="4050792" y="1481328"/>
            <a:ext cx="1664208" cy="128016"/>
          </a:xfrm>
          <a:prstGeom prst="rect">
            <a:avLst/>
          </a:prstGeom>
          <a:noFill/>
        </p:spPr>
        <p:txBody>
          <a:bodyPr wrap="square" lIns="0" tIns="0" rIns="0" bIns="0" anchor="t">
            <a:noAutofit/>
          </a:bodyPr>
          <a:lstStyle/>
          <a:p>
            <a:pPr algn="l"/>
            <a:r>
              <a:rPr lang="en-US" sz="650" b="1" i="0" spc="40" dirty="0">
                <a:solidFill>
                  <a:srgbClr val="2A5C9E"/>
                </a:solidFill>
                <a:latin typeface="Inter"/>
              </a:rPr>
              <a:t>02  SELECTOR RECOVERY PIPELINE</a:t>
            </a:r>
          </a:p>
        </p:txBody>
      </p:sp>
      <p:sp>
        <p:nvSpPr>
          <p:cNvPr id="24" name="Column 2 title"/>
          <p:cNvSpPr txBox="1"/>
          <p:nvPr/>
        </p:nvSpPr>
        <p:spPr>
          <a:xfrm>
            <a:off x="4050792" y="1636776"/>
            <a:ext cx="1664208" cy="201168"/>
          </a:xfrm>
          <a:prstGeom prst="rect">
            <a:avLst/>
          </a:prstGeom>
          <a:noFill/>
        </p:spPr>
        <p:txBody>
          <a:bodyPr wrap="square" lIns="0" tIns="0" rIns="0" bIns="0" anchor="t">
            <a:noAutofit/>
          </a:bodyPr>
          <a:lstStyle/>
          <a:p>
            <a:pPr algn="l"/>
            <a:r>
              <a:rPr lang="en-US" sz="1150" b="1" i="0" dirty="0">
                <a:solidFill>
                  <a:srgbClr val="1A1A1E"/>
                </a:solidFill>
                <a:latin typeface="Inter"/>
              </a:rPr>
              <a:t>Reasons over the page</a:t>
            </a:r>
          </a:p>
        </p:txBody>
      </p:sp>
      <p:sp>
        <p:nvSpPr>
          <p:cNvPr id="25" name="Column 2 rule"/>
          <p:cNvSpPr/>
          <p:nvPr/>
        </p:nvSpPr>
        <p:spPr>
          <a:xfrm>
            <a:off x="3538728" y="2011680"/>
            <a:ext cx="2066544" cy="7315"/>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Column arrow 2" descr="Lu-arrow-right-5A6472.png"/>
          <p:cNvPicPr>
            <a:picLocks noChangeAspect="1"/>
          </p:cNvPicPr>
          <p:nvPr/>
        </p:nvPicPr>
        <p:blipFill>
          <a:blip r:embed="rId4"/>
          <a:stretch>
            <a:fillRect/>
          </a:stretch>
        </p:blipFill>
        <p:spPr>
          <a:xfrm>
            <a:off x="5833872" y="2514600"/>
            <a:ext cx="182880" cy="182880"/>
          </a:xfrm>
          <a:prstGeom prst="rect">
            <a:avLst/>
          </a:prstGeom>
        </p:spPr>
      </p:pic>
      <p:sp>
        <p:nvSpPr>
          <p:cNvPr id="27" name="Column 3"/>
          <p:cNvSpPr/>
          <p:nvPr/>
        </p:nvSpPr>
        <p:spPr>
          <a:xfrm>
            <a:off x="6080760" y="1298448"/>
            <a:ext cx="2395728" cy="2615184"/>
          </a:xfrm>
          <a:prstGeom prst="roundRect">
            <a:avLst>
              <a:gd name="adj" fmla="val 45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lumn 3 circle"/>
          <p:cNvSpPr/>
          <p:nvPr/>
        </p:nvSpPr>
        <p:spPr>
          <a:xfrm>
            <a:off x="6245352" y="1463040"/>
            <a:ext cx="402336" cy="402336"/>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Column 3 icon" descr="Lu-scale-FFFFFF.png"/>
          <p:cNvPicPr>
            <a:picLocks noChangeAspect="1"/>
          </p:cNvPicPr>
          <p:nvPr/>
        </p:nvPicPr>
        <p:blipFill>
          <a:blip r:embed="rId6"/>
          <a:stretch>
            <a:fillRect/>
          </a:stretch>
        </p:blipFill>
        <p:spPr>
          <a:xfrm>
            <a:off x="6341913" y="1559601"/>
            <a:ext cx="209215" cy="209215"/>
          </a:xfrm>
          <a:prstGeom prst="rect">
            <a:avLst/>
          </a:prstGeom>
        </p:spPr>
      </p:pic>
      <p:sp>
        <p:nvSpPr>
          <p:cNvPr id="30" name="Column 3 label"/>
          <p:cNvSpPr txBox="1"/>
          <p:nvPr/>
        </p:nvSpPr>
        <p:spPr>
          <a:xfrm>
            <a:off x="6757416" y="1481328"/>
            <a:ext cx="1664208" cy="128016"/>
          </a:xfrm>
          <a:prstGeom prst="rect">
            <a:avLst/>
          </a:prstGeom>
          <a:noFill/>
        </p:spPr>
        <p:txBody>
          <a:bodyPr wrap="square" lIns="0" tIns="0" rIns="0" bIns="0" anchor="t">
            <a:noAutofit/>
          </a:bodyPr>
          <a:lstStyle/>
          <a:p>
            <a:pPr algn="l"/>
            <a:r>
              <a:rPr lang="en-US" sz="650" b="1" i="0" spc="40" dirty="0">
                <a:solidFill>
                  <a:srgbClr val="5F8B2F"/>
                </a:solidFill>
                <a:latin typeface="Inter"/>
              </a:rPr>
              <a:t>03  CONFIDENCE-BASED</a:t>
            </a:r>
          </a:p>
        </p:txBody>
      </p:sp>
      <p:sp>
        <p:nvSpPr>
          <p:cNvPr id="31" name="Column 3 title"/>
          <p:cNvSpPr txBox="1"/>
          <p:nvPr/>
        </p:nvSpPr>
        <p:spPr>
          <a:xfrm>
            <a:off x="6757416" y="1636776"/>
            <a:ext cx="1664208" cy="201168"/>
          </a:xfrm>
          <a:prstGeom prst="rect">
            <a:avLst/>
          </a:prstGeom>
          <a:noFill/>
        </p:spPr>
        <p:txBody>
          <a:bodyPr wrap="square" lIns="0" tIns="0" rIns="0" bIns="0" anchor="t">
            <a:noAutofit/>
          </a:bodyPr>
          <a:lstStyle/>
          <a:p>
            <a:pPr algn="l"/>
            <a:r>
              <a:rPr lang="en-US" sz="1150" b="1" i="0" dirty="0">
                <a:solidFill>
                  <a:srgbClr val="1A1A1E"/>
                </a:solidFill>
                <a:latin typeface="Inter"/>
              </a:rPr>
              <a:t>Execution criteria</a:t>
            </a:r>
          </a:p>
        </p:txBody>
      </p:sp>
      <p:sp>
        <p:nvSpPr>
          <p:cNvPr id="32" name="Column 3 rule"/>
          <p:cNvSpPr/>
          <p:nvPr/>
        </p:nvSpPr>
        <p:spPr>
          <a:xfrm>
            <a:off x="6245352" y="2011680"/>
            <a:ext cx="2066544" cy="7315"/>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rigger inputs"/>
          <p:cNvSpPr txBox="1"/>
          <p:nvPr/>
        </p:nvSpPr>
        <p:spPr>
          <a:xfrm>
            <a:off x="832104" y="2157984"/>
            <a:ext cx="2103120" cy="960120"/>
          </a:xfrm>
          <a:prstGeom prst="rect">
            <a:avLst/>
          </a:prstGeom>
          <a:noFill/>
        </p:spPr>
        <p:txBody>
          <a:bodyPr wrap="square" lIns="0" tIns="0" rIns="0" bIns="0" anchor="t">
            <a:noAutofit/>
          </a:bodyPr>
          <a:lstStyle/>
          <a:p>
            <a:pPr marL="118872" indent="-118872" algn="l">
              <a:lnSpc>
                <a:spcPct val="110000"/>
              </a:lnSpc>
              <a:spcAft>
                <a:spcPts val="700"/>
              </a:spcAft>
              <a:buClr>
                <a:srgbClr val="1428A0"/>
              </a:buClr>
              <a:buSzPct val="100000"/>
              <a:buFont typeface="Arial"/>
              <a:buChar char="•"/>
            </a:pPr>
            <a:r>
              <a:rPr lang="en-US" sz="900" b="0" i="0" dirty="0">
                <a:solidFill>
                  <a:srgbClr val="1A1A1E"/>
                </a:solidFill>
                <a:latin typeface="Inter"/>
              </a:rPr>
              <a:t>Missed selector = failure event</a:t>
            </a:r>
          </a:p>
          <a:p>
            <a:pPr marL="118872" indent="-118872" algn="l">
              <a:lnSpc>
                <a:spcPct val="110000"/>
              </a:lnSpc>
              <a:spcAft>
                <a:spcPts val="700"/>
              </a:spcAft>
              <a:buClr>
                <a:srgbClr val="1428A0"/>
              </a:buClr>
              <a:buSzPct val="100000"/>
              <a:buFont typeface="Arial"/>
              <a:buChar char="•"/>
            </a:pPr>
            <a:r>
              <a:rPr lang="en-US" sz="900" b="0" i="0" dirty="0">
                <a:solidFill>
                  <a:srgbClr val="1A1A1E"/>
                </a:solidFill>
                <a:latin typeface="Inter"/>
              </a:rPr>
              <a:t>The step's intent and old selector</a:t>
            </a:r>
          </a:p>
          <a:p>
            <a:pPr marL="118872" indent="-118872" algn="l">
              <a:lnSpc>
                <a:spcPct val="110000"/>
              </a:lnSpc>
              <a:spcAft>
                <a:spcPts val="700"/>
              </a:spcAft>
              <a:buClr>
                <a:srgbClr val="1428A0"/>
              </a:buClr>
              <a:buSzPct val="100000"/>
              <a:buFont typeface="Arial"/>
              <a:buChar char="•"/>
            </a:pPr>
            <a:r>
              <a:rPr lang="en-US" sz="900" b="0" i="0" dirty="0">
                <a:solidFill>
                  <a:srgbClr val="1A1A1E"/>
                </a:solidFill>
                <a:latin typeface="Inter"/>
              </a:rPr>
              <a:t>Live page: ~900 elements, via JS</a:t>
            </a:r>
          </a:p>
          <a:p>
            <a:pPr marL="118872" indent="-118872" algn="l">
              <a:lnSpc>
                <a:spcPct val="110000"/>
              </a:lnSpc>
              <a:buClr>
                <a:srgbClr val="1428A0"/>
              </a:buClr>
              <a:buSzPct val="100000"/>
              <a:buFont typeface="Arial"/>
              <a:buChar char="•"/>
            </a:pPr>
            <a:r>
              <a:rPr lang="en-US" sz="900" b="0" i="0" dirty="0">
                <a:solidFill>
                  <a:srgbClr val="1A1A1E"/>
                </a:solidFill>
                <a:latin typeface="Inter"/>
              </a:rPr>
              <a:t>Last-known-good fingerprint</a:t>
            </a:r>
          </a:p>
        </p:txBody>
      </p:sp>
      <p:sp>
        <p:nvSpPr>
          <p:cNvPr id="34" name="Trigger console"/>
          <p:cNvSpPr/>
          <p:nvPr/>
        </p:nvSpPr>
        <p:spPr>
          <a:xfrm>
            <a:off x="832104" y="3200400"/>
            <a:ext cx="2066544" cy="585216"/>
          </a:xfrm>
          <a:prstGeom prst="roundRect">
            <a:avLst>
              <a:gd name="adj" fmla="val 8000"/>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wrap="square" lIns="91440" tIns="36576" rIns="73152" bIns="36576" rtlCol="0" anchor="ctr">
            <a:noAutofit/>
          </a:bodyPr>
          <a:lstStyle/>
          <a:p>
            <a:pPr algn="l">
              <a:lnSpc>
                <a:spcPct val="120000"/>
              </a:lnSpc>
            </a:pPr>
            <a:r>
              <a:rPr lang="en-US" sz="650" b="0" i="0" dirty="0">
                <a:solidFill>
                  <a:srgbClr val="F2A66A"/>
                </a:solidFill>
                <a:latin typeface="JetBrains Mono"/>
              </a:rPr>
              <a:t>Element not found -&gt; </a:t>
            </a:r>
            <a:r>
              <a:rPr lang="en-US" sz="650" dirty="0">
                <a:solidFill>
                  <a:srgbClr val="F2A66A"/>
                </a:solidFill>
                <a:latin typeface="JetBrains Mono"/>
              </a:rPr>
              <a:t>Healing AI Agent  event invoked</a:t>
            </a:r>
            <a:endParaRPr lang="en-US" sz="650" b="0" i="0" dirty="0">
              <a:solidFill>
                <a:srgbClr val="F2A66A"/>
              </a:solidFill>
              <a:latin typeface="JetBrains Mono"/>
            </a:endParaRPr>
          </a:p>
        </p:txBody>
      </p:sp>
      <p:sp>
        <p:nvSpPr>
          <p:cNvPr id="35" name="Step 1"/>
          <p:cNvSpPr/>
          <p:nvPr/>
        </p:nvSpPr>
        <p:spPr>
          <a:xfrm>
            <a:off x="3557016" y="2167128"/>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750" b="1" i="0" dirty="0">
                <a:solidFill>
                  <a:srgbClr val="FFFFFF"/>
                </a:solidFill>
                <a:latin typeface="Inter"/>
              </a:rPr>
              <a:t>1</a:t>
            </a:r>
          </a:p>
        </p:txBody>
      </p:sp>
      <p:sp>
        <p:nvSpPr>
          <p:cNvPr id="36" name="Step 1 title"/>
          <p:cNvSpPr txBox="1"/>
          <p:nvPr/>
        </p:nvSpPr>
        <p:spPr>
          <a:xfrm>
            <a:off x="3849624" y="2157984"/>
            <a:ext cx="1298448" cy="155448"/>
          </a:xfrm>
          <a:prstGeom prst="rect">
            <a:avLst/>
          </a:prstGeom>
          <a:noFill/>
        </p:spPr>
        <p:txBody>
          <a:bodyPr wrap="square" lIns="0" tIns="0" rIns="0" bIns="0" anchor="t">
            <a:noAutofit/>
          </a:bodyPr>
          <a:lstStyle/>
          <a:p>
            <a:pPr algn="l"/>
            <a:r>
              <a:rPr lang="en-US" sz="900" b="1" i="0" dirty="0">
                <a:solidFill>
                  <a:srgbClr val="1A1A1E"/>
                </a:solidFill>
                <a:latin typeface="Inter"/>
              </a:rPr>
              <a:t>RAG memory recall</a:t>
            </a:r>
          </a:p>
        </p:txBody>
      </p:sp>
      <p:sp>
        <p:nvSpPr>
          <p:cNvPr id="37" name="Step 1 cost"/>
          <p:cNvSpPr txBox="1"/>
          <p:nvPr/>
        </p:nvSpPr>
        <p:spPr>
          <a:xfrm>
            <a:off x="5020056" y="2167128"/>
            <a:ext cx="585216" cy="137160"/>
          </a:xfrm>
          <a:prstGeom prst="rect">
            <a:avLst/>
          </a:prstGeom>
          <a:noFill/>
        </p:spPr>
        <p:txBody>
          <a:bodyPr wrap="square" lIns="0" tIns="0" rIns="0" bIns="0" anchor="t">
            <a:noAutofit/>
          </a:bodyPr>
          <a:lstStyle/>
          <a:p>
            <a:pPr algn="r"/>
            <a:r>
              <a:rPr lang="en-US" sz="750" b="1" i="0" dirty="0">
                <a:solidFill>
                  <a:srgbClr val="2A5C9E"/>
                </a:solidFill>
                <a:latin typeface="JetBrains Mono"/>
              </a:rPr>
              <a:t>instant</a:t>
            </a:r>
          </a:p>
        </p:txBody>
      </p:sp>
      <p:sp>
        <p:nvSpPr>
          <p:cNvPr id="38" name="Step 1 detail"/>
          <p:cNvSpPr txBox="1"/>
          <p:nvPr/>
        </p:nvSpPr>
        <p:spPr>
          <a:xfrm>
            <a:off x="3849624" y="2331720"/>
            <a:ext cx="1755648" cy="155448"/>
          </a:xfrm>
          <a:prstGeom prst="rect">
            <a:avLst/>
          </a:prstGeom>
          <a:noFill/>
        </p:spPr>
        <p:txBody>
          <a:bodyPr wrap="square" lIns="0" tIns="0" rIns="0" bIns="0" anchor="t">
            <a:noAutofit/>
          </a:bodyPr>
          <a:lstStyle/>
          <a:p>
            <a:pPr algn="l"/>
            <a:r>
              <a:rPr lang="en-US" sz="800" b="0" i="0" dirty="0">
                <a:solidFill>
                  <a:srgbClr val="4A5668"/>
                </a:solidFill>
                <a:latin typeface="Inter"/>
              </a:rPr>
              <a:t>Reuses a fix the fleet proved.</a:t>
            </a:r>
          </a:p>
        </p:txBody>
      </p:sp>
      <p:sp>
        <p:nvSpPr>
          <p:cNvPr id="39" name="Step 2"/>
          <p:cNvSpPr/>
          <p:nvPr/>
        </p:nvSpPr>
        <p:spPr>
          <a:xfrm>
            <a:off x="3557016" y="2596896"/>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750" b="1" i="0" dirty="0">
                <a:solidFill>
                  <a:srgbClr val="FFFFFF"/>
                </a:solidFill>
                <a:latin typeface="Inter"/>
              </a:rPr>
              <a:t>2</a:t>
            </a:r>
          </a:p>
        </p:txBody>
      </p:sp>
      <p:sp>
        <p:nvSpPr>
          <p:cNvPr id="40" name="Step 2 title"/>
          <p:cNvSpPr txBox="1"/>
          <p:nvPr/>
        </p:nvSpPr>
        <p:spPr>
          <a:xfrm>
            <a:off x="3849624" y="2587752"/>
            <a:ext cx="1298448" cy="155448"/>
          </a:xfrm>
          <a:prstGeom prst="rect">
            <a:avLst/>
          </a:prstGeom>
          <a:noFill/>
        </p:spPr>
        <p:txBody>
          <a:bodyPr wrap="square" lIns="0" tIns="0" rIns="0" bIns="0" anchor="t">
            <a:noAutofit/>
          </a:bodyPr>
          <a:lstStyle/>
          <a:p>
            <a:pPr algn="l"/>
            <a:r>
              <a:rPr lang="en-US" sz="900" b="1" i="0" dirty="0">
                <a:solidFill>
                  <a:srgbClr val="1A1A1E"/>
                </a:solidFill>
                <a:latin typeface="Inter"/>
              </a:rPr>
              <a:t>Semantic similarity</a:t>
            </a:r>
          </a:p>
        </p:txBody>
      </p:sp>
      <p:sp>
        <p:nvSpPr>
          <p:cNvPr id="41" name="Step 2 cost"/>
          <p:cNvSpPr txBox="1"/>
          <p:nvPr/>
        </p:nvSpPr>
        <p:spPr>
          <a:xfrm>
            <a:off x="5020056" y="2596896"/>
            <a:ext cx="585216" cy="137160"/>
          </a:xfrm>
          <a:prstGeom prst="rect">
            <a:avLst/>
          </a:prstGeom>
          <a:noFill/>
        </p:spPr>
        <p:txBody>
          <a:bodyPr wrap="square" lIns="0" tIns="0" rIns="0" bIns="0" anchor="t">
            <a:noAutofit/>
          </a:bodyPr>
          <a:lstStyle/>
          <a:p>
            <a:pPr algn="r"/>
            <a:r>
              <a:rPr lang="en-US" sz="750" b="1" i="0" dirty="0">
                <a:solidFill>
                  <a:srgbClr val="2A5C9E"/>
                </a:solidFill>
                <a:latin typeface="JetBrains Mono"/>
              </a:rPr>
              <a:t>0.3 s</a:t>
            </a:r>
          </a:p>
        </p:txBody>
      </p:sp>
      <p:sp>
        <p:nvSpPr>
          <p:cNvPr id="42" name="Step 2 detail"/>
          <p:cNvSpPr txBox="1"/>
          <p:nvPr/>
        </p:nvSpPr>
        <p:spPr>
          <a:xfrm>
            <a:off x="3849624" y="2761488"/>
            <a:ext cx="1755648" cy="155448"/>
          </a:xfrm>
          <a:prstGeom prst="rect">
            <a:avLst/>
          </a:prstGeom>
          <a:noFill/>
        </p:spPr>
        <p:txBody>
          <a:bodyPr wrap="square" lIns="0" tIns="0" rIns="0" bIns="0" anchor="t">
            <a:noAutofit/>
          </a:bodyPr>
          <a:lstStyle/>
          <a:p>
            <a:pPr algn="l"/>
            <a:r>
              <a:rPr lang="en-US" sz="800" b="0" i="0" dirty="0">
                <a:solidFill>
                  <a:srgbClr val="4A5668"/>
                </a:solidFill>
                <a:latin typeface="Inter"/>
              </a:rPr>
              <a:t>8 signals: 900 elements to top 8.</a:t>
            </a:r>
          </a:p>
        </p:txBody>
      </p:sp>
      <p:sp>
        <p:nvSpPr>
          <p:cNvPr id="43" name="Step 3"/>
          <p:cNvSpPr/>
          <p:nvPr/>
        </p:nvSpPr>
        <p:spPr>
          <a:xfrm>
            <a:off x="3557016" y="3026664"/>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750" b="1" i="0" dirty="0">
                <a:solidFill>
                  <a:srgbClr val="FFFFFF"/>
                </a:solidFill>
                <a:latin typeface="Inter"/>
              </a:rPr>
              <a:t>3</a:t>
            </a:r>
          </a:p>
        </p:txBody>
      </p:sp>
      <p:sp>
        <p:nvSpPr>
          <p:cNvPr id="44" name="Step 3 title"/>
          <p:cNvSpPr txBox="1"/>
          <p:nvPr/>
        </p:nvSpPr>
        <p:spPr>
          <a:xfrm>
            <a:off x="3849624" y="3017520"/>
            <a:ext cx="1298448" cy="155448"/>
          </a:xfrm>
          <a:prstGeom prst="rect">
            <a:avLst/>
          </a:prstGeom>
          <a:noFill/>
        </p:spPr>
        <p:txBody>
          <a:bodyPr wrap="square" lIns="0" tIns="0" rIns="0" bIns="0" anchor="t">
            <a:noAutofit/>
          </a:bodyPr>
          <a:lstStyle/>
          <a:p>
            <a:pPr algn="l"/>
            <a:r>
              <a:rPr lang="en-US" sz="900" b="1" i="0" dirty="0">
                <a:solidFill>
                  <a:srgbClr val="1A1A1E"/>
                </a:solidFill>
                <a:latin typeface="Inter"/>
              </a:rPr>
              <a:t>Fine-tuned AI</a:t>
            </a:r>
          </a:p>
        </p:txBody>
      </p:sp>
      <p:sp>
        <p:nvSpPr>
          <p:cNvPr id="45" name="Step 3 cost"/>
          <p:cNvSpPr txBox="1"/>
          <p:nvPr/>
        </p:nvSpPr>
        <p:spPr>
          <a:xfrm>
            <a:off x="5020056" y="3026664"/>
            <a:ext cx="585216" cy="137160"/>
          </a:xfrm>
          <a:prstGeom prst="rect">
            <a:avLst/>
          </a:prstGeom>
          <a:noFill/>
        </p:spPr>
        <p:txBody>
          <a:bodyPr wrap="square" lIns="0" tIns="0" rIns="0" bIns="0" anchor="t">
            <a:noAutofit/>
          </a:bodyPr>
          <a:lstStyle/>
          <a:p>
            <a:pPr algn="r"/>
            <a:r>
              <a:rPr lang="en-US" sz="750" b="1" i="0" dirty="0">
                <a:solidFill>
                  <a:srgbClr val="2A5C9E"/>
                </a:solidFill>
                <a:latin typeface="JetBrains Mono"/>
              </a:rPr>
              <a:t>~5 s</a:t>
            </a:r>
          </a:p>
        </p:txBody>
      </p:sp>
      <p:sp>
        <p:nvSpPr>
          <p:cNvPr id="46" name="Step 3 detail"/>
          <p:cNvSpPr txBox="1"/>
          <p:nvPr/>
        </p:nvSpPr>
        <p:spPr>
          <a:xfrm>
            <a:off x="3849624" y="3191256"/>
            <a:ext cx="1755648" cy="155448"/>
          </a:xfrm>
          <a:prstGeom prst="rect">
            <a:avLst/>
          </a:prstGeom>
          <a:noFill/>
        </p:spPr>
        <p:txBody>
          <a:bodyPr wrap="square" lIns="0" tIns="0" rIns="0" bIns="0" anchor="t">
            <a:noAutofit/>
          </a:bodyPr>
          <a:lstStyle/>
          <a:p>
            <a:pPr algn="l"/>
            <a:r>
              <a:rPr lang="en-US" sz="800" b="0" i="0" dirty="0">
                <a:solidFill>
                  <a:srgbClr val="4A5668"/>
                </a:solidFill>
                <a:latin typeface="Inter"/>
              </a:rPr>
              <a:t>Checker + LLM pick one, by index.</a:t>
            </a:r>
          </a:p>
        </p:txBody>
      </p:sp>
      <p:sp>
        <p:nvSpPr>
          <p:cNvPr id="47" name="Step 4"/>
          <p:cNvSpPr/>
          <p:nvPr/>
        </p:nvSpPr>
        <p:spPr>
          <a:xfrm>
            <a:off x="3557016" y="3456432"/>
            <a:ext cx="201168" cy="201168"/>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750" b="1" i="0" dirty="0">
                <a:solidFill>
                  <a:srgbClr val="FFFFFF"/>
                </a:solidFill>
                <a:latin typeface="Inter"/>
              </a:rPr>
              <a:t>4</a:t>
            </a:r>
          </a:p>
        </p:txBody>
      </p:sp>
      <p:sp>
        <p:nvSpPr>
          <p:cNvPr id="48" name="Step 4 title"/>
          <p:cNvSpPr txBox="1"/>
          <p:nvPr/>
        </p:nvSpPr>
        <p:spPr>
          <a:xfrm>
            <a:off x="3849624" y="3447288"/>
            <a:ext cx="1298448" cy="155448"/>
          </a:xfrm>
          <a:prstGeom prst="rect">
            <a:avLst/>
          </a:prstGeom>
          <a:noFill/>
        </p:spPr>
        <p:txBody>
          <a:bodyPr wrap="square" lIns="0" tIns="0" rIns="0" bIns="0" anchor="t">
            <a:noAutofit/>
          </a:bodyPr>
          <a:lstStyle/>
          <a:p>
            <a:pPr algn="l"/>
            <a:r>
              <a:rPr lang="en-US" sz="900" b="1" i="0" dirty="0">
                <a:solidFill>
                  <a:srgbClr val="1A1A1E"/>
                </a:solidFill>
                <a:latin typeface="Inter"/>
              </a:rPr>
              <a:t>Bind + validate</a:t>
            </a:r>
          </a:p>
        </p:txBody>
      </p:sp>
      <p:sp>
        <p:nvSpPr>
          <p:cNvPr id="49" name="Step 4 cost"/>
          <p:cNvSpPr txBox="1"/>
          <p:nvPr/>
        </p:nvSpPr>
        <p:spPr>
          <a:xfrm>
            <a:off x="5020056" y="3456432"/>
            <a:ext cx="585216" cy="137160"/>
          </a:xfrm>
          <a:prstGeom prst="rect">
            <a:avLst/>
          </a:prstGeom>
          <a:noFill/>
        </p:spPr>
        <p:txBody>
          <a:bodyPr wrap="square" lIns="0" tIns="0" rIns="0" bIns="0" anchor="t">
            <a:noAutofit/>
          </a:bodyPr>
          <a:lstStyle/>
          <a:p>
            <a:pPr algn="r"/>
            <a:r>
              <a:rPr lang="en-US" sz="750" b="1" i="0" dirty="0">
                <a:solidFill>
                  <a:srgbClr val="2A5C9E"/>
                </a:solidFill>
                <a:latin typeface="JetBrains Mono"/>
              </a:rPr>
              <a:t>0.2 s</a:t>
            </a:r>
          </a:p>
        </p:txBody>
      </p:sp>
      <p:sp>
        <p:nvSpPr>
          <p:cNvPr id="50" name="Step 4 detail"/>
          <p:cNvSpPr txBox="1"/>
          <p:nvPr/>
        </p:nvSpPr>
        <p:spPr>
          <a:xfrm>
            <a:off x="3849624" y="3621024"/>
            <a:ext cx="1755648" cy="155448"/>
          </a:xfrm>
          <a:prstGeom prst="rect">
            <a:avLst/>
          </a:prstGeom>
          <a:noFill/>
        </p:spPr>
        <p:txBody>
          <a:bodyPr wrap="square" lIns="0" tIns="0" rIns="0" bIns="0" anchor="t">
            <a:noAutofit/>
          </a:bodyPr>
          <a:lstStyle/>
          <a:p>
            <a:pPr algn="l"/>
            <a:r>
              <a:rPr lang="en-US" sz="800" b="0" i="0" dirty="0">
                <a:solidFill>
                  <a:srgbClr val="4A5668"/>
                </a:solidFill>
                <a:latin typeface="Inter"/>
              </a:rPr>
              <a:t>Proves it on the live page.</a:t>
            </a:r>
          </a:p>
        </p:txBody>
      </p:sp>
      <p:sp>
        <p:nvSpPr>
          <p:cNvPr id="51" name="Criterion 1"/>
          <p:cNvSpPr/>
          <p:nvPr/>
        </p:nvSpPr>
        <p:spPr>
          <a:xfrm>
            <a:off x="6263640" y="2176272"/>
            <a:ext cx="694944" cy="201168"/>
          </a:xfrm>
          <a:prstGeom prst="rect">
            <a:avLst/>
          </a:prstGeom>
          <a:solidFill>
            <a:srgbClr val="D3E3C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650" b="1" i="0" spc="60" dirty="0">
                <a:solidFill>
                  <a:srgbClr val="4A6E24"/>
                </a:solidFill>
                <a:latin typeface="Inter"/>
              </a:rPr>
              <a:t>AUTO-HEAL</a:t>
            </a:r>
          </a:p>
        </p:txBody>
      </p:sp>
      <p:sp>
        <p:nvSpPr>
          <p:cNvPr id="52" name="Criterion 1 text"/>
          <p:cNvSpPr txBox="1"/>
          <p:nvPr/>
        </p:nvSpPr>
        <p:spPr>
          <a:xfrm>
            <a:off x="7031736" y="2208276"/>
            <a:ext cx="1335024" cy="146304"/>
          </a:xfrm>
          <a:prstGeom prst="rect">
            <a:avLst/>
          </a:prstGeom>
          <a:noFill/>
        </p:spPr>
        <p:txBody>
          <a:bodyPr wrap="square" lIns="0" tIns="0" rIns="0" bIns="0" anchor="t">
            <a:noAutofit/>
          </a:bodyPr>
          <a:lstStyle/>
          <a:p>
            <a:pPr algn="l"/>
            <a:r>
              <a:rPr lang="en-US" sz="750" b="0" i="0" dirty="0">
                <a:solidFill>
                  <a:srgbClr val="1A1A1E"/>
                </a:solidFill>
                <a:latin typeface="Inter"/>
              </a:rPr>
              <a:t>confident, proven step</a:t>
            </a:r>
          </a:p>
        </p:txBody>
      </p:sp>
      <p:sp>
        <p:nvSpPr>
          <p:cNvPr id="55" name="Criterion 3"/>
          <p:cNvSpPr/>
          <p:nvPr/>
        </p:nvSpPr>
        <p:spPr>
          <a:xfrm>
            <a:off x="6263640" y="2509689"/>
            <a:ext cx="694944" cy="201168"/>
          </a:xfrm>
          <a:prstGeom prst="rect">
            <a:avLst/>
          </a:prstGeom>
          <a:solidFill>
            <a:srgbClr val="EBD9C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650" b="1" i="0" spc="60" dirty="0">
                <a:solidFill>
                  <a:srgbClr val="9A5620"/>
                </a:solidFill>
                <a:latin typeface="Inter"/>
              </a:rPr>
              <a:t>REFUSE</a:t>
            </a:r>
          </a:p>
        </p:txBody>
      </p:sp>
      <p:sp>
        <p:nvSpPr>
          <p:cNvPr id="56" name="Criterion 3 text"/>
          <p:cNvSpPr txBox="1"/>
          <p:nvPr/>
        </p:nvSpPr>
        <p:spPr>
          <a:xfrm>
            <a:off x="7031736" y="2555748"/>
            <a:ext cx="1335024" cy="146304"/>
          </a:xfrm>
          <a:prstGeom prst="rect">
            <a:avLst/>
          </a:prstGeom>
          <a:noFill/>
        </p:spPr>
        <p:txBody>
          <a:bodyPr wrap="square" lIns="0" tIns="0" rIns="0" bIns="0" anchor="t">
            <a:noAutofit/>
          </a:bodyPr>
          <a:lstStyle/>
          <a:p>
            <a:pPr algn="l"/>
            <a:r>
              <a:rPr lang="en-US" sz="750" b="0" i="0" dirty="0">
                <a:solidFill>
                  <a:srgbClr val="1A1A1E"/>
                </a:solidFill>
                <a:latin typeface="Inter"/>
              </a:rPr>
              <a:t>Human intervention required</a:t>
            </a:r>
          </a:p>
        </p:txBody>
      </p:sp>
      <p:sp>
        <p:nvSpPr>
          <p:cNvPr id="57" name="Accuracy value"/>
          <p:cNvSpPr txBox="1"/>
          <p:nvPr/>
        </p:nvSpPr>
        <p:spPr>
          <a:xfrm>
            <a:off x="6263640" y="3035808"/>
            <a:ext cx="841248" cy="402336"/>
          </a:xfrm>
          <a:prstGeom prst="rect">
            <a:avLst/>
          </a:prstGeom>
          <a:noFill/>
        </p:spPr>
        <p:txBody>
          <a:bodyPr wrap="square" lIns="0" tIns="0" rIns="0" bIns="0" anchor="t">
            <a:noAutofit/>
          </a:bodyPr>
          <a:lstStyle/>
          <a:p>
            <a:pPr algn="l"/>
            <a:r>
              <a:rPr lang="en-US" sz="2600" b="1" i="0" spc="-40" dirty="0">
                <a:solidFill>
                  <a:srgbClr val="1428A0"/>
                </a:solidFill>
                <a:latin typeface="Inter"/>
              </a:rPr>
              <a:t>97%</a:t>
            </a:r>
          </a:p>
        </p:txBody>
      </p:sp>
      <p:sp>
        <p:nvSpPr>
          <p:cNvPr id="58" name="Accuracy label"/>
          <p:cNvSpPr txBox="1"/>
          <p:nvPr/>
        </p:nvSpPr>
        <p:spPr>
          <a:xfrm>
            <a:off x="7132320" y="3054096"/>
            <a:ext cx="1243584" cy="274320"/>
          </a:xfrm>
          <a:prstGeom prst="rect">
            <a:avLst/>
          </a:prstGeom>
          <a:noFill/>
        </p:spPr>
        <p:txBody>
          <a:bodyPr wrap="square" lIns="0" tIns="0" rIns="0" bIns="0" anchor="t">
            <a:noAutofit/>
          </a:bodyPr>
          <a:lstStyle/>
          <a:p>
            <a:pPr algn="l">
              <a:lnSpc>
                <a:spcPct val="95000"/>
              </a:lnSpc>
            </a:pPr>
            <a:r>
              <a:rPr lang="en-US" sz="800" b="1" i="0" dirty="0">
                <a:solidFill>
                  <a:srgbClr val="1A1A1E"/>
                </a:solidFill>
                <a:latin typeface="Inter"/>
              </a:rPr>
              <a:t>accuracy on high-confidence heals</a:t>
            </a:r>
          </a:p>
        </p:txBody>
      </p:sp>
      <p:sp>
        <p:nvSpPr>
          <p:cNvPr id="59" name="Accuracy basis"/>
          <p:cNvSpPr txBox="1"/>
          <p:nvPr/>
        </p:nvSpPr>
        <p:spPr>
          <a:xfrm>
            <a:off x="7132320" y="3328416"/>
            <a:ext cx="1243584" cy="128016"/>
          </a:xfrm>
          <a:prstGeom prst="rect">
            <a:avLst/>
          </a:prstGeom>
          <a:noFill/>
        </p:spPr>
        <p:txBody>
          <a:bodyPr wrap="square" lIns="0" tIns="0" rIns="0" bIns="0" anchor="t">
            <a:noAutofit/>
          </a:bodyPr>
          <a:lstStyle/>
          <a:p>
            <a:pPr algn="l"/>
            <a:r>
              <a:rPr lang="en-US" sz="650" b="0" i="0" dirty="0">
                <a:solidFill>
                  <a:srgbClr val="7A7F8A"/>
                </a:solidFill>
                <a:latin typeface="Inter"/>
              </a:rPr>
              <a:t>209 of 211, unseen websites</a:t>
            </a:r>
          </a:p>
        </p:txBody>
      </p:sp>
      <p:sp>
        <p:nvSpPr>
          <p:cNvPr id="60" name="Learning note"/>
          <p:cNvSpPr txBox="1"/>
          <p:nvPr/>
        </p:nvSpPr>
        <p:spPr>
          <a:xfrm>
            <a:off x="6263640" y="3602736"/>
            <a:ext cx="2103120" cy="164592"/>
          </a:xfrm>
          <a:prstGeom prst="rect">
            <a:avLst/>
          </a:prstGeom>
          <a:noFill/>
        </p:spPr>
        <p:txBody>
          <a:bodyPr wrap="square" lIns="0" tIns="0" rIns="0" bIns="0" anchor="t">
            <a:noAutofit/>
          </a:bodyPr>
          <a:lstStyle/>
          <a:p>
            <a:pPr marL="118872" indent="-118872" algn="l">
              <a:buClr>
                <a:srgbClr val="5F8B2F"/>
              </a:buClr>
              <a:buSzPct val="100000"/>
              <a:buFont typeface="Arial"/>
              <a:buChar char="•"/>
            </a:pPr>
            <a:r>
              <a:rPr lang="en-US" sz="800" b="0" i="0" dirty="0">
                <a:solidFill>
                  <a:srgbClr val="1A1A1E"/>
                </a:solidFill>
                <a:latin typeface="Inter"/>
              </a:rPr>
              <a:t>Every heal audited and learned</a:t>
            </a:r>
          </a:p>
        </p:txBody>
      </p:sp>
      <p:sp>
        <p:nvSpPr>
          <p:cNvPr id="61" name="Guarantees"/>
          <p:cNvSpPr/>
          <p:nvPr/>
        </p:nvSpPr>
        <p:spPr>
          <a:xfrm>
            <a:off x="667512" y="4041648"/>
            <a:ext cx="7808976" cy="493776"/>
          </a:xfrm>
          <a:prstGeom prst="roundRect">
            <a:avLst>
              <a:gd name="adj" fmla="val 30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Guarantee 1 icon" descr="Lu-lock-1428A0.png"/>
          <p:cNvPicPr>
            <a:picLocks noChangeAspect="1"/>
          </p:cNvPicPr>
          <p:nvPr/>
        </p:nvPicPr>
        <p:blipFill>
          <a:blip r:embed="rId7"/>
          <a:stretch>
            <a:fillRect/>
          </a:stretch>
        </p:blipFill>
        <p:spPr>
          <a:xfrm>
            <a:off x="868680" y="4206240"/>
            <a:ext cx="164592" cy="164592"/>
          </a:xfrm>
          <a:prstGeom prst="rect">
            <a:avLst/>
          </a:prstGeom>
        </p:spPr>
      </p:pic>
      <p:sp>
        <p:nvSpPr>
          <p:cNvPr id="63" name="Guarantee 1"/>
          <p:cNvSpPr txBox="1"/>
          <p:nvPr/>
        </p:nvSpPr>
        <p:spPr>
          <a:xfrm>
            <a:off x="1124712" y="4206240"/>
            <a:ext cx="2743200" cy="182880"/>
          </a:xfrm>
          <a:prstGeom prst="rect">
            <a:avLst/>
          </a:prstGeom>
          <a:noFill/>
        </p:spPr>
        <p:txBody>
          <a:bodyPr wrap="square" lIns="0" tIns="0" rIns="0" bIns="0" anchor="t">
            <a:noAutofit/>
          </a:bodyPr>
          <a:lstStyle/>
          <a:p>
            <a:pPr algn="l"/>
            <a:r>
              <a:rPr lang="en-US" sz="850" b="1" i="0" dirty="0">
                <a:solidFill>
                  <a:srgbClr val="1A1A1E"/>
                </a:solidFill>
                <a:latin typeface="Inter"/>
              </a:rPr>
              <a:t>Index, not text.</a:t>
            </a:r>
            <a:r>
              <a:rPr lang="en-US" sz="850" b="0" i="0" dirty="0">
                <a:solidFill>
                  <a:srgbClr val="4A5668"/>
                </a:solidFill>
                <a:latin typeface="Inter"/>
              </a:rPr>
              <a:t> The AI cannot invent a selector.</a:t>
            </a:r>
          </a:p>
        </p:txBody>
      </p:sp>
      <p:pic>
        <p:nvPicPr>
          <p:cNvPr id="64" name="Guarantee 2 icon" descr="Lu-shield-check-1428A0.png"/>
          <p:cNvPicPr>
            <a:picLocks noChangeAspect="1"/>
          </p:cNvPicPr>
          <p:nvPr/>
        </p:nvPicPr>
        <p:blipFill>
          <a:blip r:embed="rId8"/>
          <a:stretch>
            <a:fillRect/>
          </a:stretch>
        </p:blipFill>
        <p:spPr>
          <a:xfrm>
            <a:off x="4069080" y="4206240"/>
            <a:ext cx="164592" cy="164592"/>
          </a:xfrm>
          <a:prstGeom prst="rect">
            <a:avLst/>
          </a:prstGeom>
        </p:spPr>
      </p:pic>
      <p:sp>
        <p:nvSpPr>
          <p:cNvPr id="65" name="Guarantee 2"/>
          <p:cNvSpPr txBox="1"/>
          <p:nvPr/>
        </p:nvSpPr>
        <p:spPr>
          <a:xfrm>
            <a:off x="4325112" y="4206240"/>
            <a:ext cx="1920240" cy="182880"/>
          </a:xfrm>
          <a:prstGeom prst="rect">
            <a:avLst/>
          </a:prstGeom>
          <a:noFill/>
        </p:spPr>
        <p:txBody>
          <a:bodyPr wrap="square" lIns="0" tIns="0" rIns="0" bIns="0" anchor="t">
            <a:noAutofit/>
          </a:bodyPr>
          <a:lstStyle/>
          <a:p>
            <a:pPr algn="l"/>
            <a:r>
              <a:rPr lang="en-US" sz="850" b="1" i="0" dirty="0">
                <a:solidFill>
                  <a:srgbClr val="1A1A1E"/>
                </a:solidFill>
                <a:latin typeface="Inter"/>
              </a:rPr>
              <a:t>Fails open.</a:t>
            </a:r>
            <a:r>
              <a:rPr lang="en-US" sz="850" b="0" i="0" dirty="0">
                <a:solidFill>
                  <a:srgbClr val="4A5668"/>
                </a:solidFill>
                <a:latin typeface="Inter"/>
              </a:rPr>
              <a:t> Never stops a robot.</a:t>
            </a:r>
          </a:p>
        </p:txBody>
      </p:sp>
      <p:pic>
        <p:nvPicPr>
          <p:cNvPr id="66" name="Guarantee 3 icon" descr="Lu-scale-1428A0.png"/>
          <p:cNvPicPr>
            <a:picLocks noChangeAspect="1"/>
          </p:cNvPicPr>
          <p:nvPr/>
        </p:nvPicPr>
        <p:blipFill>
          <a:blip r:embed="rId9"/>
          <a:stretch>
            <a:fillRect/>
          </a:stretch>
        </p:blipFill>
        <p:spPr>
          <a:xfrm>
            <a:off x="6446520" y="4206240"/>
            <a:ext cx="164592" cy="164592"/>
          </a:xfrm>
          <a:prstGeom prst="rect">
            <a:avLst/>
          </a:prstGeom>
        </p:spPr>
      </p:pic>
      <p:sp>
        <p:nvSpPr>
          <p:cNvPr id="67" name="Guarantee 3"/>
          <p:cNvSpPr txBox="1"/>
          <p:nvPr/>
        </p:nvSpPr>
        <p:spPr>
          <a:xfrm>
            <a:off x="6702552" y="4206240"/>
            <a:ext cx="1783080" cy="182880"/>
          </a:xfrm>
          <a:prstGeom prst="rect">
            <a:avLst/>
          </a:prstGeom>
          <a:noFill/>
        </p:spPr>
        <p:txBody>
          <a:bodyPr wrap="square" lIns="0" tIns="0" rIns="0" bIns="0" anchor="t">
            <a:noAutofit/>
          </a:bodyPr>
          <a:lstStyle/>
          <a:p>
            <a:pPr algn="l"/>
            <a:r>
              <a:rPr lang="en-US" sz="850" b="1" i="0" dirty="0">
                <a:solidFill>
                  <a:srgbClr val="1A1A1E"/>
                </a:solidFill>
                <a:latin typeface="Inter"/>
              </a:rPr>
              <a:t>Policy decides,</a:t>
            </a:r>
            <a:r>
              <a:rPr lang="en-US" sz="850" b="0" i="0" dirty="0">
                <a:solidFill>
                  <a:srgbClr val="4A5668"/>
                </a:solidFill>
                <a:latin typeface="Inter"/>
              </a:rPr>
              <a:t> not the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lang="en-US" sz="855" b="1" i="0" spc="21" dirty="0">
                <a:solidFill>
                  <a:srgbClr val="FFFFFF"/>
                </a:solidFill>
                <a:latin typeface="Inter"/>
              </a:rPr>
              <a:t>SAMSUNG SDS</a:t>
            </a:r>
            <a:r>
              <a:rPr lang="en-US" sz="855" b="0" i="0" spc="21" dirty="0">
                <a:solidFill>
                  <a:srgbClr val="B9C6DA"/>
                </a:solidFill>
                <a:latin typeface="Inter"/>
              </a:rPr>
              <a:t>   |   </a:t>
            </a:r>
            <a:r>
              <a:rPr lang="en-US" sz="855" b="1" i="0" spc="21" dirty="0">
                <a:solidFill>
                  <a:srgbClr val="B9C6DA"/>
                </a:solidFill>
                <a:latin typeface="Inter"/>
              </a:rPr>
              <a:t>ARCHITECTURE  ·  RAG MEMORY &amp; TECHNOLOGY STACK</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06 / 10</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One Healing Agent host serves the whole Ui automation fleet.</a:t>
            </a: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lang="en-US" sz="950" b="0" i="0" dirty="0">
                <a:solidFill>
                  <a:srgbClr val="4A5668"/>
                </a:solidFill>
                <a:latin typeface="Inter"/>
              </a:rPr>
              <a:t>Automation keep the browser. One shared host runs the agent, its fine-tuned AI and its RAG memory.</a:t>
            </a:r>
          </a:p>
        </p:txBody>
      </p:sp>
      <p:sp>
        <p:nvSpPr>
          <p:cNvPr id="13" name="Rounded Rectangle 12"/>
          <p:cNvSpPr/>
          <p:nvPr/>
        </p:nvSpPr>
        <p:spPr>
          <a:xfrm>
            <a:off x="667512" y="1325880"/>
            <a:ext cx="1645920" cy="3200400"/>
          </a:xfrm>
          <a:prstGeom prst="roundRect">
            <a:avLst>
              <a:gd name="adj" fmla="val 5000"/>
            </a:avLst>
          </a:prstGeom>
          <a:solidFill>
            <a:srgbClr val="F7F9FC"/>
          </a:solidFill>
          <a:ln w="12700">
            <a:solidFill>
              <a:srgbClr val="B9C6D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1417320"/>
            <a:ext cx="1554480" cy="146304"/>
          </a:xfrm>
          <a:prstGeom prst="rect">
            <a:avLst/>
          </a:prstGeom>
          <a:noFill/>
        </p:spPr>
        <p:txBody>
          <a:bodyPr wrap="square" lIns="0" tIns="0" rIns="0" bIns="0" anchor="t">
            <a:noAutofit/>
          </a:bodyPr>
          <a:lstStyle/>
          <a:p>
            <a:pPr algn="l"/>
            <a:r>
              <a:rPr sz="650" b="1" i="0" spc="90" dirty="0">
                <a:solidFill>
                  <a:srgbClr val="2A5C9E"/>
                </a:solidFill>
                <a:latin typeface="Inter"/>
              </a:rPr>
              <a:t>HOST  ·  NO GPU</a:t>
            </a:r>
          </a:p>
        </p:txBody>
      </p:sp>
      <p:sp>
        <p:nvSpPr>
          <p:cNvPr id="15" name="Rounded Rectangle 14"/>
          <p:cNvSpPr/>
          <p:nvPr/>
        </p:nvSpPr>
        <p:spPr>
          <a:xfrm>
            <a:off x="777240" y="1709928"/>
            <a:ext cx="1426464"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uFileCode_b.png"/>
          <p:cNvPicPr>
            <a:picLocks noChangeAspect="1"/>
          </p:cNvPicPr>
          <p:nvPr/>
        </p:nvPicPr>
        <p:blipFill>
          <a:blip r:embed="rId3"/>
          <a:stretch>
            <a:fillRect/>
          </a:stretch>
        </p:blipFill>
        <p:spPr>
          <a:xfrm>
            <a:off x="868680" y="1801368"/>
            <a:ext cx="182880" cy="182880"/>
          </a:xfrm>
          <a:prstGeom prst="rect">
            <a:avLst/>
          </a:prstGeom>
        </p:spPr>
      </p:pic>
      <p:sp>
        <p:nvSpPr>
          <p:cNvPr id="17" name="TextBox 16"/>
          <p:cNvSpPr txBox="1"/>
          <p:nvPr/>
        </p:nvSpPr>
        <p:spPr>
          <a:xfrm>
            <a:off x="1106424" y="1810512"/>
            <a:ext cx="1042416" cy="164592"/>
          </a:xfrm>
          <a:prstGeom prst="rect">
            <a:avLst/>
          </a:prstGeom>
          <a:noFill/>
        </p:spPr>
        <p:txBody>
          <a:bodyPr wrap="square" lIns="0" tIns="0" rIns="0" bIns="0" anchor="t">
            <a:noAutofit/>
          </a:bodyPr>
          <a:lstStyle/>
          <a:p>
            <a:pPr algn="l"/>
            <a:r>
              <a:rPr sz="800" b="1" i="0">
                <a:solidFill>
                  <a:srgbClr val="1A1A1E"/>
                </a:solidFill>
                <a:latin typeface="Inter"/>
              </a:rPr>
              <a:t>Automation script</a:t>
            </a:r>
          </a:p>
        </p:txBody>
      </p:sp>
      <p:sp>
        <p:nvSpPr>
          <p:cNvPr id="18" name="TextBox 17"/>
          <p:cNvSpPr txBox="1"/>
          <p:nvPr/>
        </p:nvSpPr>
        <p:spPr>
          <a:xfrm>
            <a:off x="868680" y="2048256"/>
            <a:ext cx="1261872" cy="182880"/>
          </a:xfrm>
          <a:prstGeom prst="rect">
            <a:avLst/>
          </a:prstGeom>
          <a:noFill/>
        </p:spPr>
        <p:txBody>
          <a:bodyPr wrap="square" lIns="0" tIns="0" rIns="0" bIns="0" anchor="t">
            <a:noAutofit/>
          </a:bodyPr>
          <a:lstStyle/>
          <a:p>
            <a:pPr algn="l"/>
            <a:r>
              <a:rPr sz="700" b="0" i="0">
                <a:solidFill>
                  <a:srgbClr val="5A6472"/>
                </a:solidFill>
                <a:latin typeface="Inter"/>
              </a:rPr>
              <a:t>existing, unchanged</a:t>
            </a:r>
          </a:p>
        </p:txBody>
      </p:sp>
      <p:sp>
        <p:nvSpPr>
          <p:cNvPr id="19" name="Rounded Rectangle 18"/>
          <p:cNvSpPr/>
          <p:nvPr/>
        </p:nvSpPr>
        <p:spPr>
          <a:xfrm>
            <a:off x="777240" y="2679192"/>
            <a:ext cx="1426464" cy="585216"/>
          </a:xfrm>
          <a:prstGeom prst="roundRect">
            <a:avLst>
              <a:gd name="adj" fmla="val 12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uPackage_b.png"/>
          <p:cNvPicPr>
            <a:picLocks noChangeAspect="1"/>
          </p:cNvPicPr>
          <p:nvPr/>
        </p:nvPicPr>
        <p:blipFill>
          <a:blip r:embed="rId4"/>
          <a:stretch>
            <a:fillRect/>
          </a:stretch>
        </p:blipFill>
        <p:spPr>
          <a:xfrm>
            <a:off x="868680" y="2770632"/>
            <a:ext cx="182880" cy="182880"/>
          </a:xfrm>
          <a:prstGeom prst="rect">
            <a:avLst/>
          </a:prstGeom>
        </p:spPr>
      </p:pic>
      <p:sp>
        <p:nvSpPr>
          <p:cNvPr id="21" name="TextBox 20"/>
          <p:cNvSpPr txBox="1"/>
          <p:nvPr/>
        </p:nvSpPr>
        <p:spPr>
          <a:xfrm>
            <a:off x="1106424" y="2779776"/>
            <a:ext cx="1042416" cy="164592"/>
          </a:xfrm>
          <a:prstGeom prst="rect">
            <a:avLst/>
          </a:prstGeom>
          <a:noFill/>
        </p:spPr>
        <p:txBody>
          <a:bodyPr wrap="square" lIns="0" tIns="0" rIns="0" bIns="0" anchor="t">
            <a:noAutofit/>
          </a:bodyPr>
          <a:lstStyle/>
          <a:p>
            <a:pPr algn="l"/>
            <a:r>
              <a:rPr sz="800" b="1" i="0">
                <a:solidFill>
                  <a:srgbClr val="1A1A1E"/>
                </a:solidFill>
                <a:latin typeface="Inter"/>
              </a:rPr>
              <a:t>Agent client</a:t>
            </a:r>
          </a:p>
        </p:txBody>
      </p:sp>
      <p:sp>
        <p:nvSpPr>
          <p:cNvPr id="22" name="TextBox 21"/>
          <p:cNvSpPr txBox="1"/>
          <p:nvPr/>
        </p:nvSpPr>
        <p:spPr>
          <a:xfrm>
            <a:off x="868680" y="3017520"/>
            <a:ext cx="1261872" cy="182880"/>
          </a:xfrm>
          <a:prstGeom prst="rect">
            <a:avLst/>
          </a:prstGeom>
          <a:noFill/>
        </p:spPr>
        <p:txBody>
          <a:bodyPr wrap="square" lIns="0" tIns="0" rIns="0" bIns="0" anchor="t">
            <a:noAutofit/>
          </a:bodyPr>
          <a:lstStyle/>
          <a:p>
            <a:pPr algn="l"/>
            <a:r>
              <a:rPr sz="700" b="0" i="0">
                <a:solidFill>
                  <a:srgbClr val="5A6472"/>
                </a:solidFill>
                <a:latin typeface="Inter"/>
              </a:rPr>
              <a:t>bis.py, fires on failure</a:t>
            </a:r>
          </a:p>
        </p:txBody>
      </p:sp>
      <p:sp>
        <p:nvSpPr>
          <p:cNvPr id="23" name="Rounded Rectangle 22"/>
          <p:cNvSpPr/>
          <p:nvPr/>
        </p:nvSpPr>
        <p:spPr>
          <a:xfrm>
            <a:off x="777240" y="3648456"/>
            <a:ext cx="1426464"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LuGlobe_b.png"/>
          <p:cNvPicPr>
            <a:picLocks noChangeAspect="1"/>
          </p:cNvPicPr>
          <p:nvPr/>
        </p:nvPicPr>
        <p:blipFill>
          <a:blip r:embed="rId5"/>
          <a:stretch>
            <a:fillRect/>
          </a:stretch>
        </p:blipFill>
        <p:spPr>
          <a:xfrm>
            <a:off x="868680" y="3739896"/>
            <a:ext cx="182880" cy="182880"/>
          </a:xfrm>
          <a:prstGeom prst="rect">
            <a:avLst/>
          </a:prstGeom>
        </p:spPr>
      </p:pic>
      <p:sp>
        <p:nvSpPr>
          <p:cNvPr id="25" name="TextBox 24"/>
          <p:cNvSpPr txBox="1"/>
          <p:nvPr/>
        </p:nvSpPr>
        <p:spPr>
          <a:xfrm>
            <a:off x="1106424" y="3749040"/>
            <a:ext cx="1042416" cy="164592"/>
          </a:xfrm>
          <a:prstGeom prst="rect">
            <a:avLst/>
          </a:prstGeom>
          <a:noFill/>
        </p:spPr>
        <p:txBody>
          <a:bodyPr wrap="square" lIns="0" tIns="0" rIns="0" bIns="0" anchor="t">
            <a:noAutofit/>
          </a:bodyPr>
          <a:lstStyle/>
          <a:p>
            <a:pPr algn="l"/>
            <a:r>
              <a:rPr sz="800" b="1" i="0">
                <a:solidFill>
                  <a:srgbClr val="1A1A1E"/>
                </a:solidFill>
                <a:latin typeface="Inter"/>
              </a:rPr>
              <a:t>Browser</a:t>
            </a:r>
          </a:p>
        </p:txBody>
      </p:sp>
      <p:sp>
        <p:nvSpPr>
          <p:cNvPr id="26" name="TextBox 25"/>
          <p:cNvSpPr txBox="1"/>
          <p:nvPr/>
        </p:nvSpPr>
        <p:spPr>
          <a:xfrm>
            <a:off x="868680" y="3986784"/>
            <a:ext cx="1261872" cy="182880"/>
          </a:xfrm>
          <a:prstGeom prst="rect">
            <a:avLst/>
          </a:prstGeom>
          <a:noFill/>
        </p:spPr>
        <p:txBody>
          <a:bodyPr wrap="square" lIns="0" tIns="0" rIns="0" bIns="0" anchor="t">
            <a:noAutofit/>
          </a:bodyPr>
          <a:lstStyle/>
          <a:p>
            <a:pPr algn="l"/>
            <a:r>
              <a:rPr sz="700" b="0" i="0">
                <a:solidFill>
                  <a:srgbClr val="5A6472"/>
                </a:solidFill>
                <a:latin typeface="Inter"/>
              </a:rPr>
              <a:t>Selenium or Playwright</a:t>
            </a:r>
          </a:p>
        </p:txBody>
      </p:sp>
      <p:cxnSp>
        <p:nvCxnSpPr>
          <p:cNvPr id="27" name="Connector 26"/>
          <p:cNvCxnSpPr/>
          <p:nvPr/>
        </p:nvCxnSpPr>
        <p:spPr>
          <a:xfrm>
            <a:off x="1490472" y="2295144"/>
            <a:ext cx="0" cy="384048"/>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563624" y="2404872"/>
            <a:ext cx="731520" cy="146304"/>
          </a:xfrm>
          <a:prstGeom prst="rect">
            <a:avLst/>
          </a:prstGeom>
          <a:noFill/>
        </p:spPr>
        <p:txBody>
          <a:bodyPr wrap="square" lIns="0" tIns="0" rIns="0" bIns="0" anchor="t">
            <a:noAutofit/>
          </a:bodyPr>
          <a:lstStyle/>
          <a:p>
            <a:pPr algn="l"/>
            <a:r>
              <a:rPr sz="650" b="0" i="0">
                <a:solidFill>
                  <a:srgbClr val="5A6472"/>
                </a:solidFill>
                <a:latin typeface="JetBrains Mono"/>
              </a:rPr>
              <a:t>find()</a:t>
            </a:r>
          </a:p>
        </p:txBody>
      </p:sp>
      <p:cxnSp>
        <p:nvCxnSpPr>
          <p:cNvPr id="29" name="Connector 28"/>
          <p:cNvCxnSpPr/>
          <p:nvPr/>
        </p:nvCxnSpPr>
        <p:spPr>
          <a:xfrm>
            <a:off x="1490472" y="3264408"/>
            <a:ext cx="0" cy="384048"/>
          </a:xfrm>
          <a:prstGeom prst="line">
            <a:avLst/>
          </a:prstGeom>
          <a:ln w="12700">
            <a:solidFill>
              <a:srgbClr val="5A647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563624" y="3374136"/>
            <a:ext cx="822960" cy="146304"/>
          </a:xfrm>
          <a:prstGeom prst="rect">
            <a:avLst/>
          </a:prstGeom>
          <a:noFill/>
        </p:spPr>
        <p:txBody>
          <a:bodyPr wrap="square" lIns="0" tIns="0" rIns="0" bIns="0" anchor="t">
            <a:noAutofit/>
          </a:bodyPr>
          <a:lstStyle/>
          <a:p>
            <a:pPr algn="l"/>
            <a:r>
              <a:rPr sz="650" b="0" i="0">
                <a:solidFill>
                  <a:srgbClr val="5A6472"/>
                </a:solidFill>
                <a:latin typeface="JetBrains Mono"/>
              </a:rPr>
              <a:t>harvest, bind</a:t>
            </a:r>
          </a:p>
        </p:txBody>
      </p:sp>
      <p:sp>
        <p:nvSpPr>
          <p:cNvPr id="31" name="Rounded Rectangle 30"/>
          <p:cNvSpPr/>
          <p:nvPr/>
        </p:nvSpPr>
        <p:spPr>
          <a:xfrm>
            <a:off x="2971800" y="1325880"/>
            <a:ext cx="3017520" cy="3200400"/>
          </a:xfrm>
          <a:prstGeom prst="roundRect">
            <a:avLst>
              <a:gd name="adj" fmla="val 5000"/>
            </a:avLst>
          </a:prstGeom>
          <a:solidFill>
            <a:srgbClr val="F2F6FF"/>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081528" y="1417320"/>
            <a:ext cx="2286000" cy="146304"/>
          </a:xfrm>
          <a:prstGeom prst="rect">
            <a:avLst/>
          </a:prstGeom>
          <a:noFill/>
        </p:spPr>
        <p:txBody>
          <a:bodyPr wrap="square" lIns="0" tIns="0" rIns="0" bIns="0" anchor="t">
            <a:noAutofit/>
          </a:bodyPr>
          <a:lstStyle/>
          <a:p>
            <a:pPr algn="l"/>
            <a:r>
              <a:rPr sz="650" b="1" i="0" spc="90">
                <a:solidFill>
                  <a:srgbClr val="1428A0"/>
                </a:solidFill>
                <a:latin typeface="Inter"/>
              </a:rPr>
              <a:t>HEALING AGENT HOST  ·  ONE GPU</a:t>
            </a:r>
          </a:p>
        </p:txBody>
      </p:sp>
      <p:sp>
        <p:nvSpPr>
          <p:cNvPr id="41" name="Rounded Rectangle 40"/>
          <p:cNvSpPr/>
          <p:nvPr/>
        </p:nvSpPr>
        <p:spPr>
          <a:xfrm>
            <a:off x="3081528" y="2679192"/>
            <a:ext cx="1298448" cy="585216"/>
          </a:xfrm>
          <a:prstGeom prst="roundRect">
            <a:avLst>
              <a:gd name="adj" fmla="val 12000"/>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LuServer_b.png"/>
          <p:cNvPicPr>
            <a:picLocks noChangeAspect="1"/>
          </p:cNvPicPr>
          <p:nvPr/>
        </p:nvPicPr>
        <p:blipFill>
          <a:blip r:embed="rId6"/>
          <a:stretch>
            <a:fillRect/>
          </a:stretch>
        </p:blipFill>
        <p:spPr>
          <a:xfrm>
            <a:off x="3172968" y="2770632"/>
            <a:ext cx="182880" cy="182880"/>
          </a:xfrm>
          <a:prstGeom prst="rect">
            <a:avLst/>
          </a:prstGeom>
        </p:spPr>
      </p:pic>
      <p:sp>
        <p:nvSpPr>
          <p:cNvPr id="43" name="TextBox 42"/>
          <p:cNvSpPr txBox="1"/>
          <p:nvPr/>
        </p:nvSpPr>
        <p:spPr>
          <a:xfrm>
            <a:off x="3410712" y="2779776"/>
            <a:ext cx="914400" cy="164592"/>
          </a:xfrm>
          <a:prstGeom prst="rect">
            <a:avLst/>
          </a:prstGeom>
          <a:noFill/>
        </p:spPr>
        <p:txBody>
          <a:bodyPr wrap="square" lIns="0" tIns="0" rIns="0" bIns="0" anchor="t">
            <a:noAutofit/>
          </a:bodyPr>
          <a:lstStyle/>
          <a:p>
            <a:pPr algn="l"/>
            <a:r>
              <a:rPr sz="800" b="1" i="0">
                <a:solidFill>
                  <a:srgbClr val="1A1A1E"/>
                </a:solidFill>
                <a:latin typeface="Inter"/>
              </a:rPr>
              <a:t>Healing Agent</a:t>
            </a:r>
          </a:p>
        </p:txBody>
      </p:sp>
      <p:sp>
        <p:nvSpPr>
          <p:cNvPr id="44" name="TextBox 43"/>
          <p:cNvSpPr txBox="1"/>
          <p:nvPr/>
        </p:nvSpPr>
        <p:spPr>
          <a:xfrm>
            <a:off x="3172968" y="3017520"/>
            <a:ext cx="1133856" cy="182880"/>
          </a:xfrm>
          <a:prstGeom prst="rect">
            <a:avLst/>
          </a:prstGeom>
          <a:noFill/>
        </p:spPr>
        <p:txBody>
          <a:bodyPr wrap="square" lIns="0" tIns="0" rIns="0" bIns="0" anchor="t">
            <a:noAutofit/>
          </a:bodyPr>
          <a:lstStyle/>
          <a:p>
            <a:pPr algn="l"/>
            <a:r>
              <a:rPr sz="700" b="0" i="0">
                <a:solidFill>
                  <a:srgbClr val="5A6472"/>
                </a:solidFill>
                <a:latin typeface="Inter"/>
              </a:rPr>
              <a:t>FastAPI over HTTPS</a:t>
            </a:r>
          </a:p>
        </p:txBody>
      </p:sp>
      <p:sp>
        <p:nvSpPr>
          <p:cNvPr id="45" name="Rounded Rectangle 44"/>
          <p:cNvSpPr/>
          <p:nvPr/>
        </p:nvSpPr>
        <p:spPr>
          <a:xfrm>
            <a:off x="4636008" y="2679192"/>
            <a:ext cx="1298448"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LuListFilter_b.png"/>
          <p:cNvPicPr>
            <a:picLocks noChangeAspect="1"/>
          </p:cNvPicPr>
          <p:nvPr/>
        </p:nvPicPr>
        <p:blipFill>
          <a:blip r:embed="rId7"/>
          <a:stretch>
            <a:fillRect/>
          </a:stretch>
        </p:blipFill>
        <p:spPr>
          <a:xfrm>
            <a:off x="4727448" y="2770632"/>
            <a:ext cx="182880" cy="182880"/>
          </a:xfrm>
          <a:prstGeom prst="rect">
            <a:avLst/>
          </a:prstGeom>
        </p:spPr>
      </p:pic>
      <p:sp>
        <p:nvSpPr>
          <p:cNvPr id="47" name="TextBox 46"/>
          <p:cNvSpPr txBox="1"/>
          <p:nvPr/>
        </p:nvSpPr>
        <p:spPr>
          <a:xfrm>
            <a:off x="4965192" y="2779776"/>
            <a:ext cx="914400" cy="164592"/>
          </a:xfrm>
          <a:prstGeom prst="rect">
            <a:avLst/>
          </a:prstGeom>
          <a:noFill/>
        </p:spPr>
        <p:txBody>
          <a:bodyPr wrap="square" lIns="0" tIns="0" rIns="0" bIns="0" anchor="t">
            <a:noAutofit/>
          </a:bodyPr>
          <a:lstStyle/>
          <a:p>
            <a:pPr algn="l"/>
            <a:r>
              <a:rPr sz="800" b="1" i="0">
                <a:solidFill>
                  <a:srgbClr val="1A1A1E"/>
                </a:solidFill>
                <a:latin typeface="Inter"/>
              </a:rPr>
              <a:t>Similarity engine</a:t>
            </a:r>
          </a:p>
        </p:txBody>
      </p:sp>
      <p:sp>
        <p:nvSpPr>
          <p:cNvPr id="48" name="TextBox 47"/>
          <p:cNvSpPr txBox="1"/>
          <p:nvPr/>
        </p:nvSpPr>
        <p:spPr>
          <a:xfrm>
            <a:off x="4727448" y="3017520"/>
            <a:ext cx="1133856" cy="182880"/>
          </a:xfrm>
          <a:prstGeom prst="rect">
            <a:avLst/>
          </a:prstGeom>
          <a:noFill/>
        </p:spPr>
        <p:txBody>
          <a:bodyPr wrap="square" lIns="0" tIns="0" rIns="0" bIns="0" anchor="t">
            <a:noAutofit/>
          </a:bodyPr>
          <a:lstStyle/>
          <a:p>
            <a:pPr algn="l"/>
            <a:r>
              <a:rPr sz="700" b="0" i="0">
                <a:solidFill>
                  <a:srgbClr val="5A6472"/>
                </a:solidFill>
                <a:latin typeface="Inter"/>
              </a:rPr>
              <a:t>8 signals + embeddings</a:t>
            </a:r>
          </a:p>
        </p:txBody>
      </p:sp>
      <p:sp>
        <p:nvSpPr>
          <p:cNvPr id="49" name="Rounded Rectangle 48"/>
          <p:cNvSpPr/>
          <p:nvPr/>
        </p:nvSpPr>
        <p:spPr>
          <a:xfrm>
            <a:off x="3081528" y="3648456"/>
            <a:ext cx="1298448" cy="585216"/>
          </a:xfrm>
          <a:prstGeom prst="roundRect">
            <a:avLst>
              <a:gd name="adj" fmla="val 12000"/>
            </a:avLst>
          </a:prstGeom>
          <a:solidFill>
            <a:srgbClr val="FFFFFF"/>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LuGauge_b.png"/>
          <p:cNvPicPr>
            <a:picLocks noChangeAspect="1"/>
          </p:cNvPicPr>
          <p:nvPr/>
        </p:nvPicPr>
        <p:blipFill>
          <a:blip r:embed="rId8"/>
          <a:stretch>
            <a:fillRect/>
          </a:stretch>
        </p:blipFill>
        <p:spPr>
          <a:xfrm>
            <a:off x="3172968" y="3739896"/>
            <a:ext cx="182880" cy="182880"/>
          </a:xfrm>
          <a:prstGeom prst="rect">
            <a:avLst/>
          </a:prstGeom>
        </p:spPr>
      </p:pic>
      <p:sp>
        <p:nvSpPr>
          <p:cNvPr id="51" name="TextBox 50"/>
          <p:cNvSpPr txBox="1"/>
          <p:nvPr/>
        </p:nvSpPr>
        <p:spPr>
          <a:xfrm>
            <a:off x="3410712" y="3749040"/>
            <a:ext cx="914400" cy="164592"/>
          </a:xfrm>
          <a:prstGeom prst="rect">
            <a:avLst/>
          </a:prstGeom>
          <a:noFill/>
        </p:spPr>
        <p:txBody>
          <a:bodyPr wrap="square" lIns="0" tIns="0" rIns="0" bIns="0" anchor="t">
            <a:noAutofit/>
          </a:bodyPr>
          <a:lstStyle/>
          <a:p>
            <a:pPr algn="l"/>
            <a:r>
              <a:rPr sz="800" b="1" i="0">
                <a:solidFill>
                  <a:srgbClr val="1A1A1E"/>
                </a:solidFill>
                <a:latin typeface="Inter"/>
              </a:rPr>
              <a:t>Execution policy</a:t>
            </a:r>
          </a:p>
        </p:txBody>
      </p:sp>
      <p:sp>
        <p:nvSpPr>
          <p:cNvPr id="52" name="TextBox 51"/>
          <p:cNvSpPr txBox="1"/>
          <p:nvPr/>
        </p:nvSpPr>
        <p:spPr>
          <a:xfrm>
            <a:off x="3172968" y="3986784"/>
            <a:ext cx="1133856" cy="182880"/>
          </a:xfrm>
          <a:prstGeom prst="rect">
            <a:avLst/>
          </a:prstGeom>
          <a:noFill/>
        </p:spPr>
        <p:txBody>
          <a:bodyPr wrap="square" lIns="0" tIns="0" rIns="0" bIns="0" anchor="t">
            <a:noAutofit/>
          </a:bodyPr>
          <a:lstStyle/>
          <a:p>
            <a:pPr algn="l"/>
            <a:r>
              <a:rPr sz="700" b="0" i="0">
                <a:solidFill>
                  <a:srgbClr val="5A6472"/>
                </a:solidFill>
                <a:latin typeface="Inter"/>
              </a:rPr>
              <a:t>confidence-based</a:t>
            </a:r>
          </a:p>
        </p:txBody>
      </p:sp>
      <p:sp>
        <p:nvSpPr>
          <p:cNvPr id="53" name="Rounded Rectangle 52"/>
          <p:cNvSpPr/>
          <p:nvPr/>
        </p:nvSpPr>
        <p:spPr>
          <a:xfrm>
            <a:off x="4636008" y="3648456"/>
            <a:ext cx="1298448" cy="585216"/>
          </a:xfrm>
          <a:prstGeom prst="roundRect">
            <a:avLst>
              <a:gd name="adj" fmla="val 12000"/>
            </a:avLst>
          </a:prstGeom>
          <a:solidFill>
            <a:srgbClr val="FFFFFF"/>
          </a:solidFill>
          <a:ln w="15875">
            <a:solidFill>
              <a:srgbClr val="C170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LuBrain_o.png"/>
          <p:cNvPicPr>
            <a:picLocks noChangeAspect="1"/>
          </p:cNvPicPr>
          <p:nvPr/>
        </p:nvPicPr>
        <p:blipFill>
          <a:blip r:embed="rId9"/>
          <a:stretch>
            <a:fillRect/>
          </a:stretch>
        </p:blipFill>
        <p:spPr>
          <a:xfrm>
            <a:off x="4727448" y="3739896"/>
            <a:ext cx="182880" cy="182880"/>
          </a:xfrm>
          <a:prstGeom prst="rect">
            <a:avLst/>
          </a:prstGeom>
        </p:spPr>
      </p:pic>
      <p:sp>
        <p:nvSpPr>
          <p:cNvPr id="55" name="TextBox 54"/>
          <p:cNvSpPr txBox="1"/>
          <p:nvPr/>
        </p:nvSpPr>
        <p:spPr>
          <a:xfrm>
            <a:off x="4965192" y="3749040"/>
            <a:ext cx="914400" cy="164592"/>
          </a:xfrm>
          <a:prstGeom prst="rect">
            <a:avLst/>
          </a:prstGeom>
          <a:noFill/>
        </p:spPr>
        <p:txBody>
          <a:bodyPr wrap="square" lIns="0" tIns="0" rIns="0" bIns="0" anchor="t">
            <a:noAutofit/>
          </a:bodyPr>
          <a:lstStyle/>
          <a:p>
            <a:pPr algn="l"/>
            <a:r>
              <a:rPr sz="800" b="1" i="0">
                <a:solidFill>
                  <a:srgbClr val="1A1A1E"/>
                </a:solidFill>
                <a:latin typeface="Inter"/>
              </a:rPr>
              <a:t>Fine-tuned AI</a:t>
            </a:r>
          </a:p>
        </p:txBody>
      </p:sp>
      <p:sp>
        <p:nvSpPr>
          <p:cNvPr id="56" name="TextBox 55"/>
          <p:cNvSpPr txBox="1"/>
          <p:nvPr/>
        </p:nvSpPr>
        <p:spPr>
          <a:xfrm>
            <a:off x="4727448" y="3986784"/>
            <a:ext cx="1133856" cy="182880"/>
          </a:xfrm>
          <a:prstGeom prst="rect">
            <a:avLst/>
          </a:prstGeom>
          <a:noFill/>
        </p:spPr>
        <p:txBody>
          <a:bodyPr wrap="square" lIns="0" tIns="0" rIns="0" bIns="0" anchor="t">
            <a:noAutofit/>
          </a:bodyPr>
          <a:lstStyle/>
          <a:p>
            <a:pPr algn="l"/>
            <a:r>
              <a:rPr sz="700" b="0" i="0">
                <a:solidFill>
                  <a:srgbClr val="5A6472"/>
                </a:solidFill>
                <a:latin typeface="Inter"/>
              </a:rPr>
              <a:t>checker + LLM on GPU</a:t>
            </a:r>
          </a:p>
        </p:txBody>
      </p:sp>
      <p:cxnSp>
        <p:nvCxnSpPr>
          <p:cNvPr id="57" name="Connector 56"/>
          <p:cNvCxnSpPr/>
          <p:nvPr/>
        </p:nvCxnSpPr>
        <p:spPr>
          <a:xfrm flipV="1">
            <a:off x="3730752" y="2295144"/>
            <a:ext cx="0" cy="384048"/>
          </a:xfrm>
          <a:prstGeom prst="line">
            <a:avLst/>
          </a:prstGeom>
          <a:ln w="12700">
            <a:solidFill>
              <a:srgbClr val="5F8B2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285232" y="2295144"/>
            <a:ext cx="0" cy="384048"/>
          </a:xfrm>
          <a:prstGeom prst="line">
            <a:avLst/>
          </a:prstGeom>
          <a:ln w="12700">
            <a:solidFill>
              <a:srgbClr val="5F8B2F"/>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4379976" y="2971800"/>
            <a:ext cx="256032" cy="0"/>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85232" y="3264408"/>
            <a:ext cx="0" cy="384048"/>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4379976" y="3941064"/>
            <a:ext cx="256032" cy="0"/>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730752" y="3264408"/>
            <a:ext cx="0" cy="384048"/>
          </a:xfrm>
          <a:prstGeom prst="line">
            <a:avLst/>
          </a:prstGeom>
          <a:ln w="12700">
            <a:solidFill>
              <a:srgbClr val="5A647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2203704" y="2880360"/>
            <a:ext cx="877824" cy="0"/>
          </a:xfrm>
          <a:prstGeom prst="line">
            <a:avLst/>
          </a:prstGeom>
          <a:ln w="15875">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2203704" y="3063240"/>
            <a:ext cx="877824" cy="0"/>
          </a:xfrm>
          <a:prstGeom prst="line">
            <a:avLst/>
          </a:prstGeom>
          <a:ln w="15875">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2258568" y="2496312"/>
            <a:ext cx="786384" cy="310896"/>
          </a:xfrm>
          <a:prstGeom prst="rect">
            <a:avLst/>
          </a:prstGeom>
          <a:noFill/>
        </p:spPr>
        <p:txBody>
          <a:bodyPr wrap="square" lIns="0" tIns="0" rIns="0" bIns="0" anchor="t">
            <a:noAutofit/>
          </a:bodyPr>
          <a:lstStyle/>
          <a:p>
            <a:pPr algn="ctr">
              <a:lnSpc>
                <a:spcPct val="95000"/>
              </a:lnSpc>
            </a:pPr>
            <a:r>
              <a:rPr sz="650" b="1" i="0">
                <a:solidFill>
                  <a:srgbClr val="1428A0"/>
                </a:solidFill>
                <a:latin typeface="Inter"/>
              </a:rPr>
              <a:t>fingerprints</a:t>
            </a:r>
          </a:p>
          <a:p>
            <a:pPr algn="ctr">
              <a:lnSpc>
                <a:spcPct val="95000"/>
              </a:lnSpc>
            </a:pPr>
            <a:r>
              <a:rPr sz="650" b="1" i="0">
                <a:solidFill>
                  <a:srgbClr val="1428A0"/>
                </a:solidFill>
                <a:latin typeface="Inter"/>
              </a:rPr>
              <a:t>only</a:t>
            </a:r>
          </a:p>
        </p:txBody>
      </p:sp>
      <p:sp>
        <p:nvSpPr>
          <p:cNvPr id="66" name="TextBox 65"/>
          <p:cNvSpPr txBox="1"/>
          <p:nvPr/>
        </p:nvSpPr>
        <p:spPr>
          <a:xfrm>
            <a:off x="2258568" y="3145536"/>
            <a:ext cx="786384" cy="310896"/>
          </a:xfrm>
          <a:prstGeom prst="rect">
            <a:avLst/>
          </a:prstGeom>
          <a:noFill/>
        </p:spPr>
        <p:txBody>
          <a:bodyPr wrap="square" lIns="0" tIns="0" rIns="0" bIns="0" anchor="t">
            <a:noAutofit/>
          </a:bodyPr>
          <a:lstStyle/>
          <a:p>
            <a:pPr algn="ctr">
              <a:lnSpc>
                <a:spcPct val="95000"/>
              </a:lnSpc>
            </a:pPr>
            <a:r>
              <a:rPr sz="650" b="1" i="0">
                <a:solidFill>
                  <a:srgbClr val="1428A0"/>
                </a:solidFill>
                <a:latin typeface="Inter"/>
              </a:rPr>
              <a:t>an index,</a:t>
            </a:r>
          </a:p>
          <a:p>
            <a:pPr algn="ctr">
              <a:lnSpc>
                <a:spcPct val="95000"/>
              </a:lnSpc>
            </a:pPr>
            <a:r>
              <a:rPr sz="650" b="1" i="0">
                <a:solidFill>
                  <a:srgbClr val="1428A0"/>
                </a:solidFill>
                <a:latin typeface="Inter"/>
              </a:rPr>
              <a:t>not a selector</a:t>
            </a:r>
          </a:p>
        </p:txBody>
      </p:sp>
      <p:sp>
        <p:nvSpPr>
          <p:cNvPr id="67" name="TextBox 66"/>
          <p:cNvSpPr txBox="1"/>
          <p:nvPr/>
        </p:nvSpPr>
        <p:spPr>
          <a:xfrm>
            <a:off x="6217920" y="1325880"/>
            <a:ext cx="2258568" cy="146304"/>
          </a:xfrm>
          <a:prstGeom prst="rect">
            <a:avLst/>
          </a:prstGeom>
          <a:noFill/>
        </p:spPr>
        <p:txBody>
          <a:bodyPr wrap="square" lIns="0" tIns="0" rIns="0" bIns="0" anchor="t">
            <a:noAutofit/>
          </a:bodyPr>
          <a:lstStyle/>
          <a:p>
            <a:pPr algn="l"/>
            <a:r>
              <a:rPr sz="700" b="1" i="0" spc="90">
                <a:solidFill>
                  <a:srgbClr val="1428A0"/>
                </a:solidFill>
                <a:latin typeface="Inter"/>
              </a:rPr>
              <a:t>TECHNOLOGY STACK</a:t>
            </a:r>
          </a:p>
        </p:txBody>
      </p:sp>
      <p:sp>
        <p:nvSpPr>
          <p:cNvPr id="68" name="Rounded Rectangle 67"/>
          <p:cNvSpPr/>
          <p:nvPr/>
        </p:nvSpPr>
        <p:spPr>
          <a:xfrm>
            <a:off x="6217920" y="1536192"/>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6327648" y="1664208"/>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0" name="Picture 69" descr="LuBot_w.png"/>
          <p:cNvPicPr>
            <a:picLocks noChangeAspect="1"/>
          </p:cNvPicPr>
          <p:nvPr/>
        </p:nvPicPr>
        <p:blipFill>
          <a:blip r:embed="rId10"/>
          <a:stretch>
            <a:fillRect/>
          </a:stretch>
        </p:blipFill>
        <p:spPr>
          <a:xfrm>
            <a:off x="6393485" y="1730045"/>
            <a:ext cx="142646" cy="142646"/>
          </a:xfrm>
          <a:prstGeom prst="rect">
            <a:avLst/>
          </a:prstGeom>
        </p:spPr>
      </p:pic>
      <p:sp>
        <p:nvSpPr>
          <p:cNvPr id="71" name="TextBox 70"/>
          <p:cNvSpPr txBox="1"/>
          <p:nvPr/>
        </p:nvSpPr>
        <p:spPr>
          <a:xfrm>
            <a:off x="6711696" y="1600200"/>
            <a:ext cx="1645920" cy="146304"/>
          </a:xfrm>
          <a:prstGeom prst="rect">
            <a:avLst/>
          </a:prstGeom>
          <a:noFill/>
        </p:spPr>
        <p:txBody>
          <a:bodyPr wrap="square" lIns="0" tIns="0" rIns="0" bIns="0" anchor="t">
            <a:noAutofit/>
          </a:bodyPr>
          <a:lstStyle/>
          <a:p>
            <a:pPr algn="l"/>
            <a:r>
              <a:rPr lang="en-US" sz="650" b="1" i="0" spc="90" dirty="0">
                <a:solidFill>
                  <a:srgbClr val="1428A0"/>
                </a:solidFill>
                <a:latin typeface="Inter"/>
              </a:rPr>
              <a:t>ROBOT</a:t>
            </a:r>
          </a:p>
        </p:txBody>
      </p:sp>
      <p:sp>
        <p:nvSpPr>
          <p:cNvPr id="72" name="TextBox 71"/>
          <p:cNvSpPr txBox="1"/>
          <p:nvPr/>
        </p:nvSpPr>
        <p:spPr>
          <a:xfrm>
            <a:off x="6711696" y="1737360"/>
            <a:ext cx="1673352" cy="292608"/>
          </a:xfrm>
          <a:prstGeom prst="rect">
            <a:avLst/>
          </a:prstGeom>
          <a:noFill/>
        </p:spPr>
        <p:txBody>
          <a:bodyPr wrap="square" lIns="0" tIns="0" rIns="0" bIns="0" anchor="t">
            <a:noAutofit/>
          </a:bodyPr>
          <a:lstStyle/>
          <a:p>
            <a:pPr algn="l">
              <a:lnSpc>
                <a:spcPct val="105000"/>
              </a:lnSpc>
            </a:pPr>
            <a:r>
              <a:rPr sz="800" b="0" i="0" dirty="0">
                <a:solidFill>
                  <a:srgbClr val="1A1A1E"/>
                </a:solidFill>
                <a:latin typeface="Inter"/>
              </a:rPr>
              <a:t>Python · Selenium · Playwright</a:t>
            </a:r>
          </a:p>
        </p:txBody>
      </p:sp>
      <p:sp>
        <p:nvSpPr>
          <p:cNvPr id="73" name="Rounded Rectangle 72"/>
          <p:cNvSpPr/>
          <p:nvPr/>
        </p:nvSpPr>
        <p:spPr>
          <a:xfrm>
            <a:off x="6217920" y="2139696"/>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6327648" y="2267712"/>
            <a:ext cx="274320" cy="274320"/>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5" name="Picture 74" descr="LuServer_w.png"/>
          <p:cNvPicPr>
            <a:picLocks noChangeAspect="1"/>
          </p:cNvPicPr>
          <p:nvPr/>
        </p:nvPicPr>
        <p:blipFill>
          <a:blip r:embed="rId11"/>
          <a:stretch>
            <a:fillRect/>
          </a:stretch>
        </p:blipFill>
        <p:spPr>
          <a:xfrm>
            <a:off x="6393485" y="2333549"/>
            <a:ext cx="142646" cy="142646"/>
          </a:xfrm>
          <a:prstGeom prst="rect">
            <a:avLst/>
          </a:prstGeom>
        </p:spPr>
      </p:pic>
      <p:sp>
        <p:nvSpPr>
          <p:cNvPr id="76" name="TextBox 75"/>
          <p:cNvSpPr txBox="1"/>
          <p:nvPr/>
        </p:nvSpPr>
        <p:spPr>
          <a:xfrm>
            <a:off x="6711696" y="2203704"/>
            <a:ext cx="1645920" cy="146304"/>
          </a:xfrm>
          <a:prstGeom prst="rect">
            <a:avLst/>
          </a:prstGeom>
          <a:noFill/>
        </p:spPr>
        <p:txBody>
          <a:bodyPr wrap="square" lIns="0" tIns="0" rIns="0" bIns="0" anchor="t">
            <a:noAutofit/>
          </a:bodyPr>
          <a:lstStyle/>
          <a:p>
            <a:pPr algn="l"/>
            <a:r>
              <a:rPr sz="650" b="1" i="0" spc="90">
                <a:solidFill>
                  <a:srgbClr val="2A5C9E"/>
                </a:solidFill>
                <a:latin typeface="Inter"/>
              </a:rPr>
              <a:t>HEALING AGENT</a:t>
            </a:r>
          </a:p>
        </p:txBody>
      </p:sp>
      <p:sp>
        <p:nvSpPr>
          <p:cNvPr id="77" name="TextBox 76"/>
          <p:cNvSpPr txBox="1"/>
          <p:nvPr/>
        </p:nvSpPr>
        <p:spPr>
          <a:xfrm>
            <a:off x="6711696" y="2340864"/>
            <a:ext cx="1673352" cy="292608"/>
          </a:xfrm>
          <a:prstGeom prst="rect">
            <a:avLst/>
          </a:prstGeom>
          <a:noFill/>
        </p:spPr>
        <p:txBody>
          <a:bodyPr wrap="square" lIns="0" tIns="0" rIns="0" bIns="0" anchor="t">
            <a:noAutofit/>
          </a:bodyPr>
          <a:lstStyle/>
          <a:p>
            <a:pPr algn="l">
              <a:lnSpc>
                <a:spcPct val="105000"/>
              </a:lnSpc>
            </a:pPr>
            <a:r>
              <a:rPr sz="800" b="0" i="0">
                <a:solidFill>
                  <a:srgbClr val="1A1A1E"/>
                </a:solidFill>
                <a:latin typeface="Inter"/>
              </a:rPr>
              <a:t>FastAPI · Uvicorn</a:t>
            </a:r>
          </a:p>
        </p:txBody>
      </p:sp>
      <p:sp>
        <p:nvSpPr>
          <p:cNvPr id="78" name="Rounded Rectangle 77"/>
          <p:cNvSpPr/>
          <p:nvPr/>
        </p:nvSpPr>
        <p:spPr>
          <a:xfrm>
            <a:off x="6217920" y="2743200"/>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6327648" y="2871216"/>
            <a:ext cx="274320" cy="274320"/>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0" name="Picture 79" descr="LuBrain_w.png"/>
          <p:cNvPicPr>
            <a:picLocks noChangeAspect="1"/>
          </p:cNvPicPr>
          <p:nvPr/>
        </p:nvPicPr>
        <p:blipFill>
          <a:blip r:embed="rId12"/>
          <a:stretch>
            <a:fillRect/>
          </a:stretch>
        </p:blipFill>
        <p:spPr>
          <a:xfrm>
            <a:off x="6393485" y="2937053"/>
            <a:ext cx="142646" cy="142646"/>
          </a:xfrm>
          <a:prstGeom prst="rect">
            <a:avLst/>
          </a:prstGeom>
        </p:spPr>
      </p:pic>
      <p:sp>
        <p:nvSpPr>
          <p:cNvPr id="81" name="TextBox 80"/>
          <p:cNvSpPr txBox="1"/>
          <p:nvPr/>
        </p:nvSpPr>
        <p:spPr>
          <a:xfrm>
            <a:off x="6711696" y="2807208"/>
            <a:ext cx="1645920" cy="146304"/>
          </a:xfrm>
          <a:prstGeom prst="rect">
            <a:avLst/>
          </a:prstGeom>
          <a:noFill/>
        </p:spPr>
        <p:txBody>
          <a:bodyPr wrap="square" lIns="0" tIns="0" rIns="0" bIns="0" anchor="t">
            <a:noAutofit/>
          </a:bodyPr>
          <a:lstStyle/>
          <a:p>
            <a:pPr algn="l"/>
            <a:r>
              <a:rPr sz="650" b="1" i="0" spc="90">
                <a:solidFill>
                  <a:srgbClr val="C1702D"/>
                </a:solidFill>
                <a:latin typeface="Inter"/>
              </a:rPr>
              <a:t>AI</a:t>
            </a:r>
          </a:p>
        </p:txBody>
      </p:sp>
      <p:sp>
        <p:nvSpPr>
          <p:cNvPr id="82" name="TextBox 81"/>
          <p:cNvSpPr txBox="1"/>
          <p:nvPr/>
        </p:nvSpPr>
        <p:spPr>
          <a:xfrm>
            <a:off x="6711696" y="2944368"/>
            <a:ext cx="1673352" cy="292608"/>
          </a:xfrm>
          <a:prstGeom prst="rect">
            <a:avLst/>
          </a:prstGeom>
          <a:noFill/>
        </p:spPr>
        <p:txBody>
          <a:bodyPr wrap="square" lIns="0" tIns="0" rIns="0" bIns="0" anchor="t">
            <a:noAutofit/>
          </a:bodyPr>
          <a:lstStyle/>
          <a:p>
            <a:pPr algn="l">
              <a:lnSpc>
                <a:spcPct val="105000"/>
              </a:lnSpc>
            </a:pPr>
            <a:r>
              <a:rPr sz="800" b="0" i="0" dirty="0">
                <a:solidFill>
                  <a:srgbClr val="1A1A1E"/>
                </a:solidFill>
                <a:latin typeface="Inter"/>
              </a:rPr>
              <a:t>Fine-tuned LLM + checker · llama.cpp · CUDA</a:t>
            </a:r>
          </a:p>
        </p:txBody>
      </p:sp>
      <p:sp>
        <p:nvSpPr>
          <p:cNvPr id="83" name="Rounded Rectangle 82"/>
          <p:cNvSpPr/>
          <p:nvPr/>
        </p:nvSpPr>
        <p:spPr>
          <a:xfrm>
            <a:off x="6217920" y="3346704"/>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6327648" y="3474720"/>
            <a:ext cx="274320" cy="274320"/>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5" name="Picture 84" descr="LuDatabase_w.png"/>
          <p:cNvPicPr>
            <a:picLocks noChangeAspect="1"/>
          </p:cNvPicPr>
          <p:nvPr/>
        </p:nvPicPr>
        <p:blipFill>
          <a:blip r:embed="rId13"/>
          <a:stretch>
            <a:fillRect/>
          </a:stretch>
        </p:blipFill>
        <p:spPr>
          <a:xfrm>
            <a:off x="6393485" y="3540557"/>
            <a:ext cx="142646" cy="142646"/>
          </a:xfrm>
          <a:prstGeom prst="rect">
            <a:avLst/>
          </a:prstGeom>
        </p:spPr>
      </p:pic>
      <p:sp>
        <p:nvSpPr>
          <p:cNvPr id="86" name="TextBox 85"/>
          <p:cNvSpPr txBox="1"/>
          <p:nvPr/>
        </p:nvSpPr>
        <p:spPr>
          <a:xfrm>
            <a:off x="6711696" y="3410712"/>
            <a:ext cx="1645920" cy="146304"/>
          </a:xfrm>
          <a:prstGeom prst="rect">
            <a:avLst/>
          </a:prstGeom>
          <a:noFill/>
        </p:spPr>
        <p:txBody>
          <a:bodyPr wrap="square" lIns="0" tIns="0" rIns="0" bIns="0" anchor="t">
            <a:noAutofit/>
          </a:bodyPr>
          <a:lstStyle/>
          <a:p>
            <a:pPr algn="l"/>
            <a:r>
              <a:rPr sz="650" b="1" i="0" spc="90">
                <a:solidFill>
                  <a:srgbClr val="5F8B2F"/>
                </a:solidFill>
                <a:latin typeface="Inter"/>
              </a:rPr>
              <a:t>RAG MEMORY</a:t>
            </a:r>
          </a:p>
        </p:txBody>
      </p:sp>
      <p:sp>
        <p:nvSpPr>
          <p:cNvPr id="87" name="TextBox 86"/>
          <p:cNvSpPr txBox="1"/>
          <p:nvPr/>
        </p:nvSpPr>
        <p:spPr>
          <a:xfrm>
            <a:off x="6711696" y="3547872"/>
            <a:ext cx="1673352" cy="292608"/>
          </a:xfrm>
          <a:prstGeom prst="rect">
            <a:avLst/>
          </a:prstGeom>
          <a:noFill/>
        </p:spPr>
        <p:txBody>
          <a:bodyPr wrap="square" lIns="0" tIns="0" rIns="0" bIns="0" anchor="t">
            <a:noAutofit/>
          </a:bodyPr>
          <a:lstStyle/>
          <a:p>
            <a:pPr algn="l">
              <a:lnSpc>
                <a:spcPct val="105000"/>
              </a:lnSpc>
            </a:pPr>
            <a:r>
              <a:rPr sz="800" b="0" i="0">
                <a:solidFill>
                  <a:srgbClr val="1A1A1E"/>
                </a:solidFill>
                <a:latin typeface="Inter"/>
              </a:rPr>
              <a:t>SQLite fixes · JSON fingerprints</a:t>
            </a:r>
          </a:p>
        </p:txBody>
      </p:sp>
      <p:sp>
        <p:nvSpPr>
          <p:cNvPr id="88" name="Rounded Rectangle 87"/>
          <p:cNvSpPr/>
          <p:nvPr/>
        </p:nvSpPr>
        <p:spPr>
          <a:xfrm>
            <a:off x="6217920" y="3950208"/>
            <a:ext cx="2258568" cy="530352"/>
          </a:xfrm>
          <a:prstGeom prst="roundRect">
            <a:avLst>
              <a:gd name="adj" fmla="val 12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6327648" y="4078224"/>
            <a:ext cx="274320" cy="274320"/>
          </a:xfrm>
          <a:prstGeom prst="ellipse">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0" name="Picture 89" descr="LuHardDrive_w.png"/>
          <p:cNvPicPr>
            <a:picLocks noChangeAspect="1"/>
          </p:cNvPicPr>
          <p:nvPr/>
        </p:nvPicPr>
        <p:blipFill>
          <a:blip r:embed="rId14"/>
          <a:stretch>
            <a:fillRect/>
          </a:stretch>
        </p:blipFill>
        <p:spPr>
          <a:xfrm>
            <a:off x="6393485" y="4144061"/>
            <a:ext cx="142646" cy="142646"/>
          </a:xfrm>
          <a:prstGeom prst="rect">
            <a:avLst/>
          </a:prstGeom>
        </p:spPr>
      </p:pic>
      <p:sp>
        <p:nvSpPr>
          <p:cNvPr id="91" name="TextBox 90"/>
          <p:cNvSpPr txBox="1"/>
          <p:nvPr/>
        </p:nvSpPr>
        <p:spPr>
          <a:xfrm>
            <a:off x="6711696" y="4014216"/>
            <a:ext cx="1645920" cy="146304"/>
          </a:xfrm>
          <a:prstGeom prst="rect">
            <a:avLst/>
          </a:prstGeom>
          <a:noFill/>
        </p:spPr>
        <p:txBody>
          <a:bodyPr wrap="square" lIns="0" tIns="0" rIns="0" bIns="0" anchor="t">
            <a:noAutofit/>
          </a:bodyPr>
          <a:lstStyle/>
          <a:p>
            <a:pPr algn="l"/>
            <a:r>
              <a:rPr sz="650" b="1" i="0" spc="90">
                <a:solidFill>
                  <a:srgbClr val="1A2340"/>
                </a:solidFill>
                <a:latin typeface="Inter"/>
              </a:rPr>
              <a:t>INFRASTRUCTURE</a:t>
            </a:r>
          </a:p>
        </p:txBody>
      </p:sp>
      <p:sp>
        <p:nvSpPr>
          <p:cNvPr id="92" name="TextBox 91"/>
          <p:cNvSpPr txBox="1"/>
          <p:nvPr/>
        </p:nvSpPr>
        <p:spPr>
          <a:xfrm>
            <a:off x="6711696" y="4151376"/>
            <a:ext cx="1673352" cy="292608"/>
          </a:xfrm>
          <a:prstGeom prst="rect">
            <a:avLst/>
          </a:prstGeom>
          <a:noFill/>
        </p:spPr>
        <p:txBody>
          <a:bodyPr wrap="square" lIns="0" tIns="0" rIns="0" bIns="0" anchor="t">
            <a:noAutofit/>
          </a:bodyPr>
          <a:lstStyle/>
          <a:p>
            <a:pPr algn="l">
              <a:lnSpc>
                <a:spcPct val="105000"/>
              </a:lnSpc>
            </a:pPr>
            <a:r>
              <a:rPr sz="800" b="0" i="0">
                <a:solidFill>
                  <a:srgbClr val="1A1A1E"/>
                </a:solidFill>
                <a:latin typeface="Inter"/>
              </a:rPr>
              <a:t>24 GB GPU server · internal HTTPS</a:t>
            </a:r>
          </a:p>
        </p:txBody>
      </p:sp>
      <p:sp>
        <p:nvSpPr>
          <p:cNvPr id="93" name="RAG memory"/>
          <p:cNvSpPr/>
          <p:nvPr/>
        </p:nvSpPr>
        <p:spPr>
          <a:xfrm>
            <a:off x="3081528" y="1709928"/>
            <a:ext cx="2852928" cy="585216"/>
          </a:xfrm>
          <a:prstGeom prst="roundRect">
            <a:avLst>
              <a:gd name="adj" fmla="val 12000"/>
            </a:avLst>
          </a:prstGeom>
          <a:solidFill>
            <a:srgbClr val="EEF5E6"/>
          </a:solidFill>
          <a:ln w="15875">
            <a:solidFill>
              <a:srgbClr val="5F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4" name="RAG memory icon" descr="Lu-database-5F8B2F.png"/>
          <p:cNvPicPr>
            <a:picLocks noChangeAspect="1"/>
          </p:cNvPicPr>
          <p:nvPr/>
        </p:nvPicPr>
        <p:blipFill>
          <a:blip r:embed="rId15"/>
          <a:stretch>
            <a:fillRect/>
          </a:stretch>
        </p:blipFill>
        <p:spPr>
          <a:xfrm>
            <a:off x="3191256" y="1801368"/>
            <a:ext cx="201168" cy="201168"/>
          </a:xfrm>
          <a:prstGeom prst="rect">
            <a:avLst/>
          </a:prstGeom>
        </p:spPr>
      </p:pic>
      <p:sp>
        <p:nvSpPr>
          <p:cNvPr id="95" name="RAG memory title"/>
          <p:cNvSpPr txBox="1"/>
          <p:nvPr/>
        </p:nvSpPr>
        <p:spPr>
          <a:xfrm>
            <a:off x="3474720" y="1815084"/>
            <a:ext cx="1280160" cy="164592"/>
          </a:xfrm>
          <a:prstGeom prst="rect">
            <a:avLst/>
          </a:prstGeom>
          <a:noFill/>
        </p:spPr>
        <p:txBody>
          <a:bodyPr wrap="square" lIns="0" tIns="0" rIns="0" bIns="0" anchor="t">
            <a:noAutofit/>
          </a:bodyPr>
          <a:lstStyle/>
          <a:p>
            <a:pPr algn="l"/>
            <a:r>
              <a:rPr lang="en-US" sz="850" b="1" i="0" dirty="0">
                <a:solidFill>
                  <a:srgbClr val="1A1A1E"/>
                </a:solidFill>
                <a:latin typeface="Inter"/>
              </a:rPr>
              <a:t>RAG memory</a:t>
            </a:r>
          </a:p>
        </p:txBody>
      </p:sp>
      <p:sp>
        <p:nvSpPr>
          <p:cNvPr id="96" name="RAG memory tag"/>
          <p:cNvSpPr/>
          <p:nvPr/>
        </p:nvSpPr>
        <p:spPr>
          <a:xfrm>
            <a:off x="4818888" y="1819656"/>
            <a:ext cx="1024128" cy="155448"/>
          </a:xfrm>
          <a:prstGeom prst="roundRect">
            <a:avLst>
              <a:gd name="adj" fmla="val 50000"/>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550" b="1" i="0" spc="40" dirty="0">
                <a:solidFill>
                  <a:srgbClr val="FFFFFF"/>
                </a:solidFill>
                <a:latin typeface="Inter"/>
              </a:rPr>
              <a:t>RETRIEVAL-AUGMENTED</a:t>
            </a:r>
          </a:p>
        </p:txBody>
      </p:sp>
      <p:sp>
        <p:nvSpPr>
          <p:cNvPr id="97" name="RAG memory detail"/>
          <p:cNvSpPr txBox="1"/>
          <p:nvPr/>
        </p:nvSpPr>
        <p:spPr>
          <a:xfrm>
            <a:off x="3191256" y="2075688"/>
            <a:ext cx="2670048" cy="146304"/>
          </a:xfrm>
          <a:prstGeom prst="rect">
            <a:avLst/>
          </a:prstGeom>
          <a:noFill/>
        </p:spPr>
        <p:txBody>
          <a:bodyPr wrap="square" lIns="0" tIns="0" rIns="0" bIns="0" anchor="t">
            <a:noAutofit/>
          </a:bodyPr>
          <a:lstStyle/>
          <a:p>
            <a:pPr algn="l"/>
            <a:r>
              <a:rPr lang="en-US" sz="700" b="0" i="0" dirty="0">
                <a:solidFill>
                  <a:srgbClr val="5A6472"/>
                </a:solidFill>
                <a:latin typeface="Inter"/>
              </a:rPr>
              <a:t>proven fleet fixes  ·  last-known-good fingerprints</a:t>
            </a:r>
          </a:p>
        </p:txBody>
      </p:sp>
      <p:sp>
        <p:nvSpPr>
          <p:cNvPr id="98" name="Learn label"/>
          <p:cNvSpPr txBox="1"/>
          <p:nvPr/>
        </p:nvSpPr>
        <p:spPr>
          <a:xfrm>
            <a:off x="3785616" y="2423160"/>
            <a:ext cx="502920" cy="118872"/>
          </a:xfrm>
          <a:prstGeom prst="rect">
            <a:avLst/>
          </a:prstGeom>
          <a:noFill/>
        </p:spPr>
        <p:txBody>
          <a:bodyPr wrap="square" lIns="0" tIns="0" rIns="0" bIns="0" anchor="t">
            <a:noAutofit/>
          </a:bodyPr>
          <a:lstStyle/>
          <a:p>
            <a:pPr algn="l"/>
            <a:r>
              <a:rPr lang="en-US" sz="600" b="0" i="0" dirty="0">
                <a:solidFill>
                  <a:srgbClr val="4A6E24"/>
                </a:solidFill>
                <a:latin typeface="JetBrains Mono"/>
              </a:rPr>
              <a:t>learn</a:t>
            </a:r>
          </a:p>
        </p:txBody>
      </p:sp>
      <p:sp>
        <p:nvSpPr>
          <p:cNvPr id="99" name="Retrieve label"/>
          <p:cNvSpPr txBox="1"/>
          <p:nvPr/>
        </p:nvSpPr>
        <p:spPr>
          <a:xfrm>
            <a:off x="5340096" y="2423160"/>
            <a:ext cx="548640" cy="118872"/>
          </a:xfrm>
          <a:prstGeom prst="rect">
            <a:avLst/>
          </a:prstGeom>
          <a:noFill/>
        </p:spPr>
        <p:txBody>
          <a:bodyPr wrap="square" lIns="0" tIns="0" rIns="0" bIns="0" anchor="t">
            <a:noAutofit/>
          </a:bodyPr>
          <a:lstStyle/>
          <a:p>
            <a:pPr algn="l"/>
            <a:r>
              <a:rPr lang="en-US" sz="600" b="0" i="0" dirty="0">
                <a:solidFill>
                  <a:srgbClr val="4A6E24"/>
                </a:solidFill>
                <a:latin typeface="JetBrains Mono"/>
              </a:rPr>
              <a:t>retrieve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lang="en-US" sz="855" b="1" i="0" spc="21" dirty="0">
                <a:solidFill>
                  <a:srgbClr val="FFFFFF"/>
                </a:solidFill>
                <a:latin typeface="Inter"/>
              </a:rPr>
              <a:t>SAMSUNG SDS</a:t>
            </a:r>
            <a:r>
              <a:rPr lang="en-US" sz="855" b="0" i="0" spc="21" dirty="0">
                <a:solidFill>
                  <a:srgbClr val="B9C6DA"/>
                </a:solidFill>
                <a:latin typeface="Inter"/>
              </a:rPr>
              <a:t>   |   </a:t>
            </a:r>
            <a:r>
              <a:rPr lang="en-US" sz="855" b="1" i="0" spc="21" dirty="0">
                <a:solidFill>
                  <a:srgbClr val="B9C6DA"/>
                </a:solidFill>
                <a:latin typeface="Inter"/>
              </a:rPr>
              <a:t>HOW IT WORKS  ·  HEALING FLOW</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05 / 10</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Healing flow: from a failure event to a recovered step.</a:t>
            </a: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lang="en-US" sz="950" b="0" i="0" dirty="0">
                <a:solidFill>
                  <a:srgbClr val="4A5668"/>
                </a:solidFill>
                <a:latin typeface="Inter"/>
              </a:rPr>
              <a:t>Event-driven and inline: the agent </a:t>
            </a:r>
            <a:r>
              <a:rPr lang="en-US" sz="950" b="1" i="0" dirty="0">
                <a:solidFill>
                  <a:srgbClr val="4A5668"/>
                </a:solidFill>
                <a:latin typeface="Inter"/>
              </a:rPr>
              <a:t>perceives the live page, reasons with fine-tuned AI and acts</a:t>
            </a:r>
            <a:r>
              <a:rPr lang="en-US" sz="950" b="0" i="0" dirty="0">
                <a:solidFill>
                  <a:srgbClr val="4A5668"/>
                </a:solidFill>
                <a:latin typeface="Inter"/>
              </a:rPr>
              <a:t> before the automation stops.</a:t>
            </a:r>
          </a:p>
        </p:txBody>
      </p:sp>
      <p:cxnSp>
        <p:nvCxnSpPr>
          <p:cNvPr id="13" name="Run line"/>
          <p:cNvCxnSpPr/>
          <p:nvPr/>
        </p:nvCxnSpPr>
        <p:spPr>
          <a:xfrm>
            <a:off x="1764792" y="1463040"/>
            <a:ext cx="5614416" cy="0"/>
          </a:xfrm>
          <a:prstGeom prst="line">
            <a:avLst/>
          </a:prstGeom>
          <a:ln w="12700">
            <a:solidFill>
              <a:srgbClr val="B9C6D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Run label"/>
          <p:cNvSpPr txBox="1"/>
          <p:nvPr/>
        </p:nvSpPr>
        <p:spPr>
          <a:xfrm>
            <a:off x="2762251" y="1385316"/>
            <a:ext cx="3619497" cy="155448"/>
          </a:xfrm>
          <a:prstGeom prst="rect">
            <a:avLst/>
          </a:prstGeom>
          <a:solidFill>
            <a:srgbClr val="FFFFFF"/>
          </a:solidFill>
        </p:spPr>
        <p:txBody>
          <a:bodyPr wrap="square" lIns="0" tIns="0" rIns="0" bIns="0" anchor="t">
            <a:noAutofit/>
          </a:bodyPr>
          <a:lstStyle/>
          <a:p>
            <a:pPr algn="ctr"/>
            <a:r>
              <a:rPr lang="en-US" sz="650" b="1" i="0" spc="90" dirty="0">
                <a:solidFill>
                  <a:srgbClr val="2A5C9E"/>
                </a:solidFill>
                <a:latin typeface="Inter"/>
              </a:rPr>
              <a:t>AUTOMATION RUN</a:t>
            </a:r>
            <a:r>
              <a:rPr lang="en-US" sz="650" b="0" i="0" dirty="0">
                <a:solidFill>
                  <a:srgbClr val="4A5668"/>
                </a:solidFill>
                <a:latin typeface="Inter"/>
              </a:rPr>
              <a:t>   waits inline while the agent heals (~6 s): no crash, no ticket, no redeploy</a:t>
            </a:r>
          </a:p>
        </p:txBody>
      </p:sp>
      <p:sp>
        <p:nvSpPr>
          <p:cNvPr id="15" name="Event chip"/>
          <p:cNvSpPr/>
          <p:nvPr/>
        </p:nvSpPr>
        <p:spPr>
          <a:xfrm>
            <a:off x="667512" y="1280160"/>
            <a:ext cx="1097280" cy="365760"/>
          </a:xfrm>
          <a:prstGeom prst="roundRect">
            <a:avLst>
              <a:gd name="adj" fmla="val 18000"/>
            </a:avLst>
          </a:prstGeom>
          <a:solidFill>
            <a:srgbClr val="FBEFE6"/>
          </a:solidFill>
          <a:ln w="12700">
            <a:solidFill>
              <a:srgbClr val="C170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Event chip icon" descr="Lu-zap-C1702D.png"/>
          <p:cNvPicPr>
            <a:picLocks noChangeAspect="1"/>
          </p:cNvPicPr>
          <p:nvPr/>
        </p:nvPicPr>
        <p:blipFill>
          <a:blip r:embed="rId3"/>
          <a:stretch>
            <a:fillRect/>
          </a:stretch>
        </p:blipFill>
        <p:spPr>
          <a:xfrm>
            <a:off x="749808" y="1380744"/>
            <a:ext cx="164592" cy="164592"/>
          </a:xfrm>
          <a:prstGeom prst="rect">
            <a:avLst/>
          </a:prstGeom>
        </p:spPr>
      </p:pic>
      <p:sp>
        <p:nvSpPr>
          <p:cNvPr id="17" name="Event chip text"/>
          <p:cNvSpPr txBox="1"/>
          <p:nvPr/>
        </p:nvSpPr>
        <p:spPr>
          <a:xfrm>
            <a:off x="969264" y="1325880"/>
            <a:ext cx="758952" cy="292608"/>
          </a:xfrm>
          <a:prstGeom prst="rect">
            <a:avLst/>
          </a:prstGeom>
          <a:noFill/>
        </p:spPr>
        <p:txBody>
          <a:bodyPr wrap="square" lIns="0" tIns="0" rIns="0" bIns="0" anchor="t">
            <a:noAutofit/>
          </a:bodyPr>
          <a:lstStyle/>
          <a:p>
            <a:pPr algn="l"/>
            <a:r>
              <a:rPr lang="en-US" sz="650" b="1" i="0" spc="60" dirty="0">
                <a:solidFill>
                  <a:srgbClr val="9A5620"/>
                </a:solidFill>
                <a:latin typeface="Inter"/>
              </a:rPr>
              <a:t>FAILURE EVENT</a:t>
            </a:r>
          </a:p>
          <a:p>
            <a:pPr algn="l"/>
            <a:r>
              <a:rPr lang="en-US" sz="700" b="0" i="0" dirty="0">
                <a:solidFill>
                  <a:srgbClr val="1A1A1E"/>
                </a:solidFill>
                <a:latin typeface="Inter"/>
              </a:rPr>
              <a:t>step 3: not found</a:t>
            </a:r>
          </a:p>
        </p:txBody>
      </p:sp>
      <p:sp>
        <p:nvSpPr>
          <p:cNvPr id="18" name="Resume chip"/>
          <p:cNvSpPr/>
          <p:nvPr/>
        </p:nvSpPr>
        <p:spPr>
          <a:xfrm>
            <a:off x="7379208" y="1280160"/>
            <a:ext cx="1097280" cy="365760"/>
          </a:xfrm>
          <a:prstGeom prst="roundRect">
            <a:avLst>
              <a:gd name="adj" fmla="val 18000"/>
            </a:avLst>
          </a:prstGeom>
          <a:solidFill>
            <a:srgbClr val="EEF5E6"/>
          </a:solidFill>
          <a:ln w="12700">
            <a:solidFill>
              <a:srgbClr val="5F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Resume chip icon" descr="Lu-circle-check-5F8B2F.png"/>
          <p:cNvPicPr>
            <a:picLocks noChangeAspect="1"/>
          </p:cNvPicPr>
          <p:nvPr/>
        </p:nvPicPr>
        <p:blipFill>
          <a:blip r:embed="rId4"/>
          <a:stretch>
            <a:fillRect/>
          </a:stretch>
        </p:blipFill>
        <p:spPr>
          <a:xfrm>
            <a:off x="7461504" y="1380744"/>
            <a:ext cx="164592" cy="164592"/>
          </a:xfrm>
          <a:prstGeom prst="rect">
            <a:avLst/>
          </a:prstGeom>
        </p:spPr>
      </p:pic>
      <p:sp>
        <p:nvSpPr>
          <p:cNvPr id="20" name="Resume chip text"/>
          <p:cNvSpPr txBox="1"/>
          <p:nvPr/>
        </p:nvSpPr>
        <p:spPr>
          <a:xfrm>
            <a:off x="7680960" y="1325880"/>
            <a:ext cx="758952" cy="292608"/>
          </a:xfrm>
          <a:prstGeom prst="rect">
            <a:avLst/>
          </a:prstGeom>
          <a:noFill/>
        </p:spPr>
        <p:txBody>
          <a:bodyPr wrap="square" lIns="0" tIns="0" rIns="0" bIns="0" anchor="t">
            <a:noAutofit/>
          </a:bodyPr>
          <a:lstStyle/>
          <a:p>
            <a:pPr algn="l"/>
            <a:r>
              <a:rPr lang="en-US" sz="650" b="1" i="0" spc="60" dirty="0">
                <a:solidFill>
                  <a:srgbClr val="4A6E24"/>
                </a:solidFill>
                <a:latin typeface="Inter"/>
              </a:rPr>
              <a:t>STEP RESUMED</a:t>
            </a:r>
          </a:p>
          <a:p>
            <a:pPr algn="l"/>
            <a:r>
              <a:rPr lang="en-US" sz="700" b="0" i="0" dirty="0">
                <a:solidFill>
                  <a:srgbClr val="1A1A1E"/>
                </a:solidFill>
                <a:latin typeface="Inter"/>
              </a:rPr>
              <a:t>run continues</a:t>
            </a:r>
          </a:p>
        </p:txBody>
      </p:sp>
      <p:cxnSp>
        <p:nvCxnSpPr>
          <p:cNvPr id="21" name="Trigger arrow"/>
          <p:cNvCxnSpPr/>
          <p:nvPr/>
        </p:nvCxnSpPr>
        <p:spPr>
          <a:xfrm>
            <a:off x="1216152" y="1645920"/>
            <a:ext cx="0" cy="274320"/>
          </a:xfrm>
          <a:prstGeom prst="line">
            <a:avLst/>
          </a:prstGeom>
          <a:ln w="15875">
            <a:solidFill>
              <a:srgbClr val="C1702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rigger label"/>
          <p:cNvSpPr txBox="1"/>
          <p:nvPr/>
        </p:nvSpPr>
        <p:spPr>
          <a:xfrm>
            <a:off x="1280160" y="1723644"/>
            <a:ext cx="502920" cy="118872"/>
          </a:xfrm>
          <a:prstGeom prst="rect">
            <a:avLst/>
          </a:prstGeom>
          <a:noFill/>
        </p:spPr>
        <p:txBody>
          <a:bodyPr wrap="square" lIns="0" tIns="0" rIns="0" bIns="0" anchor="t">
            <a:noAutofit/>
          </a:bodyPr>
          <a:lstStyle/>
          <a:p>
            <a:pPr algn="l"/>
            <a:r>
              <a:rPr lang="en-US" sz="600" b="0" i="0" dirty="0">
                <a:solidFill>
                  <a:srgbClr val="9A5620"/>
                </a:solidFill>
                <a:latin typeface="JetBrains Mono"/>
              </a:rPr>
              <a:t>trigger</a:t>
            </a:r>
          </a:p>
        </p:txBody>
      </p:sp>
      <p:cxnSp>
        <p:nvCxnSpPr>
          <p:cNvPr id="23" name="Resume arrow"/>
          <p:cNvCxnSpPr/>
          <p:nvPr/>
        </p:nvCxnSpPr>
        <p:spPr>
          <a:xfrm flipV="1">
            <a:off x="7927848" y="1645920"/>
            <a:ext cx="0" cy="274320"/>
          </a:xfrm>
          <a:prstGeom prst="line">
            <a:avLst/>
          </a:prstGeom>
          <a:ln w="15875">
            <a:solidFill>
              <a:srgbClr val="5F8B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sume label"/>
          <p:cNvSpPr txBox="1"/>
          <p:nvPr/>
        </p:nvSpPr>
        <p:spPr>
          <a:xfrm>
            <a:off x="7991856" y="1723644"/>
            <a:ext cx="457200" cy="118872"/>
          </a:xfrm>
          <a:prstGeom prst="rect">
            <a:avLst/>
          </a:prstGeom>
          <a:noFill/>
        </p:spPr>
        <p:txBody>
          <a:bodyPr wrap="square" lIns="0" tIns="0" rIns="0" bIns="0" anchor="t">
            <a:noAutofit/>
          </a:bodyPr>
          <a:lstStyle/>
          <a:p>
            <a:pPr algn="l"/>
            <a:r>
              <a:rPr lang="en-US" sz="600" b="0" i="0" dirty="0">
                <a:solidFill>
                  <a:srgbClr val="4A6E24"/>
                </a:solidFill>
                <a:latin typeface="JetBrains Mono"/>
              </a:rPr>
              <a:t>resume</a:t>
            </a:r>
          </a:p>
        </p:txBody>
      </p:sp>
      <p:sp>
        <p:nvSpPr>
          <p:cNvPr id="25" name="Agent host"/>
          <p:cNvSpPr/>
          <p:nvPr/>
        </p:nvSpPr>
        <p:spPr>
          <a:xfrm>
            <a:off x="1947672" y="1810512"/>
            <a:ext cx="5248656" cy="2139696"/>
          </a:xfrm>
          <a:prstGeom prst="roundRect">
            <a:avLst>
              <a:gd name="adj" fmla="val 4000"/>
            </a:avLst>
          </a:prstGeom>
          <a:solidFill>
            <a:srgbClr val="F2F6FF"/>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Agent host label"/>
          <p:cNvSpPr txBox="1"/>
          <p:nvPr/>
        </p:nvSpPr>
        <p:spPr>
          <a:xfrm>
            <a:off x="2039112" y="1860804"/>
            <a:ext cx="2377440" cy="118872"/>
          </a:xfrm>
          <a:prstGeom prst="rect">
            <a:avLst/>
          </a:prstGeom>
          <a:noFill/>
        </p:spPr>
        <p:txBody>
          <a:bodyPr wrap="square" lIns="0" tIns="0" rIns="0" bIns="0" anchor="t">
            <a:noAutofit/>
          </a:bodyPr>
          <a:lstStyle/>
          <a:p>
            <a:pPr algn="l"/>
            <a:r>
              <a:rPr lang="en-US" sz="650" b="1" i="0" spc="90" dirty="0">
                <a:solidFill>
                  <a:srgbClr val="1428A0"/>
                </a:solidFill>
                <a:latin typeface="Inter"/>
              </a:rPr>
              <a:t>HEALING AGENT  ·  AI HOST</a:t>
            </a:r>
          </a:p>
        </p:txBody>
      </p:sp>
      <p:sp>
        <p:nvSpPr>
          <p:cNvPr id="27" name="Agent host seam"/>
          <p:cNvSpPr txBox="1"/>
          <p:nvPr/>
        </p:nvSpPr>
        <p:spPr>
          <a:xfrm>
            <a:off x="4608576" y="1860804"/>
            <a:ext cx="2496312" cy="118872"/>
          </a:xfrm>
          <a:prstGeom prst="rect">
            <a:avLst/>
          </a:prstGeom>
          <a:noFill/>
        </p:spPr>
        <p:txBody>
          <a:bodyPr wrap="square" lIns="0" tIns="0" rIns="0" bIns="0" anchor="t">
            <a:noAutofit/>
          </a:bodyPr>
          <a:lstStyle/>
          <a:p>
            <a:pPr algn="r"/>
            <a:r>
              <a:rPr lang="en-US" sz="600" b="0" i="0" dirty="0">
                <a:solidFill>
                  <a:srgbClr val="7A7F8A"/>
                </a:solidFill>
                <a:latin typeface="JetBrains Mono"/>
              </a:rPr>
              <a:t>fingerprints in · an index out</a:t>
            </a:r>
          </a:p>
        </p:txBody>
      </p:sp>
      <p:sp>
        <p:nvSpPr>
          <p:cNvPr id="28" name="Stage 1"/>
          <p:cNvSpPr/>
          <p:nvPr/>
        </p:nvSpPr>
        <p:spPr>
          <a:xfrm>
            <a:off x="667512" y="1920240"/>
            <a:ext cx="1097280" cy="1920240"/>
          </a:xfrm>
          <a:prstGeom prst="roundRect">
            <a:avLst>
              <a:gd name="adj" fmla="val 6000"/>
            </a:avLst>
          </a:prstGeom>
          <a:solidFill>
            <a:srgbClr val="FFFFFF"/>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Stage 1 circle"/>
          <p:cNvSpPr/>
          <p:nvPr/>
        </p:nvSpPr>
        <p:spPr>
          <a:xfrm>
            <a:off x="758952" y="2029968"/>
            <a:ext cx="274320" cy="274320"/>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Stage 1 icon" descr="Lu-scan-search-FFFFFF.png"/>
          <p:cNvPicPr>
            <a:picLocks noChangeAspect="1"/>
          </p:cNvPicPr>
          <p:nvPr/>
        </p:nvPicPr>
        <p:blipFill>
          <a:blip r:embed="rId5"/>
          <a:stretch>
            <a:fillRect/>
          </a:stretch>
        </p:blipFill>
        <p:spPr>
          <a:xfrm>
            <a:off x="824789" y="2095805"/>
            <a:ext cx="142646" cy="142646"/>
          </a:xfrm>
          <a:prstGeom prst="rect">
            <a:avLst/>
          </a:prstGeom>
        </p:spPr>
      </p:pic>
      <p:sp>
        <p:nvSpPr>
          <p:cNvPr id="31" name="Stage 1 verb"/>
          <p:cNvSpPr txBox="1"/>
          <p:nvPr/>
        </p:nvSpPr>
        <p:spPr>
          <a:xfrm>
            <a:off x="1088136" y="2107692"/>
            <a:ext cx="640080" cy="118872"/>
          </a:xfrm>
          <a:prstGeom prst="rect">
            <a:avLst/>
          </a:prstGeom>
          <a:noFill/>
        </p:spPr>
        <p:txBody>
          <a:bodyPr wrap="square" lIns="0" tIns="0" rIns="0" bIns="0" anchor="t">
            <a:noAutofit/>
          </a:bodyPr>
          <a:lstStyle/>
          <a:p>
            <a:pPr algn="l"/>
            <a:r>
              <a:rPr lang="en-US" sz="650" b="1" i="0" spc="40" dirty="0">
                <a:solidFill>
                  <a:srgbClr val="2A5C9E"/>
                </a:solidFill>
                <a:latin typeface="Inter"/>
              </a:rPr>
              <a:t>01  PERCEIVE</a:t>
            </a:r>
          </a:p>
        </p:txBody>
      </p:sp>
      <p:sp>
        <p:nvSpPr>
          <p:cNvPr id="32" name="Stage 1 title"/>
          <p:cNvSpPr txBox="1"/>
          <p:nvPr/>
        </p:nvSpPr>
        <p:spPr>
          <a:xfrm>
            <a:off x="758952" y="2395728"/>
            <a:ext cx="914400" cy="274320"/>
          </a:xfrm>
          <a:prstGeom prst="rect">
            <a:avLst/>
          </a:prstGeom>
          <a:noFill/>
        </p:spPr>
        <p:txBody>
          <a:bodyPr wrap="square" lIns="0" tIns="0" rIns="0" bIns="0" anchor="t">
            <a:noAutofit/>
          </a:bodyPr>
          <a:lstStyle/>
          <a:p>
            <a:pPr algn="l">
              <a:lnSpc>
                <a:spcPct val="95000"/>
              </a:lnSpc>
            </a:pPr>
            <a:r>
              <a:rPr lang="en-US" sz="800" b="1" i="0" dirty="0">
                <a:solidFill>
                  <a:srgbClr val="1A1A1E"/>
                </a:solidFill>
                <a:latin typeface="Inter"/>
              </a:rPr>
              <a:t>JavaScript collection</a:t>
            </a:r>
          </a:p>
        </p:txBody>
      </p:sp>
      <p:sp>
        <p:nvSpPr>
          <p:cNvPr id="33" name="Stage 1 body"/>
          <p:cNvSpPr txBox="1"/>
          <p:nvPr/>
        </p:nvSpPr>
        <p:spPr>
          <a:xfrm>
            <a:off x="758952" y="2706624"/>
            <a:ext cx="914400" cy="768096"/>
          </a:xfrm>
          <a:prstGeom prst="rect">
            <a:avLst/>
          </a:prstGeom>
          <a:noFill/>
        </p:spPr>
        <p:txBody>
          <a:bodyPr wrap="square" lIns="0" tIns="0" rIns="0" bIns="0" anchor="t">
            <a:noAutofit/>
          </a:bodyPr>
          <a:lstStyle/>
          <a:p>
            <a:pPr algn="l">
              <a:lnSpc>
                <a:spcPct val="110000"/>
              </a:lnSpc>
            </a:pPr>
            <a:r>
              <a:rPr lang="en-US" sz="700" b="0" i="0" dirty="0">
                <a:solidFill>
                  <a:srgbClr val="4A5668"/>
                </a:solidFill>
                <a:latin typeface="Inter"/>
              </a:rPr>
              <a:t>Runs inside the live page and fingerprints every element: text, ids, label, position.</a:t>
            </a:r>
          </a:p>
        </p:txBody>
      </p:sp>
      <p:sp>
        <p:nvSpPr>
          <p:cNvPr id="34" name="Stage 1 rule"/>
          <p:cNvSpPr/>
          <p:nvPr/>
        </p:nvSpPr>
        <p:spPr>
          <a:xfrm>
            <a:off x="758952" y="3511296"/>
            <a:ext cx="914400"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Stage 1 metric"/>
          <p:cNvSpPr txBox="1"/>
          <p:nvPr/>
        </p:nvSpPr>
        <p:spPr>
          <a:xfrm>
            <a:off x="758952" y="3584448"/>
            <a:ext cx="914400" cy="137160"/>
          </a:xfrm>
          <a:prstGeom prst="rect">
            <a:avLst/>
          </a:prstGeom>
          <a:noFill/>
        </p:spPr>
        <p:txBody>
          <a:bodyPr wrap="square" lIns="0" tIns="0" rIns="0" bIns="0" anchor="t">
            <a:noAutofit/>
          </a:bodyPr>
          <a:lstStyle/>
          <a:p>
            <a:pPr algn="l"/>
            <a:r>
              <a:rPr lang="en-US" sz="650" b="1" i="0" dirty="0">
                <a:solidFill>
                  <a:srgbClr val="2A5C9E"/>
                </a:solidFill>
                <a:latin typeface="JetBrains Mono"/>
              </a:rPr>
              <a:t>~900 elements</a:t>
            </a:r>
          </a:p>
        </p:txBody>
      </p:sp>
      <p:sp>
        <p:nvSpPr>
          <p:cNvPr id="36" name="Stage 2"/>
          <p:cNvSpPr/>
          <p:nvPr/>
        </p:nvSpPr>
        <p:spPr>
          <a:xfrm>
            <a:off x="2039112" y="2048256"/>
            <a:ext cx="1170432" cy="1792224"/>
          </a:xfrm>
          <a:prstGeom prst="roundRect">
            <a:avLst>
              <a:gd name="adj" fmla="val 6000"/>
            </a:avLst>
          </a:prstGeom>
          <a:solidFill>
            <a:srgbClr val="FFFFFF"/>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Stage 2 circle"/>
          <p:cNvSpPr/>
          <p:nvPr/>
        </p:nvSpPr>
        <p:spPr>
          <a:xfrm>
            <a:off x="2130552" y="2157984"/>
            <a:ext cx="274320" cy="274320"/>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Stage 2 icon" descr="Lu-database-FFFFFF.png"/>
          <p:cNvPicPr>
            <a:picLocks noChangeAspect="1"/>
          </p:cNvPicPr>
          <p:nvPr/>
        </p:nvPicPr>
        <p:blipFill>
          <a:blip r:embed="rId6"/>
          <a:stretch>
            <a:fillRect/>
          </a:stretch>
        </p:blipFill>
        <p:spPr>
          <a:xfrm>
            <a:off x="2196389" y="2223821"/>
            <a:ext cx="142646" cy="142646"/>
          </a:xfrm>
          <a:prstGeom prst="rect">
            <a:avLst/>
          </a:prstGeom>
        </p:spPr>
      </p:pic>
      <p:sp>
        <p:nvSpPr>
          <p:cNvPr id="39" name="Stage 2 verb"/>
          <p:cNvSpPr txBox="1"/>
          <p:nvPr/>
        </p:nvSpPr>
        <p:spPr>
          <a:xfrm>
            <a:off x="2459736" y="2235708"/>
            <a:ext cx="713232" cy="118872"/>
          </a:xfrm>
          <a:prstGeom prst="rect">
            <a:avLst/>
          </a:prstGeom>
          <a:noFill/>
        </p:spPr>
        <p:txBody>
          <a:bodyPr wrap="square" lIns="0" tIns="0" rIns="0" bIns="0" anchor="t">
            <a:noAutofit/>
          </a:bodyPr>
          <a:lstStyle/>
          <a:p>
            <a:pPr algn="l"/>
            <a:r>
              <a:rPr lang="en-US" sz="650" b="1" i="0" spc="40" dirty="0">
                <a:solidFill>
                  <a:srgbClr val="5F8B2F"/>
                </a:solidFill>
                <a:latin typeface="Inter"/>
              </a:rPr>
              <a:t>02  RECALL</a:t>
            </a:r>
          </a:p>
        </p:txBody>
      </p:sp>
      <p:sp>
        <p:nvSpPr>
          <p:cNvPr id="40" name="Stage 2 title"/>
          <p:cNvSpPr txBox="1"/>
          <p:nvPr/>
        </p:nvSpPr>
        <p:spPr>
          <a:xfrm>
            <a:off x="2130552" y="2523744"/>
            <a:ext cx="987552" cy="274320"/>
          </a:xfrm>
          <a:prstGeom prst="rect">
            <a:avLst/>
          </a:prstGeom>
          <a:noFill/>
        </p:spPr>
        <p:txBody>
          <a:bodyPr wrap="square" lIns="0" tIns="0" rIns="0" bIns="0" anchor="t">
            <a:noAutofit/>
          </a:bodyPr>
          <a:lstStyle/>
          <a:p>
            <a:pPr algn="l">
              <a:lnSpc>
                <a:spcPct val="95000"/>
              </a:lnSpc>
            </a:pPr>
            <a:r>
              <a:rPr lang="en-US" sz="800" b="1" i="0" dirty="0">
                <a:solidFill>
                  <a:srgbClr val="1A1A1E"/>
                </a:solidFill>
                <a:latin typeface="Inter"/>
              </a:rPr>
              <a:t>RAG memory recall</a:t>
            </a:r>
          </a:p>
        </p:txBody>
      </p:sp>
      <p:sp>
        <p:nvSpPr>
          <p:cNvPr id="41" name="Stage 2 body"/>
          <p:cNvSpPr txBox="1"/>
          <p:nvPr/>
        </p:nvSpPr>
        <p:spPr>
          <a:xfrm>
            <a:off x="2130552" y="2834640"/>
            <a:ext cx="987552" cy="640080"/>
          </a:xfrm>
          <a:prstGeom prst="rect">
            <a:avLst/>
          </a:prstGeom>
          <a:noFill/>
        </p:spPr>
        <p:txBody>
          <a:bodyPr wrap="square" lIns="0" tIns="0" rIns="0" bIns="0" anchor="t">
            <a:noAutofit/>
          </a:bodyPr>
          <a:lstStyle/>
          <a:p>
            <a:pPr algn="l">
              <a:lnSpc>
                <a:spcPct val="110000"/>
              </a:lnSpc>
            </a:pPr>
            <a:r>
              <a:rPr lang="en-US" sz="700" b="0" i="0" dirty="0">
                <a:solidFill>
                  <a:srgbClr val="4A5668"/>
                </a:solidFill>
                <a:latin typeface="Inter"/>
              </a:rPr>
              <a:t>Retrieves fixes the fleet already proved and the last-known-good fingerprint.</a:t>
            </a:r>
          </a:p>
        </p:txBody>
      </p:sp>
      <p:sp>
        <p:nvSpPr>
          <p:cNvPr id="42" name="Stage 2 rule"/>
          <p:cNvSpPr/>
          <p:nvPr/>
        </p:nvSpPr>
        <p:spPr>
          <a:xfrm>
            <a:off x="2130552" y="3511296"/>
            <a:ext cx="987552"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Stage 2 metric"/>
          <p:cNvSpPr txBox="1"/>
          <p:nvPr/>
        </p:nvSpPr>
        <p:spPr>
          <a:xfrm>
            <a:off x="2130552" y="3584448"/>
            <a:ext cx="987552" cy="137160"/>
          </a:xfrm>
          <a:prstGeom prst="rect">
            <a:avLst/>
          </a:prstGeom>
          <a:noFill/>
        </p:spPr>
        <p:txBody>
          <a:bodyPr wrap="square" lIns="0" tIns="0" rIns="0" bIns="0" anchor="t">
            <a:noAutofit/>
          </a:bodyPr>
          <a:lstStyle/>
          <a:p>
            <a:pPr algn="l"/>
            <a:r>
              <a:rPr lang="en-US" sz="650" b="1" i="0" dirty="0">
                <a:solidFill>
                  <a:srgbClr val="5F8B2F"/>
                </a:solidFill>
                <a:latin typeface="JetBrains Mono"/>
              </a:rPr>
              <a:t>hit = instant</a:t>
            </a:r>
          </a:p>
        </p:txBody>
      </p:sp>
      <p:sp>
        <p:nvSpPr>
          <p:cNvPr id="44" name="Stage 3"/>
          <p:cNvSpPr/>
          <p:nvPr/>
        </p:nvSpPr>
        <p:spPr>
          <a:xfrm>
            <a:off x="3337560" y="2048256"/>
            <a:ext cx="1170432" cy="1792224"/>
          </a:xfrm>
          <a:prstGeom prst="roundRect">
            <a:avLst>
              <a:gd name="adj" fmla="val 6000"/>
            </a:avLst>
          </a:prstGeom>
          <a:solidFill>
            <a:srgbClr val="FFFFFF"/>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Stage 3 circle"/>
          <p:cNvSpPr/>
          <p:nvPr/>
        </p:nvSpPr>
        <p:spPr>
          <a:xfrm>
            <a:off x="3429000" y="2157984"/>
            <a:ext cx="274320" cy="274320"/>
          </a:xfrm>
          <a:prstGeom prst="ellipse">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Stage 3 icon" descr="Lu-filter-FFFFFF.png"/>
          <p:cNvPicPr>
            <a:picLocks noChangeAspect="1"/>
          </p:cNvPicPr>
          <p:nvPr/>
        </p:nvPicPr>
        <p:blipFill>
          <a:blip r:embed="rId7"/>
          <a:stretch>
            <a:fillRect/>
          </a:stretch>
        </p:blipFill>
        <p:spPr>
          <a:xfrm>
            <a:off x="3494837" y="2223821"/>
            <a:ext cx="142646" cy="142646"/>
          </a:xfrm>
          <a:prstGeom prst="rect">
            <a:avLst/>
          </a:prstGeom>
        </p:spPr>
      </p:pic>
      <p:sp>
        <p:nvSpPr>
          <p:cNvPr id="47" name="Stage 3 verb"/>
          <p:cNvSpPr txBox="1"/>
          <p:nvPr/>
        </p:nvSpPr>
        <p:spPr>
          <a:xfrm>
            <a:off x="3758184" y="2235708"/>
            <a:ext cx="713232" cy="118872"/>
          </a:xfrm>
          <a:prstGeom prst="rect">
            <a:avLst/>
          </a:prstGeom>
          <a:noFill/>
        </p:spPr>
        <p:txBody>
          <a:bodyPr wrap="square" lIns="0" tIns="0" rIns="0" bIns="0" anchor="t">
            <a:noAutofit/>
          </a:bodyPr>
          <a:lstStyle/>
          <a:p>
            <a:pPr algn="l"/>
            <a:r>
              <a:rPr lang="en-US" sz="650" b="1" i="0" spc="40" dirty="0">
                <a:solidFill>
                  <a:srgbClr val="2A5C9E"/>
                </a:solidFill>
                <a:latin typeface="Inter"/>
              </a:rPr>
              <a:t>03  ANALYSE</a:t>
            </a:r>
          </a:p>
        </p:txBody>
      </p:sp>
      <p:sp>
        <p:nvSpPr>
          <p:cNvPr id="48" name="Stage 3 title"/>
          <p:cNvSpPr txBox="1"/>
          <p:nvPr/>
        </p:nvSpPr>
        <p:spPr>
          <a:xfrm>
            <a:off x="3429000" y="2523744"/>
            <a:ext cx="987552" cy="274320"/>
          </a:xfrm>
          <a:prstGeom prst="rect">
            <a:avLst/>
          </a:prstGeom>
          <a:noFill/>
        </p:spPr>
        <p:txBody>
          <a:bodyPr wrap="square" lIns="0" tIns="0" rIns="0" bIns="0" anchor="t">
            <a:noAutofit/>
          </a:bodyPr>
          <a:lstStyle/>
          <a:p>
            <a:pPr algn="l">
              <a:lnSpc>
                <a:spcPct val="95000"/>
              </a:lnSpc>
            </a:pPr>
            <a:r>
              <a:rPr lang="en-US" sz="800" b="1" i="0" dirty="0">
                <a:solidFill>
                  <a:srgbClr val="1A1A1E"/>
                </a:solidFill>
                <a:latin typeface="Inter"/>
              </a:rPr>
              <a:t>Semantic similarity analysis</a:t>
            </a:r>
          </a:p>
        </p:txBody>
      </p:sp>
      <p:sp>
        <p:nvSpPr>
          <p:cNvPr id="49" name="Stage 3 body"/>
          <p:cNvSpPr txBox="1"/>
          <p:nvPr/>
        </p:nvSpPr>
        <p:spPr>
          <a:xfrm>
            <a:off x="3429000" y="2834640"/>
            <a:ext cx="987552" cy="640080"/>
          </a:xfrm>
          <a:prstGeom prst="rect">
            <a:avLst/>
          </a:prstGeom>
          <a:noFill/>
        </p:spPr>
        <p:txBody>
          <a:bodyPr wrap="square" lIns="0" tIns="0" rIns="0" bIns="0" anchor="t">
            <a:noAutofit/>
          </a:bodyPr>
          <a:lstStyle/>
          <a:p>
            <a:pPr algn="l">
              <a:lnSpc>
                <a:spcPct val="110000"/>
              </a:lnSpc>
            </a:pPr>
            <a:r>
              <a:rPr lang="en-US" sz="700" b="0" i="0" dirty="0">
                <a:solidFill>
                  <a:srgbClr val="4A5668"/>
                </a:solidFill>
                <a:latin typeface="Inter"/>
              </a:rPr>
              <a:t>Eight signals, incl. sentence embeddings, score every element against the intent.</a:t>
            </a:r>
          </a:p>
        </p:txBody>
      </p:sp>
      <p:sp>
        <p:nvSpPr>
          <p:cNvPr id="50" name="Stage 3 rule"/>
          <p:cNvSpPr/>
          <p:nvPr/>
        </p:nvSpPr>
        <p:spPr>
          <a:xfrm>
            <a:off x="3429000" y="3511296"/>
            <a:ext cx="987552"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Stage 3 metric"/>
          <p:cNvSpPr txBox="1"/>
          <p:nvPr/>
        </p:nvSpPr>
        <p:spPr>
          <a:xfrm>
            <a:off x="3429000" y="3584448"/>
            <a:ext cx="987552" cy="137160"/>
          </a:xfrm>
          <a:prstGeom prst="rect">
            <a:avLst/>
          </a:prstGeom>
          <a:noFill/>
        </p:spPr>
        <p:txBody>
          <a:bodyPr wrap="square" lIns="0" tIns="0" rIns="0" bIns="0" anchor="t">
            <a:noAutofit/>
          </a:bodyPr>
          <a:lstStyle/>
          <a:p>
            <a:pPr algn="l"/>
            <a:r>
              <a:rPr lang="en-US" sz="650" b="1" i="0" dirty="0">
                <a:solidFill>
                  <a:srgbClr val="2A5C9E"/>
                </a:solidFill>
                <a:latin typeface="JetBrains Mono"/>
              </a:rPr>
              <a:t>900 → top 8, 0.3 s</a:t>
            </a:r>
          </a:p>
        </p:txBody>
      </p:sp>
      <p:sp>
        <p:nvSpPr>
          <p:cNvPr id="52" name="Stage 4"/>
          <p:cNvSpPr/>
          <p:nvPr/>
        </p:nvSpPr>
        <p:spPr>
          <a:xfrm>
            <a:off x="4636008" y="2048256"/>
            <a:ext cx="1170432" cy="1792224"/>
          </a:xfrm>
          <a:prstGeom prst="roundRect">
            <a:avLst>
              <a:gd name="adj" fmla="val 6000"/>
            </a:avLst>
          </a:prstGeom>
          <a:solidFill>
            <a:srgbClr val="FFFFFF"/>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Stage 4 circle"/>
          <p:cNvSpPr/>
          <p:nvPr/>
        </p:nvSpPr>
        <p:spPr>
          <a:xfrm>
            <a:off x="4727448" y="2157984"/>
            <a:ext cx="274320" cy="274320"/>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Stage 4 icon" descr="Lu-brain-FFFFFF.png"/>
          <p:cNvPicPr>
            <a:picLocks noChangeAspect="1"/>
          </p:cNvPicPr>
          <p:nvPr/>
        </p:nvPicPr>
        <p:blipFill>
          <a:blip r:embed="rId8"/>
          <a:stretch>
            <a:fillRect/>
          </a:stretch>
        </p:blipFill>
        <p:spPr>
          <a:xfrm>
            <a:off x="4793285" y="2223821"/>
            <a:ext cx="142646" cy="142646"/>
          </a:xfrm>
          <a:prstGeom prst="rect">
            <a:avLst/>
          </a:prstGeom>
        </p:spPr>
      </p:pic>
      <p:sp>
        <p:nvSpPr>
          <p:cNvPr id="55" name="Stage 4 verb"/>
          <p:cNvSpPr txBox="1"/>
          <p:nvPr/>
        </p:nvSpPr>
        <p:spPr>
          <a:xfrm>
            <a:off x="5056632" y="2235708"/>
            <a:ext cx="713232" cy="118872"/>
          </a:xfrm>
          <a:prstGeom prst="rect">
            <a:avLst/>
          </a:prstGeom>
          <a:noFill/>
        </p:spPr>
        <p:txBody>
          <a:bodyPr wrap="square" lIns="0" tIns="0" rIns="0" bIns="0" anchor="t">
            <a:noAutofit/>
          </a:bodyPr>
          <a:lstStyle/>
          <a:p>
            <a:pPr algn="l"/>
            <a:r>
              <a:rPr lang="en-US" sz="650" b="1" i="0" spc="40" dirty="0">
                <a:solidFill>
                  <a:srgbClr val="C1702D"/>
                </a:solidFill>
                <a:latin typeface="Inter"/>
              </a:rPr>
              <a:t>04  REASON</a:t>
            </a:r>
          </a:p>
        </p:txBody>
      </p:sp>
      <p:sp>
        <p:nvSpPr>
          <p:cNvPr id="56" name="Stage 4 title"/>
          <p:cNvSpPr txBox="1"/>
          <p:nvPr/>
        </p:nvSpPr>
        <p:spPr>
          <a:xfrm>
            <a:off x="4727448" y="2523744"/>
            <a:ext cx="987552" cy="274320"/>
          </a:xfrm>
          <a:prstGeom prst="rect">
            <a:avLst/>
          </a:prstGeom>
          <a:noFill/>
        </p:spPr>
        <p:txBody>
          <a:bodyPr wrap="square" lIns="0" tIns="0" rIns="0" bIns="0" anchor="t">
            <a:noAutofit/>
          </a:bodyPr>
          <a:lstStyle/>
          <a:p>
            <a:pPr algn="l">
              <a:lnSpc>
                <a:spcPct val="95000"/>
              </a:lnSpc>
            </a:pPr>
            <a:r>
              <a:rPr lang="en-US" sz="800" b="1" i="0" dirty="0">
                <a:solidFill>
                  <a:srgbClr val="1A1A1E"/>
                </a:solidFill>
                <a:latin typeface="Inter"/>
              </a:rPr>
              <a:t>Fine-tuned AI reasoning</a:t>
            </a:r>
          </a:p>
        </p:txBody>
      </p:sp>
      <p:sp>
        <p:nvSpPr>
          <p:cNvPr id="57" name="Stage 4 body"/>
          <p:cNvSpPr txBox="1"/>
          <p:nvPr/>
        </p:nvSpPr>
        <p:spPr>
          <a:xfrm>
            <a:off x="4727448" y="2834640"/>
            <a:ext cx="987552" cy="640080"/>
          </a:xfrm>
          <a:prstGeom prst="rect">
            <a:avLst/>
          </a:prstGeom>
          <a:noFill/>
        </p:spPr>
        <p:txBody>
          <a:bodyPr wrap="square" lIns="0" tIns="0" rIns="0" bIns="0" anchor="t">
            <a:noAutofit/>
          </a:bodyPr>
          <a:lstStyle/>
          <a:p>
            <a:pPr algn="l">
              <a:lnSpc>
                <a:spcPct val="110000"/>
              </a:lnSpc>
            </a:pPr>
            <a:r>
              <a:rPr lang="en-US" sz="700" b="0" i="0" dirty="0">
                <a:solidFill>
                  <a:srgbClr val="4A5668"/>
                </a:solidFill>
                <a:latin typeface="Inter"/>
              </a:rPr>
              <a:t>A calibrated checker opines first; a fine-tuned LLM reasons over the shortlist.</a:t>
            </a:r>
          </a:p>
        </p:txBody>
      </p:sp>
      <p:sp>
        <p:nvSpPr>
          <p:cNvPr id="58" name="Stage 4 rule"/>
          <p:cNvSpPr/>
          <p:nvPr/>
        </p:nvSpPr>
        <p:spPr>
          <a:xfrm>
            <a:off x="4727448" y="3511296"/>
            <a:ext cx="987552"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Stage 4 metric"/>
          <p:cNvSpPr txBox="1"/>
          <p:nvPr/>
        </p:nvSpPr>
        <p:spPr>
          <a:xfrm>
            <a:off x="4727448" y="3584448"/>
            <a:ext cx="987552" cy="137160"/>
          </a:xfrm>
          <a:prstGeom prst="rect">
            <a:avLst/>
          </a:prstGeom>
          <a:noFill/>
        </p:spPr>
        <p:txBody>
          <a:bodyPr wrap="square" lIns="0" tIns="0" rIns="0" bIns="0" anchor="t">
            <a:noAutofit/>
          </a:bodyPr>
          <a:lstStyle/>
          <a:p>
            <a:pPr algn="l"/>
            <a:r>
              <a:rPr lang="en-US" sz="650" b="1" i="0" dirty="0">
                <a:solidFill>
                  <a:srgbClr val="C1702D"/>
                </a:solidFill>
                <a:latin typeface="JetBrains Mono"/>
              </a:rPr>
              <a:t>returns an index</a:t>
            </a:r>
          </a:p>
        </p:txBody>
      </p:sp>
      <p:sp>
        <p:nvSpPr>
          <p:cNvPr id="60" name="Stage 5"/>
          <p:cNvSpPr/>
          <p:nvPr/>
        </p:nvSpPr>
        <p:spPr>
          <a:xfrm>
            <a:off x="5934456" y="2048256"/>
            <a:ext cx="1170432" cy="1792224"/>
          </a:xfrm>
          <a:prstGeom prst="roundRect">
            <a:avLst>
              <a:gd name="adj" fmla="val 6000"/>
            </a:avLst>
          </a:prstGeom>
          <a:solidFill>
            <a:srgbClr val="FFFFFF"/>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Stage 5 circle"/>
          <p:cNvSpPr/>
          <p:nvPr/>
        </p:nvSpPr>
        <p:spPr>
          <a:xfrm>
            <a:off x="6025896" y="2157984"/>
            <a:ext cx="274320" cy="274320"/>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Stage 5 icon" descr="Lu-scale-FFFFFF.png"/>
          <p:cNvPicPr>
            <a:picLocks noChangeAspect="1"/>
          </p:cNvPicPr>
          <p:nvPr/>
        </p:nvPicPr>
        <p:blipFill>
          <a:blip r:embed="rId9"/>
          <a:stretch>
            <a:fillRect/>
          </a:stretch>
        </p:blipFill>
        <p:spPr>
          <a:xfrm>
            <a:off x="6091733" y="2223821"/>
            <a:ext cx="142646" cy="142646"/>
          </a:xfrm>
          <a:prstGeom prst="rect">
            <a:avLst/>
          </a:prstGeom>
        </p:spPr>
      </p:pic>
      <p:sp>
        <p:nvSpPr>
          <p:cNvPr id="63" name="Stage 5 verb"/>
          <p:cNvSpPr txBox="1"/>
          <p:nvPr/>
        </p:nvSpPr>
        <p:spPr>
          <a:xfrm>
            <a:off x="6355080" y="2235708"/>
            <a:ext cx="713232" cy="118872"/>
          </a:xfrm>
          <a:prstGeom prst="rect">
            <a:avLst/>
          </a:prstGeom>
          <a:noFill/>
        </p:spPr>
        <p:txBody>
          <a:bodyPr wrap="square" lIns="0" tIns="0" rIns="0" bIns="0" anchor="t">
            <a:noAutofit/>
          </a:bodyPr>
          <a:lstStyle/>
          <a:p>
            <a:pPr algn="l"/>
            <a:r>
              <a:rPr lang="en-US" sz="650" b="1" i="0" spc="40" dirty="0">
                <a:solidFill>
                  <a:srgbClr val="1428A0"/>
                </a:solidFill>
                <a:latin typeface="Inter"/>
              </a:rPr>
              <a:t>05  DECIDE</a:t>
            </a:r>
          </a:p>
        </p:txBody>
      </p:sp>
      <p:sp>
        <p:nvSpPr>
          <p:cNvPr id="64" name="Stage 5 title"/>
          <p:cNvSpPr txBox="1"/>
          <p:nvPr/>
        </p:nvSpPr>
        <p:spPr>
          <a:xfrm>
            <a:off x="6025896" y="2523744"/>
            <a:ext cx="987552" cy="274320"/>
          </a:xfrm>
          <a:prstGeom prst="rect">
            <a:avLst/>
          </a:prstGeom>
          <a:noFill/>
        </p:spPr>
        <p:txBody>
          <a:bodyPr wrap="square" lIns="0" tIns="0" rIns="0" bIns="0" anchor="t">
            <a:noAutofit/>
          </a:bodyPr>
          <a:lstStyle/>
          <a:p>
            <a:pPr algn="l">
              <a:lnSpc>
                <a:spcPct val="95000"/>
              </a:lnSpc>
            </a:pPr>
            <a:r>
              <a:rPr lang="en-US" sz="800" b="1" i="0" dirty="0">
                <a:solidFill>
                  <a:srgbClr val="1A1A1E"/>
                </a:solidFill>
                <a:latin typeface="Inter"/>
              </a:rPr>
              <a:t>Confidence-based execution</a:t>
            </a:r>
          </a:p>
        </p:txBody>
      </p:sp>
      <p:sp>
        <p:nvSpPr>
          <p:cNvPr id="65" name="Stage 5 body"/>
          <p:cNvSpPr txBox="1"/>
          <p:nvPr/>
        </p:nvSpPr>
        <p:spPr>
          <a:xfrm>
            <a:off x="6025896" y="2834640"/>
            <a:ext cx="987552" cy="640080"/>
          </a:xfrm>
          <a:prstGeom prst="rect">
            <a:avLst/>
          </a:prstGeom>
          <a:noFill/>
        </p:spPr>
        <p:txBody>
          <a:bodyPr wrap="square" lIns="0" tIns="0" rIns="0" bIns="0" anchor="t">
            <a:noAutofit/>
          </a:bodyPr>
          <a:lstStyle/>
          <a:p>
            <a:pPr algn="l">
              <a:lnSpc>
                <a:spcPct val="110000"/>
              </a:lnSpc>
            </a:pPr>
            <a:r>
              <a:rPr lang="en-US" sz="700" b="0" i="0" dirty="0">
                <a:solidFill>
                  <a:srgbClr val="4A5668"/>
                </a:solidFill>
                <a:latin typeface="Inter"/>
              </a:rPr>
              <a:t>Confident on a proven step: heal. Unsure: human intervention required</a:t>
            </a:r>
          </a:p>
        </p:txBody>
      </p:sp>
      <p:sp>
        <p:nvSpPr>
          <p:cNvPr id="66" name="Stage 5 rule"/>
          <p:cNvSpPr/>
          <p:nvPr/>
        </p:nvSpPr>
        <p:spPr>
          <a:xfrm>
            <a:off x="6025896" y="3511296"/>
            <a:ext cx="987552"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Stage 5 metric"/>
          <p:cNvSpPr txBox="1"/>
          <p:nvPr/>
        </p:nvSpPr>
        <p:spPr>
          <a:xfrm>
            <a:off x="6025896" y="3584448"/>
            <a:ext cx="987552" cy="137160"/>
          </a:xfrm>
          <a:prstGeom prst="rect">
            <a:avLst/>
          </a:prstGeom>
          <a:noFill/>
        </p:spPr>
        <p:txBody>
          <a:bodyPr wrap="square" lIns="0" tIns="0" rIns="0" bIns="0" anchor="t">
            <a:noAutofit/>
          </a:bodyPr>
          <a:lstStyle/>
          <a:p>
            <a:pPr algn="l"/>
            <a:r>
              <a:rPr lang="en-US" sz="650" b="1" i="0" dirty="0">
                <a:solidFill>
                  <a:srgbClr val="1428A0"/>
                </a:solidFill>
                <a:latin typeface="JetBrains Mono"/>
              </a:rPr>
              <a:t>heal/review/refuse</a:t>
            </a:r>
          </a:p>
        </p:txBody>
      </p:sp>
      <p:sp>
        <p:nvSpPr>
          <p:cNvPr id="68" name="Stage 6"/>
          <p:cNvSpPr/>
          <p:nvPr/>
        </p:nvSpPr>
        <p:spPr>
          <a:xfrm>
            <a:off x="7379208" y="1920240"/>
            <a:ext cx="1097280" cy="1920240"/>
          </a:xfrm>
          <a:prstGeom prst="roundRect">
            <a:avLst>
              <a:gd name="adj" fmla="val 6000"/>
            </a:avLst>
          </a:prstGeom>
          <a:solidFill>
            <a:srgbClr val="FFFFFF"/>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Stage 6 circle"/>
          <p:cNvSpPr/>
          <p:nvPr/>
        </p:nvSpPr>
        <p:spPr>
          <a:xfrm>
            <a:off x="7470648" y="2029968"/>
            <a:ext cx="274320" cy="274320"/>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0" name="Stage 6 icon" descr="Lu-circle-check-FFFFFF.png"/>
          <p:cNvPicPr>
            <a:picLocks noChangeAspect="1"/>
          </p:cNvPicPr>
          <p:nvPr/>
        </p:nvPicPr>
        <p:blipFill>
          <a:blip r:embed="rId10"/>
          <a:stretch>
            <a:fillRect/>
          </a:stretch>
        </p:blipFill>
        <p:spPr>
          <a:xfrm>
            <a:off x="7536485" y="2095805"/>
            <a:ext cx="142646" cy="142646"/>
          </a:xfrm>
          <a:prstGeom prst="rect">
            <a:avLst/>
          </a:prstGeom>
        </p:spPr>
      </p:pic>
      <p:sp>
        <p:nvSpPr>
          <p:cNvPr id="71" name="Stage 6 verb"/>
          <p:cNvSpPr txBox="1"/>
          <p:nvPr/>
        </p:nvSpPr>
        <p:spPr>
          <a:xfrm>
            <a:off x="7799832" y="2107692"/>
            <a:ext cx="640080" cy="118872"/>
          </a:xfrm>
          <a:prstGeom prst="rect">
            <a:avLst/>
          </a:prstGeom>
          <a:noFill/>
        </p:spPr>
        <p:txBody>
          <a:bodyPr wrap="square" lIns="0" tIns="0" rIns="0" bIns="0" anchor="t">
            <a:noAutofit/>
          </a:bodyPr>
          <a:lstStyle/>
          <a:p>
            <a:pPr algn="l"/>
            <a:r>
              <a:rPr lang="en-US" sz="650" b="1" i="0" spc="40" dirty="0">
                <a:solidFill>
                  <a:srgbClr val="5F8B2F"/>
                </a:solidFill>
                <a:latin typeface="Inter"/>
              </a:rPr>
              <a:t>06  ACT</a:t>
            </a:r>
          </a:p>
        </p:txBody>
      </p:sp>
      <p:sp>
        <p:nvSpPr>
          <p:cNvPr id="72" name="Stage 6 title"/>
          <p:cNvSpPr txBox="1"/>
          <p:nvPr/>
        </p:nvSpPr>
        <p:spPr>
          <a:xfrm>
            <a:off x="7470648" y="2395728"/>
            <a:ext cx="914400" cy="274320"/>
          </a:xfrm>
          <a:prstGeom prst="rect">
            <a:avLst/>
          </a:prstGeom>
          <a:noFill/>
        </p:spPr>
        <p:txBody>
          <a:bodyPr wrap="square" lIns="0" tIns="0" rIns="0" bIns="0" anchor="t">
            <a:noAutofit/>
          </a:bodyPr>
          <a:lstStyle/>
          <a:p>
            <a:pPr algn="l">
              <a:lnSpc>
                <a:spcPct val="95000"/>
              </a:lnSpc>
            </a:pPr>
            <a:r>
              <a:rPr lang="en-US" sz="800" b="1" i="0" dirty="0">
                <a:solidFill>
                  <a:srgbClr val="1A1A1E"/>
                </a:solidFill>
                <a:latin typeface="Inter"/>
              </a:rPr>
              <a:t>Bind, validate, resume</a:t>
            </a:r>
          </a:p>
        </p:txBody>
      </p:sp>
      <p:sp>
        <p:nvSpPr>
          <p:cNvPr id="73" name="Stage 6 body"/>
          <p:cNvSpPr txBox="1"/>
          <p:nvPr/>
        </p:nvSpPr>
        <p:spPr>
          <a:xfrm>
            <a:off x="7470648" y="2706624"/>
            <a:ext cx="914400" cy="768096"/>
          </a:xfrm>
          <a:prstGeom prst="rect">
            <a:avLst/>
          </a:prstGeom>
          <a:noFill/>
        </p:spPr>
        <p:txBody>
          <a:bodyPr wrap="square" lIns="0" tIns="0" rIns="0" bIns="0" anchor="t">
            <a:noAutofit/>
          </a:bodyPr>
          <a:lstStyle/>
          <a:p>
            <a:pPr algn="l">
              <a:lnSpc>
                <a:spcPct val="110000"/>
              </a:lnSpc>
            </a:pPr>
            <a:r>
              <a:rPr lang="en-US" sz="700" b="0" i="0" dirty="0">
                <a:solidFill>
                  <a:srgbClr val="4A5668"/>
                </a:solidFill>
                <a:latin typeface="Inter"/>
              </a:rPr>
              <a:t>The page proves the selector unique and visible; the step carries on.</a:t>
            </a:r>
          </a:p>
        </p:txBody>
      </p:sp>
      <p:sp>
        <p:nvSpPr>
          <p:cNvPr id="74" name="Stage 6 rule"/>
          <p:cNvSpPr/>
          <p:nvPr/>
        </p:nvSpPr>
        <p:spPr>
          <a:xfrm>
            <a:off x="7470648" y="3511296"/>
            <a:ext cx="914400"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Stage 6 metric"/>
          <p:cNvSpPr txBox="1"/>
          <p:nvPr/>
        </p:nvSpPr>
        <p:spPr>
          <a:xfrm>
            <a:off x="7470648" y="3584448"/>
            <a:ext cx="914400" cy="137160"/>
          </a:xfrm>
          <a:prstGeom prst="rect">
            <a:avLst/>
          </a:prstGeom>
          <a:noFill/>
        </p:spPr>
        <p:txBody>
          <a:bodyPr wrap="square" lIns="0" tIns="0" rIns="0" bIns="0" anchor="t">
            <a:noAutofit/>
          </a:bodyPr>
          <a:lstStyle/>
          <a:p>
            <a:pPr algn="l"/>
            <a:r>
              <a:rPr lang="en-US" sz="650" b="1" i="0" dirty="0">
                <a:solidFill>
                  <a:srgbClr val="5F8B2F"/>
                </a:solidFill>
                <a:latin typeface="JetBrains Mono"/>
              </a:rPr>
              <a:t>0.2 s, no redeploy</a:t>
            </a:r>
          </a:p>
        </p:txBody>
      </p:sp>
      <p:cxnSp>
        <p:nvCxnSpPr>
          <p:cNvPr id="76" name="Flow arrow 1"/>
          <p:cNvCxnSpPr/>
          <p:nvPr/>
        </p:nvCxnSpPr>
        <p:spPr>
          <a:xfrm>
            <a:off x="1764792" y="2880360"/>
            <a:ext cx="274320" cy="0"/>
          </a:xfrm>
          <a:prstGeom prst="line">
            <a:avLst/>
          </a:prstGeom>
          <a:ln w="15875">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Flow arrow 2"/>
          <p:cNvCxnSpPr/>
          <p:nvPr/>
        </p:nvCxnSpPr>
        <p:spPr>
          <a:xfrm>
            <a:off x="3218688" y="2944368"/>
            <a:ext cx="109728" cy="0"/>
          </a:xfrm>
          <a:prstGeom prst="line">
            <a:avLst/>
          </a:prstGeom>
          <a:ln w="12700">
            <a:solidFill>
              <a:srgbClr val="1428A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8" name="Flow arrow 3"/>
          <p:cNvCxnSpPr/>
          <p:nvPr/>
        </p:nvCxnSpPr>
        <p:spPr>
          <a:xfrm>
            <a:off x="4517136" y="2944368"/>
            <a:ext cx="109728" cy="0"/>
          </a:xfrm>
          <a:prstGeom prst="line">
            <a:avLst/>
          </a:prstGeom>
          <a:ln w="12700">
            <a:solidFill>
              <a:srgbClr val="1428A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Flow arrow 4"/>
          <p:cNvCxnSpPr/>
          <p:nvPr/>
        </p:nvCxnSpPr>
        <p:spPr>
          <a:xfrm>
            <a:off x="5815584" y="2944368"/>
            <a:ext cx="109728" cy="0"/>
          </a:xfrm>
          <a:prstGeom prst="line">
            <a:avLst/>
          </a:prstGeom>
          <a:ln w="12700">
            <a:solidFill>
              <a:srgbClr val="1428A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Flow arrow 5"/>
          <p:cNvCxnSpPr/>
          <p:nvPr/>
        </p:nvCxnSpPr>
        <p:spPr>
          <a:xfrm>
            <a:off x="7104888" y="2880360"/>
            <a:ext cx="274320" cy="0"/>
          </a:xfrm>
          <a:prstGeom prst="line">
            <a:avLst/>
          </a:prstGeom>
          <a:ln w="15875">
            <a:solidFill>
              <a:srgbClr val="1428A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Learn down"/>
          <p:cNvCxnSpPr/>
          <p:nvPr/>
        </p:nvCxnSpPr>
        <p:spPr>
          <a:xfrm>
            <a:off x="7927848" y="3840480"/>
            <a:ext cx="0" cy="274320"/>
          </a:xfrm>
          <a:prstGeom prst="line">
            <a:avLst/>
          </a:prstGeom>
          <a:ln w="15875">
            <a:solidFill>
              <a:srgbClr val="5F8B2F"/>
            </a:solidFill>
          </a:ln>
        </p:spPr>
        <p:style>
          <a:lnRef idx="2">
            <a:schemeClr val="accent1"/>
          </a:lnRef>
          <a:fillRef idx="0">
            <a:schemeClr val="accent1"/>
          </a:fillRef>
          <a:effectRef idx="1">
            <a:schemeClr val="accent1"/>
          </a:effectRef>
          <a:fontRef idx="minor">
            <a:schemeClr val="tx1"/>
          </a:fontRef>
        </p:style>
      </p:cxnSp>
      <p:cxnSp>
        <p:nvCxnSpPr>
          <p:cNvPr id="82" name="Learn across"/>
          <p:cNvCxnSpPr/>
          <p:nvPr/>
        </p:nvCxnSpPr>
        <p:spPr>
          <a:xfrm flipH="1">
            <a:off x="2624328" y="4114800"/>
            <a:ext cx="5303520" cy="0"/>
          </a:xfrm>
          <a:prstGeom prst="line">
            <a:avLst/>
          </a:prstGeom>
          <a:ln w="15875">
            <a:solidFill>
              <a:srgbClr val="5F8B2F"/>
            </a:solidFill>
          </a:ln>
        </p:spPr>
        <p:style>
          <a:lnRef idx="2">
            <a:schemeClr val="accent1"/>
          </a:lnRef>
          <a:fillRef idx="0">
            <a:schemeClr val="accent1"/>
          </a:fillRef>
          <a:effectRef idx="1">
            <a:schemeClr val="accent1"/>
          </a:effectRef>
          <a:fontRef idx="minor">
            <a:schemeClr val="tx1"/>
          </a:fontRef>
        </p:style>
      </p:cxnSp>
      <p:cxnSp>
        <p:nvCxnSpPr>
          <p:cNvPr id="83" name="Learn up"/>
          <p:cNvCxnSpPr/>
          <p:nvPr/>
        </p:nvCxnSpPr>
        <p:spPr>
          <a:xfrm flipV="1">
            <a:off x="2624328" y="3845052"/>
            <a:ext cx="0" cy="269748"/>
          </a:xfrm>
          <a:prstGeom prst="line">
            <a:avLst/>
          </a:prstGeom>
          <a:ln w="15875">
            <a:solidFill>
              <a:srgbClr val="5F8B2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Learn label"/>
          <p:cNvSpPr txBox="1"/>
          <p:nvPr/>
        </p:nvSpPr>
        <p:spPr>
          <a:xfrm>
            <a:off x="2898648" y="4178808"/>
            <a:ext cx="5120640" cy="137160"/>
          </a:xfrm>
          <a:prstGeom prst="rect">
            <a:avLst/>
          </a:prstGeom>
          <a:noFill/>
        </p:spPr>
        <p:txBody>
          <a:bodyPr wrap="square" lIns="0" tIns="0" rIns="0" bIns="0" anchor="t">
            <a:noAutofit/>
          </a:bodyPr>
          <a:lstStyle/>
          <a:p>
            <a:pPr algn="l"/>
            <a:r>
              <a:rPr lang="en-US" sz="650" b="1" i="0" spc="60" dirty="0">
                <a:solidFill>
                  <a:srgbClr val="4A6E24"/>
                </a:solidFill>
                <a:latin typeface="Inter"/>
              </a:rPr>
              <a:t>07  LEARN</a:t>
            </a:r>
            <a:r>
              <a:rPr lang="en-US" sz="650" b="0" i="0" dirty="0">
                <a:solidFill>
                  <a:srgbClr val="4A5668"/>
                </a:solidFill>
                <a:latin typeface="Inter"/>
              </a:rPr>
              <a:t>   the verified fix and its fingerprint are written back to RAG memory, so the next robot heals instantly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lang="en-US" sz="855" b="1" i="0" spc="21" dirty="0">
                <a:solidFill>
                  <a:srgbClr val="FFFFFF"/>
                </a:solidFill>
                <a:latin typeface="Inter"/>
              </a:rPr>
              <a:t>SAMSUNG SDS</a:t>
            </a:r>
            <a:r>
              <a:rPr lang="en-US" sz="855" b="0" i="0" spc="21" dirty="0">
                <a:solidFill>
                  <a:srgbClr val="B9C6DA"/>
                </a:solidFill>
                <a:latin typeface="Inter"/>
              </a:rPr>
              <a:t>   |   </a:t>
            </a:r>
            <a:r>
              <a:rPr lang="en-US" sz="855" b="1" i="0" spc="21" dirty="0">
                <a:solidFill>
                  <a:srgbClr val="B9C6DA"/>
                </a:solidFill>
                <a:latin typeface="Inter"/>
              </a:rPr>
              <a:t>AI  ·  FINE-TUNING &amp; RESULTS</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07 / 10</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Fine-tuning beat scale: our 4B model outperforms a 20B one.</a:t>
            </a:r>
          </a:p>
        </p:txBody>
      </p:sp>
      <p:sp>
        <p:nvSpPr>
          <p:cNvPr id="12" name="Subtitle"/>
          <p:cNvSpPr txBox="1"/>
          <p:nvPr/>
        </p:nvSpPr>
        <p:spPr>
          <a:xfrm>
            <a:off x="667512" y="941832"/>
            <a:ext cx="7808976" cy="201168"/>
          </a:xfrm>
          <a:prstGeom prst="rect">
            <a:avLst/>
          </a:prstGeom>
          <a:noFill/>
        </p:spPr>
        <p:txBody>
          <a:bodyPr wrap="square" lIns="0" tIns="0" rIns="0" bIns="0" anchor="t">
            <a:noAutofit/>
          </a:bodyPr>
          <a:lstStyle/>
          <a:p>
            <a:pPr algn="l"/>
            <a:r>
              <a:rPr lang="en-US" sz="950" b="0" i="0" dirty="0">
                <a:solidFill>
                  <a:srgbClr val="4A5668"/>
                </a:solidFill>
                <a:latin typeface="Inter"/>
              </a:rPr>
              <a:t>Two open models, fine-tuned on 758k real breakages from 1,131 live websites, tested on websites they never saw.</a:t>
            </a:r>
          </a:p>
        </p:txBody>
      </p:sp>
      <p:sp>
        <p:nvSpPr>
          <p:cNvPr id="13" name="Data label"/>
          <p:cNvSpPr txBox="1"/>
          <p:nvPr/>
        </p:nvSpPr>
        <p:spPr>
          <a:xfrm>
            <a:off x="667512" y="1261872"/>
            <a:ext cx="1920240" cy="118872"/>
          </a:xfrm>
          <a:prstGeom prst="rect">
            <a:avLst/>
          </a:prstGeom>
          <a:noFill/>
        </p:spPr>
        <p:txBody>
          <a:bodyPr wrap="square" lIns="0" tIns="0" rIns="0" bIns="0" anchor="t">
            <a:noAutofit/>
          </a:bodyPr>
          <a:lstStyle/>
          <a:p>
            <a:pPr algn="l"/>
            <a:r>
              <a:rPr lang="en-US" sz="650" b="1" i="0" spc="60" dirty="0">
                <a:solidFill>
                  <a:srgbClr val="2A5C9E"/>
                </a:solidFill>
                <a:latin typeface="Inter"/>
              </a:rPr>
              <a:t>TRAINING DATA  ·  ALL REAL</a:t>
            </a:r>
          </a:p>
        </p:txBody>
      </p:sp>
      <p:sp>
        <p:nvSpPr>
          <p:cNvPr id="14" name="Data bar 1"/>
          <p:cNvSpPr/>
          <p:nvPr/>
        </p:nvSpPr>
        <p:spPr>
          <a:xfrm>
            <a:off x="667512" y="1444752"/>
            <a:ext cx="1920240" cy="512064"/>
          </a:xfrm>
          <a:prstGeom prst="roundRect">
            <a:avLst>
              <a:gd name="adj" fmla="val 12000"/>
            </a:avLst>
          </a:prstGeom>
          <a:solidFill>
            <a:srgbClr val="E3E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Data bar 1 icon" descr="Lu-globe-1428A0.png"/>
          <p:cNvPicPr>
            <a:picLocks noChangeAspect="1"/>
          </p:cNvPicPr>
          <p:nvPr/>
        </p:nvPicPr>
        <p:blipFill>
          <a:blip r:embed="rId3"/>
          <a:stretch>
            <a:fillRect/>
          </a:stretch>
        </p:blipFill>
        <p:spPr>
          <a:xfrm>
            <a:off x="777240" y="1600200"/>
            <a:ext cx="201168" cy="201168"/>
          </a:xfrm>
          <a:prstGeom prst="rect">
            <a:avLst/>
          </a:prstGeom>
        </p:spPr>
      </p:pic>
      <p:sp>
        <p:nvSpPr>
          <p:cNvPr id="16" name="Data bar 1 value"/>
          <p:cNvSpPr txBox="1"/>
          <p:nvPr/>
        </p:nvSpPr>
        <p:spPr>
          <a:xfrm>
            <a:off x="1069848" y="1490472"/>
            <a:ext cx="1463040" cy="219456"/>
          </a:xfrm>
          <a:prstGeom prst="rect">
            <a:avLst/>
          </a:prstGeom>
          <a:noFill/>
        </p:spPr>
        <p:txBody>
          <a:bodyPr wrap="square" lIns="0" tIns="0" rIns="0" bIns="0" anchor="t">
            <a:noAutofit/>
          </a:bodyPr>
          <a:lstStyle/>
          <a:p>
            <a:pPr algn="l"/>
            <a:r>
              <a:rPr lang="en-US" sz="1300" b="1" i="0" spc="-20" dirty="0">
                <a:solidFill>
                  <a:srgbClr val="1428A0"/>
                </a:solidFill>
                <a:latin typeface="Inter"/>
              </a:rPr>
              <a:t>1,131</a:t>
            </a:r>
          </a:p>
        </p:txBody>
      </p:sp>
      <p:sp>
        <p:nvSpPr>
          <p:cNvPr id="17" name="Data bar 1 label"/>
          <p:cNvSpPr txBox="1"/>
          <p:nvPr/>
        </p:nvSpPr>
        <p:spPr>
          <a:xfrm>
            <a:off x="1069848" y="1709928"/>
            <a:ext cx="1463040" cy="219456"/>
          </a:xfrm>
          <a:prstGeom prst="rect">
            <a:avLst/>
          </a:prstGeom>
          <a:noFill/>
        </p:spPr>
        <p:txBody>
          <a:bodyPr wrap="square" lIns="0" tIns="0" rIns="0" bIns="0" anchor="t">
            <a:noAutofit/>
          </a:bodyPr>
          <a:lstStyle/>
          <a:p>
            <a:pPr algn="l">
              <a:lnSpc>
                <a:spcPct val="95000"/>
              </a:lnSpc>
            </a:pPr>
            <a:r>
              <a:rPr lang="en-US" sz="650" b="0" i="0" dirty="0">
                <a:solidFill>
                  <a:srgbClr val="4A5668"/>
                </a:solidFill>
                <a:latin typeface="Inter"/>
              </a:rPr>
              <a:t>live websites crawled</a:t>
            </a:r>
          </a:p>
        </p:txBody>
      </p:sp>
      <p:sp>
        <p:nvSpPr>
          <p:cNvPr id="18" name="Data bar 2"/>
          <p:cNvSpPr/>
          <p:nvPr/>
        </p:nvSpPr>
        <p:spPr>
          <a:xfrm>
            <a:off x="740664" y="2011680"/>
            <a:ext cx="1773936" cy="512064"/>
          </a:xfrm>
          <a:prstGeom prst="roundRect">
            <a:avLst>
              <a:gd name="adj" fmla="val 12000"/>
            </a:avLst>
          </a:prstGeom>
          <a:solidFill>
            <a:srgbClr val="D3D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Data bar 2 icon" descr="Lu-unlink-1428A0.png"/>
          <p:cNvPicPr>
            <a:picLocks noChangeAspect="1"/>
          </p:cNvPicPr>
          <p:nvPr/>
        </p:nvPicPr>
        <p:blipFill>
          <a:blip r:embed="rId4"/>
          <a:stretch>
            <a:fillRect/>
          </a:stretch>
        </p:blipFill>
        <p:spPr>
          <a:xfrm>
            <a:off x="850392" y="2167128"/>
            <a:ext cx="201168" cy="201168"/>
          </a:xfrm>
          <a:prstGeom prst="rect">
            <a:avLst/>
          </a:prstGeom>
        </p:spPr>
      </p:pic>
      <p:sp>
        <p:nvSpPr>
          <p:cNvPr id="20" name="Data bar 2 value"/>
          <p:cNvSpPr txBox="1"/>
          <p:nvPr/>
        </p:nvSpPr>
        <p:spPr>
          <a:xfrm>
            <a:off x="1143000" y="2057400"/>
            <a:ext cx="1316736" cy="219456"/>
          </a:xfrm>
          <a:prstGeom prst="rect">
            <a:avLst/>
          </a:prstGeom>
          <a:noFill/>
        </p:spPr>
        <p:txBody>
          <a:bodyPr wrap="square" lIns="0" tIns="0" rIns="0" bIns="0" anchor="t">
            <a:noAutofit/>
          </a:bodyPr>
          <a:lstStyle/>
          <a:p>
            <a:pPr algn="l"/>
            <a:r>
              <a:rPr lang="en-US" sz="1300" b="1" i="0" spc="-20" dirty="0">
                <a:solidFill>
                  <a:srgbClr val="1428A0"/>
                </a:solidFill>
                <a:latin typeface="Inter"/>
              </a:rPr>
              <a:t>758k</a:t>
            </a:r>
          </a:p>
        </p:txBody>
      </p:sp>
      <p:sp>
        <p:nvSpPr>
          <p:cNvPr id="21" name="Data bar 2 label"/>
          <p:cNvSpPr txBox="1"/>
          <p:nvPr/>
        </p:nvSpPr>
        <p:spPr>
          <a:xfrm>
            <a:off x="1143000" y="2276856"/>
            <a:ext cx="1316736" cy="219456"/>
          </a:xfrm>
          <a:prstGeom prst="rect">
            <a:avLst/>
          </a:prstGeom>
          <a:noFill/>
        </p:spPr>
        <p:txBody>
          <a:bodyPr wrap="square" lIns="0" tIns="0" rIns="0" bIns="0" anchor="t">
            <a:noAutofit/>
          </a:bodyPr>
          <a:lstStyle/>
          <a:p>
            <a:pPr algn="l">
              <a:lnSpc>
                <a:spcPct val="95000"/>
              </a:lnSpc>
            </a:pPr>
            <a:r>
              <a:rPr lang="en-US" sz="650" b="0" i="0" dirty="0">
                <a:solidFill>
                  <a:srgbClr val="4A5668"/>
                </a:solidFill>
                <a:latin typeface="Inter"/>
              </a:rPr>
              <a:t>real breakages harvested</a:t>
            </a:r>
          </a:p>
        </p:txBody>
      </p:sp>
      <p:sp>
        <p:nvSpPr>
          <p:cNvPr id="22" name="Data bar 3"/>
          <p:cNvSpPr/>
          <p:nvPr/>
        </p:nvSpPr>
        <p:spPr>
          <a:xfrm>
            <a:off x="813816" y="2578608"/>
            <a:ext cx="1627632" cy="512064"/>
          </a:xfrm>
          <a:prstGeom prst="roundRect">
            <a:avLst>
              <a:gd name="adj" fmla="val 12000"/>
            </a:avLst>
          </a:prstGeom>
          <a:solidFill>
            <a:srgbClr val="BFCD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Data bar 3 icon" descr="Lu-layers-1428A0.png"/>
          <p:cNvPicPr>
            <a:picLocks noChangeAspect="1"/>
          </p:cNvPicPr>
          <p:nvPr/>
        </p:nvPicPr>
        <p:blipFill>
          <a:blip r:embed="rId5"/>
          <a:stretch>
            <a:fillRect/>
          </a:stretch>
        </p:blipFill>
        <p:spPr>
          <a:xfrm>
            <a:off x="923544" y="2734056"/>
            <a:ext cx="201168" cy="201168"/>
          </a:xfrm>
          <a:prstGeom prst="rect">
            <a:avLst/>
          </a:prstGeom>
        </p:spPr>
      </p:pic>
      <p:sp>
        <p:nvSpPr>
          <p:cNvPr id="24" name="Data bar 3 value"/>
          <p:cNvSpPr txBox="1"/>
          <p:nvPr/>
        </p:nvSpPr>
        <p:spPr>
          <a:xfrm>
            <a:off x="1216152" y="2624328"/>
            <a:ext cx="1170432" cy="219456"/>
          </a:xfrm>
          <a:prstGeom prst="rect">
            <a:avLst/>
          </a:prstGeom>
          <a:noFill/>
        </p:spPr>
        <p:txBody>
          <a:bodyPr wrap="square" lIns="0" tIns="0" rIns="0" bIns="0" anchor="t">
            <a:noAutofit/>
          </a:bodyPr>
          <a:lstStyle/>
          <a:p>
            <a:pPr algn="l"/>
            <a:r>
              <a:rPr lang="en-US" sz="1300" b="1" i="0" spc="-20" dirty="0">
                <a:solidFill>
                  <a:srgbClr val="1428A0"/>
                </a:solidFill>
                <a:latin typeface="Inter"/>
              </a:rPr>
              <a:t>208k</a:t>
            </a:r>
          </a:p>
        </p:txBody>
      </p:sp>
      <p:sp>
        <p:nvSpPr>
          <p:cNvPr id="25" name="Data bar 3 label"/>
          <p:cNvSpPr txBox="1"/>
          <p:nvPr/>
        </p:nvSpPr>
        <p:spPr>
          <a:xfrm>
            <a:off x="1216152" y="2843784"/>
            <a:ext cx="1170432" cy="219456"/>
          </a:xfrm>
          <a:prstGeom prst="rect">
            <a:avLst/>
          </a:prstGeom>
          <a:noFill/>
        </p:spPr>
        <p:txBody>
          <a:bodyPr wrap="square" lIns="0" tIns="0" rIns="0" bIns="0" anchor="t">
            <a:noAutofit/>
          </a:bodyPr>
          <a:lstStyle/>
          <a:p>
            <a:pPr algn="l">
              <a:lnSpc>
                <a:spcPct val="95000"/>
              </a:lnSpc>
            </a:pPr>
            <a:r>
              <a:rPr lang="en-US" sz="650" b="0" i="0" dirty="0">
                <a:solidFill>
                  <a:srgbClr val="4A5668"/>
                </a:solidFill>
                <a:latin typeface="Inter"/>
              </a:rPr>
              <a:t>checker shortlists, plus 139k LLM examples</a:t>
            </a:r>
          </a:p>
        </p:txBody>
      </p:sp>
      <p:sp>
        <p:nvSpPr>
          <p:cNvPr id="26" name="Data bar 4"/>
          <p:cNvSpPr/>
          <p:nvPr/>
        </p:nvSpPr>
        <p:spPr>
          <a:xfrm>
            <a:off x="886968" y="3145536"/>
            <a:ext cx="1481328" cy="512064"/>
          </a:xfrm>
          <a:prstGeom prst="roundRect">
            <a:avLst>
              <a:gd name="adj" fmla="val 12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Data bar 4 icon" descr="Lu-target-FFFFFF.png"/>
          <p:cNvPicPr>
            <a:picLocks noChangeAspect="1"/>
          </p:cNvPicPr>
          <p:nvPr/>
        </p:nvPicPr>
        <p:blipFill>
          <a:blip r:embed="rId6"/>
          <a:stretch>
            <a:fillRect/>
          </a:stretch>
        </p:blipFill>
        <p:spPr>
          <a:xfrm>
            <a:off x="996696" y="3300984"/>
            <a:ext cx="201168" cy="201168"/>
          </a:xfrm>
          <a:prstGeom prst="rect">
            <a:avLst/>
          </a:prstGeom>
        </p:spPr>
      </p:pic>
      <p:sp>
        <p:nvSpPr>
          <p:cNvPr id="28" name="Data bar 4 value"/>
          <p:cNvSpPr txBox="1"/>
          <p:nvPr/>
        </p:nvSpPr>
        <p:spPr>
          <a:xfrm>
            <a:off x="1289304" y="3191256"/>
            <a:ext cx="1024128" cy="219456"/>
          </a:xfrm>
          <a:prstGeom prst="rect">
            <a:avLst/>
          </a:prstGeom>
          <a:noFill/>
        </p:spPr>
        <p:txBody>
          <a:bodyPr wrap="square" lIns="0" tIns="0" rIns="0" bIns="0" anchor="t">
            <a:noAutofit/>
          </a:bodyPr>
          <a:lstStyle/>
          <a:p>
            <a:pPr algn="l"/>
            <a:r>
              <a:rPr lang="en-US" sz="1300" b="1" i="0" spc="-20" dirty="0">
                <a:solidFill>
                  <a:srgbClr val="FFFFFF"/>
                </a:solidFill>
                <a:latin typeface="Inter"/>
              </a:rPr>
              <a:t>1,000</a:t>
            </a:r>
          </a:p>
        </p:txBody>
      </p:sp>
      <p:sp>
        <p:nvSpPr>
          <p:cNvPr id="29" name="Data bar 4 label"/>
          <p:cNvSpPr txBox="1"/>
          <p:nvPr/>
        </p:nvSpPr>
        <p:spPr>
          <a:xfrm>
            <a:off x="1289304" y="3410712"/>
            <a:ext cx="1024128" cy="219456"/>
          </a:xfrm>
          <a:prstGeom prst="rect">
            <a:avLst/>
          </a:prstGeom>
          <a:noFill/>
        </p:spPr>
        <p:txBody>
          <a:bodyPr wrap="square" lIns="0" tIns="0" rIns="0" bIns="0" anchor="t">
            <a:noAutofit/>
          </a:bodyPr>
          <a:lstStyle/>
          <a:p>
            <a:pPr algn="l">
              <a:lnSpc>
                <a:spcPct val="95000"/>
              </a:lnSpc>
            </a:pPr>
            <a:r>
              <a:rPr lang="en-US" sz="650" b="0" i="0" dirty="0">
                <a:solidFill>
                  <a:srgbClr val="D5DDF5"/>
                </a:solidFill>
                <a:latin typeface="Inter"/>
              </a:rPr>
              <a:t>test cases from unseen websites</a:t>
            </a:r>
          </a:p>
        </p:txBody>
      </p:sp>
      <p:sp>
        <p:nvSpPr>
          <p:cNvPr id="30" name="Data split"/>
          <p:cNvSpPr/>
          <p:nvPr/>
        </p:nvSpPr>
        <p:spPr>
          <a:xfrm>
            <a:off x="886968" y="3730752"/>
            <a:ext cx="1481328" cy="201168"/>
          </a:xfrm>
          <a:prstGeom prst="roundRect">
            <a:avLst>
              <a:gd name="adj" fmla="val 50000"/>
            </a:avLst>
          </a:prstGeom>
          <a:solidFill>
            <a:srgbClr val="E4ED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lang="en-US" sz="600" b="1" i="0" dirty="0">
                <a:solidFill>
                  <a:srgbClr val="4A6E24"/>
                </a:solidFill>
                <a:latin typeface="JetBrains Mono"/>
              </a:rPr>
              <a:t>SPLIT BY WEBSITE · 0 SYNTHETIC</a:t>
            </a:r>
          </a:p>
        </p:txBody>
      </p:sp>
      <p:sp>
        <p:nvSpPr>
          <p:cNvPr id="31" name="Checker card"/>
          <p:cNvSpPr/>
          <p:nvPr/>
        </p:nvSpPr>
        <p:spPr>
          <a:xfrm>
            <a:off x="2734056" y="1261872"/>
            <a:ext cx="2761488" cy="129844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ecker circle"/>
          <p:cNvSpPr/>
          <p:nvPr/>
        </p:nvSpPr>
        <p:spPr>
          <a:xfrm>
            <a:off x="2843784" y="1371600"/>
            <a:ext cx="292608" cy="292608"/>
          </a:xfrm>
          <a:prstGeom prst="ellipse">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Checker icon" descr="Lu-shield-check-FFFFFF.png"/>
          <p:cNvPicPr>
            <a:picLocks noChangeAspect="1"/>
          </p:cNvPicPr>
          <p:nvPr/>
        </p:nvPicPr>
        <p:blipFill>
          <a:blip r:embed="rId7"/>
          <a:stretch>
            <a:fillRect/>
          </a:stretch>
        </p:blipFill>
        <p:spPr>
          <a:xfrm>
            <a:off x="2914010" y="1441826"/>
            <a:ext cx="152156" cy="152156"/>
          </a:xfrm>
          <a:prstGeom prst="rect">
            <a:avLst/>
          </a:prstGeom>
        </p:spPr>
      </p:pic>
      <p:sp>
        <p:nvSpPr>
          <p:cNvPr id="34" name="Checker role"/>
          <p:cNvSpPr txBox="1"/>
          <p:nvPr/>
        </p:nvSpPr>
        <p:spPr>
          <a:xfrm>
            <a:off x="3227832" y="1380744"/>
            <a:ext cx="2157984" cy="118872"/>
          </a:xfrm>
          <a:prstGeom prst="rect">
            <a:avLst/>
          </a:prstGeom>
          <a:noFill/>
        </p:spPr>
        <p:txBody>
          <a:bodyPr wrap="square" lIns="0" tIns="0" rIns="0" bIns="0" anchor="t">
            <a:noAutofit/>
          </a:bodyPr>
          <a:lstStyle/>
          <a:p>
            <a:pPr algn="l"/>
            <a:r>
              <a:rPr lang="en-US" sz="650" b="1" i="0" spc="60" dirty="0">
                <a:solidFill>
                  <a:srgbClr val="4A6E24"/>
                </a:solidFill>
                <a:latin typeface="Inter"/>
              </a:rPr>
              <a:t>CHECKER  ·  FIRST OPINION</a:t>
            </a:r>
          </a:p>
        </p:txBody>
      </p:sp>
      <p:sp>
        <p:nvSpPr>
          <p:cNvPr id="35" name="Checker name"/>
          <p:cNvSpPr txBox="1"/>
          <p:nvPr/>
        </p:nvSpPr>
        <p:spPr>
          <a:xfrm>
            <a:off x="3227832" y="1499616"/>
            <a:ext cx="2157984" cy="182880"/>
          </a:xfrm>
          <a:prstGeom prst="rect">
            <a:avLst/>
          </a:prstGeom>
          <a:noFill/>
        </p:spPr>
        <p:txBody>
          <a:bodyPr wrap="square" lIns="0" tIns="0" rIns="0" bIns="0" anchor="t">
            <a:noAutofit/>
          </a:bodyPr>
          <a:lstStyle/>
          <a:p>
            <a:pPr algn="l"/>
            <a:r>
              <a:rPr lang="en-US" sz="1000" b="1" i="0" dirty="0">
                <a:solidFill>
                  <a:srgbClr val="1A1A1E"/>
                </a:solidFill>
                <a:latin typeface="Inter"/>
              </a:rPr>
              <a:t>Laya 421M + LoRA</a:t>
            </a:r>
          </a:p>
        </p:txBody>
      </p:sp>
      <p:sp>
        <p:nvSpPr>
          <p:cNvPr id="36" name="Checker rule"/>
          <p:cNvSpPr/>
          <p:nvPr/>
        </p:nvSpPr>
        <p:spPr>
          <a:xfrm>
            <a:off x="2843784" y="1773936"/>
            <a:ext cx="2542032"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Checker fact 1"/>
          <p:cNvSpPr txBox="1"/>
          <p:nvPr/>
        </p:nvSpPr>
        <p:spPr>
          <a:xfrm>
            <a:off x="2843784" y="1847088"/>
            <a:ext cx="1243584" cy="182880"/>
          </a:xfrm>
          <a:prstGeom prst="rect">
            <a:avLst/>
          </a:prstGeom>
          <a:noFill/>
        </p:spPr>
        <p:txBody>
          <a:bodyPr wrap="square" lIns="0" tIns="0" rIns="0" bIns="0" anchor="t">
            <a:noAutofit/>
          </a:bodyPr>
          <a:lstStyle/>
          <a:p>
            <a:pPr algn="l"/>
            <a:r>
              <a:rPr lang="en-US" sz="1100" b="1" i="0" spc="-20" dirty="0">
                <a:solidFill>
                  <a:srgbClr val="4A6E24"/>
                </a:solidFill>
                <a:latin typeface="Inter"/>
              </a:rPr>
              <a:t>0.98</a:t>
            </a:r>
          </a:p>
        </p:txBody>
      </p:sp>
      <p:sp>
        <p:nvSpPr>
          <p:cNvPr id="38" name="Checker fact 1 label"/>
          <p:cNvSpPr txBox="1"/>
          <p:nvPr/>
        </p:nvSpPr>
        <p:spPr>
          <a:xfrm>
            <a:off x="2843784" y="2029968"/>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AUC, vs 0.77 for heuristics</a:t>
            </a:r>
          </a:p>
        </p:txBody>
      </p:sp>
      <p:sp>
        <p:nvSpPr>
          <p:cNvPr id="39" name="Checker fact 2"/>
          <p:cNvSpPr txBox="1"/>
          <p:nvPr/>
        </p:nvSpPr>
        <p:spPr>
          <a:xfrm>
            <a:off x="4142232" y="1847088"/>
            <a:ext cx="1243584" cy="182880"/>
          </a:xfrm>
          <a:prstGeom prst="rect">
            <a:avLst/>
          </a:prstGeom>
          <a:noFill/>
        </p:spPr>
        <p:txBody>
          <a:bodyPr wrap="square" lIns="0" tIns="0" rIns="0" bIns="0" anchor="t">
            <a:noAutofit/>
          </a:bodyPr>
          <a:lstStyle/>
          <a:p>
            <a:pPr algn="l"/>
            <a:r>
              <a:rPr lang="en-US" sz="1100" b="1" i="0" spc="-20" dirty="0">
                <a:solidFill>
                  <a:srgbClr val="4A6E24"/>
                </a:solidFill>
                <a:latin typeface="Inter"/>
              </a:rPr>
              <a:t>+0.38</a:t>
            </a:r>
          </a:p>
        </p:txBody>
      </p:sp>
      <p:sp>
        <p:nvSpPr>
          <p:cNvPr id="40" name="Checker fact 2 label"/>
          <p:cNvSpPr txBox="1"/>
          <p:nvPr/>
        </p:nvSpPr>
        <p:spPr>
          <a:xfrm>
            <a:off x="4142232" y="2029968"/>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AUC gained by fine-tuning</a:t>
            </a:r>
          </a:p>
        </p:txBody>
      </p:sp>
      <p:sp>
        <p:nvSpPr>
          <p:cNvPr id="41" name="Checker fact 3"/>
          <p:cNvSpPr txBox="1"/>
          <p:nvPr/>
        </p:nvSpPr>
        <p:spPr>
          <a:xfrm>
            <a:off x="2843784" y="2194560"/>
            <a:ext cx="1243584" cy="182880"/>
          </a:xfrm>
          <a:prstGeom prst="rect">
            <a:avLst/>
          </a:prstGeom>
          <a:noFill/>
        </p:spPr>
        <p:txBody>
          <a:bodyPr wrap="square" lIns="0" tIns="0" rIns="0" bIns="0" anchor="t">
            <a:noAutofit/>
          </a:bodyPr>
          <a:lstStyle/>
          <a:p>
            <a:pPr algn="l"/>
            <a:r>
              <a:rPr lang="en-US" sz="1100" b="1" i="0" spc="-20" dirty="0">
                <a:solidFill>
                  <a:srgbClr val="4A6E24"/>
                </a:solidFill>
                <a:latin typeface="Inter"/>
              </a:rPr>
              <a:t>38%</a:t>
            </a:r>
          </a:p>
        </p:txBody>
      </p:sp>
      <p:sp>
        <p:nvSpPr>
          <p:cNvPr id="42" name="Checker fact 3 label"/>
          <p:cNvSpPr txBox="1"/>
          <p:nvPr/>
        </p:nvSpPr>
        <p:spPr>
          <a:xfrm>
            <a:off x="2843784" y="2377440"/>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of decisions settled alone</a:t>
            </a:r>
          </a:p>
        </p:txBody>
      </p:sp>
      <p:sp>
        <p:nvSpPr>
          <p:cNvPr id="43" name="Checker fact 4"/>
          <p:cNvSpPr txBox="1"/>
          <p:nvPr/>
        </p:nvSpPr>
        <p:spPr>
          <a:xfrm>
            <a:off x="4142232" y="2194560"/>
            <a:ext cx="1243584" cy="182880"/>
          </a:xfrm>
          <a:prstGeom prst="rect">
            <a:avLst/>
          </a:prstGeom>
          <a:noFill/>
        </p:spPr>
        <p:txBody>
          <a:bodyPr wrap="square" lIns="0" tIns="0" rIns="0" bIns="0" anchor="t">
            <a:noAutofit/>
          </a:bodyPr>
          <a:lstStyle/>
          <a:p>
            <a:pPr algn="l"/>
            <a:r>
              <a:rPr lang="en-US" sz="1100" b="1" i="0" spc="-20" dirty="0">
                <a:solidFill>
                  <a:srgbClr val="4A6E24"/>
                </a:solidFill>
                <a:latin typeface="Inter"/>
              </a:rPr>
              <a:t>~0.3 s</a:t>
            </a:r>
          </a:p>
        </p:txBody>
      </p:sp>
      <p:sp>
        <p:nvSpPr>
          <p:cNvPr id="44" name="Checker fact 4 label"/>
          <p:cNvSpPr txBox="1"/>
          <p:nvPr/>
        </p:nvSpPr>
        <p:spPr>
          <a:xfrm>
            <a:off x="4142232" y="2377440"/>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per shortlist, on GPU</a:t>
            </a:r>
          </a:p>
        </p:txBody>
      </p:sp>
      <p:sp>
        <p:nvSpPr>
          <p:cNvPr id="45" name="Adjudicator card"/>
          <p:cNvSpPr/>
          <p:nvPr/>
        </p:nvSpPr>
        <p:spPr>
          <a:xfrm>
            <a:off x="2734056" y="2670048"/>
            <a:ext cx="2761488" cy="1298448"/>
          </a:xfrm>
          <a:prstGeom prst="roundRect">
            <a:avLst>
              <a:gd name="adj" fmla="val 6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Adjudicator circle"/>
          <p:cNvSpPr/>
          <p:nvPr/>
        </p:nvSpPr>
        <p:spPr>
          <a:xfrm>
            <a:off x="2843784" y="2779776"/>
            <a:ext cx="292608" cy="292608"/>
          </a:xfrm>
          <a:prstGeom prst="ellipse">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Adjudicator icon" descr="Lu-brain-FFFFFF.png"/>
          <p:cNvPicPr>
            <a:picLocks noChangeAspect="1"/>
          </p:cNvPicPr>
          <p:nvPr/>
        </p:nvPicPr>
        <p:blipFill>
          <a:blip r:embed="rId8"/>
          <a:stretch>
            <a:fillRect/>
          </a:stretch>
        </p:blipFill>
        <p:spPr>
          <a:xfrm>
            <a:off x="2914010" y="2850002"/>
            <a:ext cx="152156" cy="152156"/>
          </a:xfrm>
          <a:prstGeom prst="rect">
            <a:avLst/>
          </a:prstGeom>
        </p:spPr>
      </p:pic>
      <p:sp>
        <p:nvSpPr>
          <p:cNvPr id="48" name="Adjudicator role"/>
          <p:cNvSpPr txBox="1"/>
          <p:nvPr/>
        </p:nvSpPr>
        <p:spPr>
          <a:xfrm>
            <a:off x="3227832" y="2788920"/>
            <a:ext cx="2157984" cy="118872"/>
          </a:xfrm>
          <a:prstGeom prst="rect">
            <a:avLst/>
          </a:prstGeom>
          <a:noFill/>
        </p:spPr>
        <p:txBody>
          <a:bodyPr wrap="square" lIns="0" tIns="0" rIns="0" bIns="0" anchor="t">
            <a:noAutofit/>
          </a:bodyPr>
          <a:lstStyle/>
          <a:p>
            <a:pPr algn="l"/>
            <a:r>
              <a:rPr lang="en-US" sz="650" b="1" i="0" spc="60" dirty="0">
                <a:solidFill>
                  <a:srgbClr val="9A5620"/>
                </a:solidFill>
                <a:latin typeface="Inter"/>
              </a:rPr>
              <a:t>ADJUDICATOR  ·  LLM REASONING</a:t>
            </a:r>
          </a:p>
        </p:txBody>
      </p:sp>
      <p:sp>
        <p:nvSpPr>
          <p:cNvPr id="49" name="Adjudicator name"/>
          <p:cNvSpPr txBox="1"/>
          <p:nvPr/>
        </p:nvSpPr>
        <p:spPr>
          <a:xfrm>
            <a:off x="3227832" y="2907792"/>
            <a:ext cx="2157984" cy="182880"/>
          </a:xfrm>
          <a:prstGeom prst="rect">
            <a:avLst/>
          </a:prstGeom>
          <a:noFill/>
        </p:spPr>
        <p:txBody>
          <a:bodyPr wrap="square" lIns="0" tIns="0" rIns="0" bIns="0" anchor="t">
            <a:noAutofit/>
          </a:bodyPr>
          <a:lstStyle/>
          <a:p>
            <a:pPr algn="l"/>
            <a:r>
              <a:rPr lang="en-US" sz="1000" b="1" i="0" dirty="0">
                <a:solidFill>
                  <a:srgbClr val="1A1A1E"/>
                </a:solidFill>
                <a:latin typeface="Inter"/>
              </a:rPr>
              <a:t>Qwen3-4B + QLoRA</a:t>
            </a:r>
          </a:p>
        </p:txBody>
      </p:sp>
      <p:sp>
        <p:nvSpPr>
          <p:cNvPr id="50" name="Adjudicator rule"/>
          <p:cNvSpPr/>
          <p:nvPr/>
        </p:nvSpPr>
        <p:spPr>
          <a:xfrm>
            <a:off x="2843784" y="3182112"/>
            <a:ext cx="2542032" cy="6401"/>
          </a:xfrm>
          <a:prstGeom prst="rect">
            <a:avLst/>
          </a:prstGeom>
          <a:solidFill>
            <a:srgbClr val="D7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Adjudicator fact 1"/>
          <p:cNvSpPr txBox="1"/>
          <p:nvPr/>
        </p:nvSpPr>
        <p:spPr>
          <a:xfrm>
            <a:off x="2843784" y="3255264"/>
            <a:ext cx="1243584" cy="182880"/>
          </a:xfrm>
          <a:prstGeom prst="rect">
            <a:avLst/>
          </a:prstGeom>
          <a:noFill/>
        </p:spPr>
        <p:txBody>
          <a:bodyPr wrap="square" lIns="0" tIns="0" rIns="0" bIns="0" anchor="t">
            <a:noAutofit/>
          </a:bodyPr>
          <a:lstStyle/>
          <a:p>
            <a:pPr algn="l"/>
            <a:r>
              <a:rPr lang="en-US" sz="1100" b="1" i="0" spc="-20" dirty="0">
                <a:solidFill>
                  <a:srgbClr val="9A5620"/>
                </a:solidFill>
                <a:latin typeface="Inter"/>
              </a:rPr>
              <a:t>+26.5 pts</a:t>
            </a:r>
          </a:p>
        </p:txBody>
      </p:sp>
      <p:sp>
        <p:nvSpPr>
          <p:cNvPr id="52" name="Adjudicator fact 1 label"/>
          <p:cNvSpPr txBox="1"/>
          <p:nvPr/>
        </p:nvSpPr>
        <p:spPr>
          <a:xfrm>
            <a:off x="2843784" y="3438144"/>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accuracy from fine-tuning</a:t>
            </a:r>
          </a:p>
        </p:txBody>
      </p:sp>
      <p:sp>
        <p:nvSpPr>
          <p:cNvPr id="53" name="Adjudicator fact 2"/>
          <p:cNvSpPr txBox="1"/>
          <p:nvPr/>
        </p:nvSpPr>
        <p:spPr>
          <a:xfrm>
            <a:off x="4142232" y="3255264"/>
            <a:ext cx="1243584" cy="182880"/>
          </a:xfrm>
          <a:prstGeom prst="rect">
            <a:avLst/>
          </a:prstGeom>
          <a:noFill/>
        </p:spPr>
        <p:txBody>
          <a:bodyPr wrap="square" lIns="0" tIns="0" rIns="0" bIns="0" anchor="t">
            <a:noAutofit/>
          </a:bodyPr>
          <a:lstStyle/>
          <a:p>
            <a:pPr algn="l"/>
            <a:r>
              <a:rPr lang="en-US" sz="1100" b="1" i="0" spc="-20" dirty="0">
                <a:solidFill>
                  <a:srgbClr val="9A5620"/>
                </a:solidFill>
                <a:latin typeface="Inter"/>
              </a:rPr>
              <a:t>5x smaller</a:t>
            </a:r>
          </a:p>
        </p:txBody>
      </p:sp>
      <p:sp>
        <p:nvSpPr>
          <p:cNvPr id="54" name="Adjudicator fact 2 label"/>
          <p:cNvSpPr txBox="1"/>
          <p:nvPr/>
        </p:nvSpPr>
        <p:spPr>
          <a:xfrm>
            <a:off x="4142232" y="3438144"/>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than the 20B model it beats</a:t>
            </a:r>
          </a:p>
        </p:txBody>
      </p:sp>
      <p:sp>
        <p:nvSpPr>
          <p:cNvPr id="55" name="Adjudicator fact 3"/>
          <p:cNvSpPr txBox="1"/>
          <p:nvPr/>
        </p:nvSpPr>
        <p:spPr>
          <a:xfrm>
            <a:off x="2843784" y="3602736"/>
            <a:ext cx="1243584" cy="182880"/>
          </a:xfrm>
          <a:prstGeom prst="rect">
            <a:avLst/>
          </a:prstGeom>
          <a:noFill/>
        </p:spPr>
        <p:txBody>
          <a:bodyPr wrap="square" lIns="0" tIns="0" rIns="0" bIns="0" anchor="t">
            <a:noAutofit/>
          </a:bodyPr>
          <a:lstStyle/>
          <a:p>
            <a:pPr algn="l"/>
            <a:r>
              <a:rPr lang="en-US" sz="1100" b="1" i="0" spc="-20" dirty="0">
                <a:solidFill>
                  <a:srgbClr val="9A5620"/>
                </a:solidFill>
                <a:latin typeface="Inter"/>
              </a:rPr>
              <a:t>2.5 GB</a:t>
            </a:r>
          </a:p>
        </p:txBody>
      </p:sp>
      <p:sp>
        <p:nvSpPr>
          <p:cNvPr id="56" name="Adjudicator fact 3 label"/>
          <p:cNvSpPr txBox="1"/>
          <p:nvPr/>
        </p:nvSpPr>
        <p:spPr>
          <a:xfrm>
            <a:off x="2843784" y="3785616"/>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fits a 4 GB GPU</a:t>
            </a:r>
          </a:p>
        </p:txBody>
      </p:sp>
      <p:sp>
        <p:nvSpPr>
          <p:cNvPr id="57" name="Adjudicator fact 4"/>
          <p:cNvSpPr txBox="1"/>
          <p:nvPr/>
        </p:nvSpPr>
        <p:spPr>
          <a:xfrm>
            <a:off x="4142232" y="3602736"/>
            <a:ext cx="1243584" cy="182880"/>
          </a:xfrm>
          <a:prstGeom prst="rect">
            <a:avLst/>
          </a:prstGeom>
          <a:noFill/>
        </p:spPr>
        <p:txBody>
          <a:bodyPr wrap="square" lIns="0" tIns="0" rIns="0" bIns="0" anchor="t">
            <a:noAutofit/>
          </a:bodyPr>
          <a:lstStyle/>
          <a:p>
            <a:pPr algn="l"/>
            <a:r>
              <a:rPr lang="en-US" sz="1100" b="1" i="0" spc="-20" dirty="0">
                <a:solidFill>
                  <a:srgbClr val="9A5620"/>
                </a:solidFill>
                <a:latin typeface="Inter"/>
              </a:rPr>
              <a:t>2.2 s</a:t>
            </a:r>
          </a:p>
        </p:txBody>
      </p:sp>
      <p:sp>
        <p:nvSpPr>
          <p:cNvPr id="58" name="Adjudicator fact 4 label"/>
          <p:cNvSpPr txBox="1"/>
          <p:nvPr/>
        </p:nvSpPr>
        <p:spPr>
          <a:xfrm>
            <a:off x="4142232" y="3785616"/>
            <a:ext cx="1243584" cy="118872"/>
          </a:xfrm>
          <a:prstGeom prst="rect">
            <a:avLst/>
          </a:prstGeom>
          <a:noFill/>
        </p:spPr>
        <p:txBody>
          <a:bodyPr wrap="square" lIns="0" tIns="0" rIns="0" bIns="0" anchor="t">
            <a:noAutofit/>
          </a:bodyPr>
          <a:lstStyle/>
          <a:p>
            <a:pPr algn="l"/>
            <a:r>
              <a:rPr lang="en-US" sz="650" b="0" i="0" dirty="0">
                <a:solidFill>
                  <a:srgbClr val="4A5668"/>
                </a:solidFill>
                <a:latin typeface="Inter"/>
              </a:rPr>
              <a:t>median decision, one L4 GPU</a:t>
            </a:r>
          </a:p>
        </p:txBody>
      </p:sp>
      <p:sp>
        <p:nvSpPr>
          <p:cNvPr id="59" name="Accuracy card"/>
          <p:cNvSpPr/>
          <p:nvPr/>
        </p:nvSpPr>
        <p:spPr>
          <a:xfrm>
            <a:off x="5641848" y="1261872"/>
            <a:ext cx="2834640" cy="1188720"/>
          </a:xfrm>
          <a:prstGeom prst="roundRect">
            <a:avLst>
              <a:gd name="adj" fmla="val 6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Accuracy card label"/>
          <p:cNvSpPr txBox="1"/>
          <p:nvPr/>
        </p:nvSpPr>
        <p:spPr>
          <a:xfrm>
            <a:off x="5788152" y="1371600"/>
            <a:ext cx="2560320" cy="118872"/>
          </a:xfrm>
          <a:prstGeom prst="rect">
            <a:avLst/>
          </a:prstGeom>
          <a:noFill/>
        </p:spPr>
        <p:txBody>
          <a:bodyPr wrap="square" lIns="0" tIns="0" rIns="0" bIns="0" anchor="t">
            <a:noAutofit/>
          </a:bodyPr>
          <a:lstStyle/>
          <a:p>
            <a:pPr algn="l"/>
            <a:r>
              <a:rPr lang="en-US" sz="650" b="1" i="0" spc="90" dirty="0">
                <a:solidFill>
                  <a:srgbClr val="C9D4F5"/>
                </a:solidFill>
                <a:latin typeface="Inter"/>
              </a:rPr>
              <a:t>WHEN THE AGENT IS CONFIDENT</a:t>
            </a:r>
          </a:p>
        </p:txBody>
      </p:sp>
      <p:sp>
        <p:nvSpPr>
          <p:cNvPr id="61" name="Accuracy card value"/>
          <p:cNvSpPr txBox="1"/>
          <p:nvPr/>
        </p:nvSpPr>
        <p:spPr>
          <a:xfrm>
            <a:off x="5788152" y="1517904"/>
            <a:ext cx="1188720" cy="566928"/>
          </a:xfrm>
          <a:prstGeom prst="rect">
            <a:avLst/>
          </a:prstGeom>
          <a:noFill/>
        </p:spPr>
        <p:txBody>
          <a:bodyPr wrap="square" lIns="0" tIns="0" rIns="0" bIns="0" anchor="t">
            <a:noAutofit/>
          </a:bodyPr>
          <a:lstStyle/>
          <a:p>
            <a:pPr algn="l"/>
            <a:r>
              <a:rPr lang="en-US" sz="3600" b="1" i="0" spc="-60" dirty="0">
                <a:solidFill>
                  <a:srgbClr val="FFFFFF"/>
                </a:solidFill>
                <a:latin typeface="Inter"/>
              </a:rPr>
              <a:t>97%</a:t>
            </a:r>
          </a:p>
        </p:txBody>
      </p:sp>
      <p:sp>
        <p:nvSpPr>
          <p:cNvPr id="62" name="Accuracy card text"/>
          <p:cNvSpPr txBox="1"/>
          <p:nvPr/>
        </p:nvSpPr>
        <p:spPr>
          <a:xfrm>
            <a:off x="7004304" y="1591056"/>
            <a:ext cx="1371600" cy="420624"/>
          </a:xfrm>
          <a:prstGeom prst="rect">
            <a:avLst/>
          </a:prstGeom>
          <a:noFill/>
        </p:spPr>
        <p:txBody>
          <a:bodyPr wrap="square" lIns="0" tIns="0" rIns="0" bIns="0" anchor="t">
            <a:noAutofit/>
          </a:bodyPr>
          <a:lstStyle/>
          <a:p>
            <a:pPr algn="l"/>
            <a:r>
              <a:rPr lang="en-US" sz="1100" b="1" i="0" dirty="0">
                <a:solidFill>
                  <a:srgbClr val="FFFFFF"/>
                </a:solidFill>
                <a:latin typeface="Inter"/>
              </a:rPr>
              <a:t>accurate</a:t>
            </a:r>
          </a:p>
          <a:p>
            <a:pPr algn="l">
              <a:spcBef>
                <a:spcPts val="200"/>
              </a:spcBef>
            </a:pPr>
            <a:r>
              <a:rPr lang="en-US" sz="700" b="0" i="0" dirty="0">
                <a:solidFill>
                  <a:srgbClr val="D5DDF5"/>
                </a:solidFill>
                <a:latin typeface="Inter"/>
              </a:rPr>
              <a:t>209 of 211 decisions correct</a:t>
            </a:r>
          </a:p>
        </p:txBody>
      </p:sp>
      <p:sp>
        <p:nvSpPr>
          <p:cNvPr id="63" name="Accuracy card basis"/>
          <p:cNvSpPr txBox="1"/>
          <p:nvPr/>
        </p:nvSpPr>
        <p:spPr>
          <a:xfrm>
            <a:off x="5788152" y="2176272"/>
            <a:ext cx="2560320" cy="182880"/>
          </a:xfrm>
          <a:prstGeom prst="rect">
            <a:avLst/>
          </a:prstGeom>
          <a:noFill/>
        </p:spPr>
        <p:txBody>
          <a:bodyPr wrap="square" lIns="0" tIns="0" rIns="0" bIns="0" anchor="t">
            <a:noAutofit/>
          </a:bodyPr>
          <a:lstStyle/>
          <a:p>
            <a:pPr algn="l"/>
            <a:r>
              <a:rPr lang="en-US" sz="650" b="0" i="0" dirty="0">
                <a:solidFill>
                  <a:srgbClr val="C9D4F5"/>
                </a:solidFill>
                <a:latin typeface="Inter"/>
              </a:rPr>
              <a:t>1,000 test cases from websites never seen in training</a:t>
            </a:r>
          </a:p>
        </p:txBody>
      </p:sp>
      <p:sp>
        <p:nvSpPr>
          <p:cNvPr id="64" name="Live card"/>
          <p:cNvSpPr/>
          <p:nvPr/>
        </p:nvSpPr>
        <p:spPr>
          <a:xfrm>
            <a:off x="5641848" y="2560320"/>
            <a:ext cx="2834640" cy="1408176"/>
          </a:xfrm>
          <a:prstGeom prst="roundRect">
            <a:avLst>
              <a:gd name="adj" fmla="val 6000"/>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Live card label"/>
          <p:cNvSpPr txBox="1"/>
          <p:nvPr/>
        </p:nvSpPr>
        <p:spPr>
          <a:xfrm>
            <a:off x="5788152" y="2670048"/>
            <a:ext cx="2606040" cy="118872"/>
          </a:xfrm>
          <a:prstGeom prst="rect">
            <a:avLst/>
          </a:prstGeom>
          <a:noFill/>
        </p:spPr>
        <p:txBody>
          <a:bodyPr wrap="square" lIns="0" tIns="0" rIns="0" bIns="0" anchor="t">
            <a:noAutofit/>
          </a:bodyPr>
          <a:lstStyle/>
          <a:p>
            <a:pPr algn="l"/>
            <a:r>
              <a:rPr lang="en-US" sz="600" b="1" i="0" spc="40" dirty="0">
                <a:solidFill>
                  <a:srgbClr val="DDE8CF"/>
                </a:solidFill>
                <a:latin typeface="Inter"/>
              </a:rPr>
              <a:t>LIVE  ·  REAL VENDOR UPGRADE  ·  HR Portal 4.10 → 5.9</a:t>
            </a:r>
          </a:p>
        </p:txBody>
      </p:sp>
      <p:sp>
        <p:nvSpPr>
          <p:cNvPr id="66" name="Live without label"/>
          <p:cNvSpPr txBox="1"/>
          <p:nvPr/>
        </p:nvSpPr>
        <p:spPr>
          <a:xfrm>
            <a:off x="5788152" y="2871216"/>
            <a:ext cx="1097280" cy="109728"/>
          </a:xfrm>
          <a:prstGeom prst="rect">
            <a:avLst/>
          </a:prstGeom>
          <a:noFill/>
        </p:spPr>
        <p:txBody>
          <a:bodyPr wrap="square" lIns="0" tIns="0" rIns="0" bIns="0" anchor="t">
            <a:noAutofit/>
          </a:bodyPr>
          <a:lstStyle/>
          <a:p>
            <a:pPr algn="l"/>
            <a:r>
              <a:rPr lang="en-US" sz="550" b="1" i="0" spc="60" dirty="0">
                <a:solidFill>
                  <a:srgbClr val="B9CDA2"/>
                </a:solidFill>
                <a:latin typeface="Inter"/>
              </a:rPr>
              <a:t>WITHOUT THE AGENT</a:t>
            </a:r>
          </a:p>
        </p:txBody>
      </p:sp>
      <p:sp>
        <p:nvSpPr>
          <p:cNvPr id="67" name="Live without value"/>
          <p:cNvSpPr txBox="1"/>
          <p:nvPr/>
        </p:nvSpPr>
        <p:spPr>
          <a:xfrm>
            <a:off x="5788152" y="2980944"/>
            <a:ext cx="1097280" cy="457200"/>
          </a:xfrm>
          <a:prstGeom prst="rect">
            <a:avLst/>
          </a:prstGeom>
          <a:noFill/>
        </p:spPr>
        <p:txBody>
          <a:bodyPr wrap="square" lIns="0" tIns="0" rIns="0" bIns="0" anchor="t">
            <a:noAutofit/>
          </a:bodyPr>
          <a:lstStyle/>
          <a:p>
            <a:pPr algn="l"/>
            <a:r>
              <a:rPr lang="en-US" sz="2600" b="1" i="0" spc="-40" dirty="0">
                <a:solidFill>
                  <a:srgbClr val="9DB77F"/>
                </a:solidFill>
                <a:latin typeface="Inter"/>
              </a:rPr>
              <a:t>0 / 3</a:t>
            </a:r>
          </a:p>
        </p:txBody>
      </p:sp>
      <p:pic>
        <p:nvPicPr>
          <p:cNvPr id="68" name="Live arrow" descr="Lu-arrow-right-FFFFFF.png"/>
          <p:cNvPicPr>
            <a:picLocks noChangeAspect="1"/>
          </p:cNvPicPr>
          <p:nvPr/>
        </p:nvPicPr>
        <p:blipFill>
          <a:blip r:embed="rId9"/>
          <a:stretch>
            <a:fillRect/>
          </a:stretch>
        </p:blipFill>
        <p:spPr>
          <a:xfrm>
            <a:off x="6821424" y="3127248"/>
            <a:ext cx="201168" cy="201168"/>
          </a:xfrm>
          <a:prstGeom prst="rect">
            <a:avLst/>
          </a:prstGeom>
        </p:spPr>
      </p:pic>
      <p:sp>
        <p:nvSpPr>
          <p:cNvPr id="69" name="Live with label"/>
          <p:cNvSpPr txBox="1"/>
          <p:nvPr/>
        </p:nvSpPr>
        <p:spPr>
          <a:xfrm>
            <a:off x="7187184" y="2871216"/>
            <a:ext cx="1188720" cy="109728"/>
          </a:xfrm>
          <a:prstGeom prst="rect">
            <a:avLst/>
          </a:prstGeom>
          <a:noFill/>
        </p:spPr>
        <p:txBody>
          <a:bodyPr wrap="square" lIns="0" tIns="0" rIns="0" bIns="0" anchor="t">
            <a:noAutofit/>
          </a:bodyPr>
          <a:lstStyle/>
          <a:p>
            <a:pPr algn="l"/>
            <a:r>
              <a:rPr lang="en-US" sz="550" b="1" i="0" spc="60" dirty="0">
                <a:solidFill>
                  <a:srgbClr val="DDE8CF"/>
                </a:solidFill>
                <a:latin typeface="Inter"/>
              </a:rPr>
              <a:t>WITH THE AGENT</a:t>
            </a:r>
          </a:p>
        </p:txBody>
      </p:sp>
      <p:sp>
        <p:nvSpPr>
          <p:cNvPr id="70" name="Live with value"/>
          <p:cNvSpPr txBox="1"/>
          <p:nvPr/>
        </p:nvSpPr>
        <p:spPr>
          <a:xfrm>
            <a:off x="7187184" y="2980944"/>
            <a:ext cx="1188720" cy="457200"/>
          </a:xfrm>
          <a:prstGeom prst="rect">
            <a:avLst/>
          </a:prstGeom>
          <a:noFill/>
        </p:spPr>
        <p:txBody>
          <a:bodyPr wrap="square" lIns="0" tIns="0" rIns="0" bIns="0" anchor="t">
            <a:noAutofit/>
          </a:bodyPr>
          <a:lstStyle/>
          <a:p>
            <a:pPr algn="l"/>
            <a:r>
              <a:rPr lang="en-US" sz="2600" b="1" i="0" spc="-40" dirty="0">
                <a:solidFill>
                  <a:srgbClr val="FFFFFF"/>
                </a:solidFill>
                <a:latin typeface="Inter"/>
              </a:rPr>
              <a:t>3 / 3</a:t>
            </a:r>
          </a:p>
        </p:txBody>
      </p:sp>
      <p:sp>
        <p:nvSpPr>
          <p:cNvPr id="71" name="Live caption"/>
          <p:cNvSpPr txBox="1"/>
          <p:nvPr/>
        </p:nvSpPr>
        <p:spPr>
          <a:xfrm>
            <a:off x="5788152" y="3529584"/>
            <a:ext cx="2606040" cy="329184"/>
          </a:xfrm>
          <a:prstGeom prst="rect">
            <a:avLst/>
          </a:prstGeom>
          <a:noFill/>
        </p:spPr>
        <p:txBody>
          <a:bodyPr wrap="square" lIns="0" tIns="0" rIns="0" bIns="0" anchor="t">
            <a:noAutofit/>
          </a:bodyPr>
          <a:lstStyle/>
          <a:p>
            <a:pPr algn="l">
              <a:lnSpc>
                <a:spcPct val="110000"/>
              </a:lnSpc>
            </a:pPr>
            <a:r>
              <a:rPr lang="en-US" sz="700" b="0" i="0" dirty="0">
                <a:solidFill>
                  <a:srgbClr val="FFFFFF"/>
                </a:solidFill>
                <a:latin typeface="Inter"/>
              </a:rPr>
              <a:t>onboardings completed across the upgrade, 22 repairs, every record verified in the app</a:t>
            </a:r>
          </a:p>
        </p:txBody>
      </p:sp>
      <p:sp>
        <p:nvSpPr>
          <p:cNvPr id="72" name="Openness strip"/>
          <p:cNvSpPr/>
          <p:nvPr/>
        </p:nvSpPr>
        <p:spPr>
          <a:xfrm>
            <a:off x="667512" y="4096512"/>
            <a:ext cx="7808976" cy="274320"/>
          </a:xfrm>
          <a:prstGeom prst="roundRect">
            <a:avLst>
              <a:gd name="adj" fmla="val 50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3" name="Openness 1 icon" descr="Lu-lock-open-1428A0.png"/>
          <p:cNvPicPr>
            <a:picLocks noChangeAspect="1"/>
          </p:cNvPicPr>
          <p:nvPr/>
        </p:nvPicPr>
        <p:blipFill>
          <a:blip r:embed="rId10"/>
          <a:stretch>
            <a:fillRect/>
          </a:stretch>
        </p:blipFill>
        <p:spPr>
          <a:xfrm>
            <a:off x="841248" y="4165092"/>
            <a:ext cx="137160" cy="137160"/>
          </a:xfrm>
          <a:prstGeom prst="rect">
            <a:avLst/>
          </a:prstGeom>
        </p:spPr>
      </p:pic>
      <p:sp>
        <p:nvSpPr>
          <p:cNvPr id="74" name="Openness 1"/>
          <p:cNvSpPr txBox="1"/>
          <p:nvPr/>
        </p:nvSpPr>
        <p:spPr>
          <a:xfrm>
            <a:off x="1042416" y="4096512"/>
            <a:ext cx="2286000" cy="274320"/>
          </a:xfrm>
          <a:prstGeom prst="rect">
            <a:avLst/>
          </a:prstGeom>
          <a:noFill/>
        </p:spPr>
        <p:txBody>
          <a:bodyPr wrap="square" lIns="0" tIns="0" rIns="0" bIns="0" anchor="ctr">
            <a:noAutofit/>
          </a:bodyPr>
          <a:lstStyle/>
          <a:p>
            <a:pPr algn="l"/>
            <a:r>
              <a:rPr lang="en-US" sz="750" b="1" i="0" dirty="0">
                <a:solidFill>
                  <a:srgbClr val="1A1A1E"/>
                </a:solidFill>
                <a:latin typeface="Inter"/>
              </a:rPr>
              <a:t>Open weights, Apache-2.0</a:t>
            </a:r>
          </a:p>
        </p:txBody>
      </p:sp>
      <p:pic>
        <p:nvPicPr>
          <p:cNvPr id="75" name="Openness 2 icon" descr="Lu-file-text-1428A0.png"/>
          <p:cNvPicPr>
            <a:picLocks noChangeAspect="1"/>
          </p:cNvPicPr>
          <p:nvPr/>
        </p:nvPicPr>
        <p:blipFill>
          <a:blip r:embed="rId11"/>
          <a:stretch>
            <a:fillRect/>
          </a:stretch>
        </p:blipFill>
        <p:spPr>
          <a:xfrm>
            <a:off x="3456432" y="4165092"/>
            <a:ext cx="137160" cy="137160"/>
          </a:xfrm>
          <a:prstGeom prst="rect">
            <a:avLst/>
          </a:prstGeom>
        </p:spPr>
      </p:pic>
      <p:sp>
        <p:nvSpPr>
          <p:cNvPr id="76" name="Openness 2"/>
          <p:cNvSpPr txBox="1"/>
          <p:nvPr/>
        </p:nvSpPr>
        <p:spPr>
          <a:xfrm>
            <a:off x="3657600" y="4096512"/>
            <a:ext cx="2286000" cy="274320"/>
          </a:xfrm>
          <a:prstGeom prst="rect">
            <a:avLst/>
          </a:prstGeom>
          <a:noFill/>
        </p:spPr>
        <p:txBody>
          <a:bodyPr wrap="square" lIns="0" tIns="0" rIns="0" bIns="0" anchor="ctr">
            <a:noAutofit/>
          </a:bodyPr>
          <a:lstStyle/>
          <a:p>
            <a:pPr algn="l"/>
            <a:r>
              <a:rPr lang="en-US" sz="750" b="1" i="0" dirty="0">
                <a:solidFill>
                  <a:srgbClr val="1A1A1E"/>
                </a:solidFill>
                <a:latin typeface="Inter"/>
              </a:rPr>
              <a:t>Every decision explained, audit-ready</a:t>
            </a:r>
          </a:p>
        </p:txBody>
      </p:sp>
      <p:pic>
        <p:nvPicPr>
          <p:cNvPr id="77" name="Openness 3 icon" descr="Lu-server-1428A0.png"/>
          <p:cNvPicPr>
            <a:picLocks noChangeAspect="1"/>
          </p:cNvPicPr>
          <p:nvPr/>
        </p:nvPicPr>
        <p:blipFill>
          <a:blip r:embed="rId12"/>
          <a:stretch>
            <a:fillRect/>
          </a:stretch>
        </p:blipFill>
        <p:spPr>
          <a:xfrm>
            <a:off x="6053328" y="4165092"/>
            <a:ext cx="137160" cy="137160"/>
          </a:xfrm>
          <a:prstGeom prst="rect">
            <a:avLst/>
          </a:prstGeom>
        </p:spPr>
      </p:pic>
      <p:sp>
        <p:nvSpPr>
          <p:cNvPr id="78" name="Openness 3"/>
          <p:cNvSpPr txBox="1"/>
          <p:nvPr/>
        </p:nvSpPr>
        <p:spPr>
          <a:xfrm>
            <a:off x="6254496" y="4096512"/>
            <a:ext cx="2286000" cy="274320"/>
          </a:xfrm>
          <a:prstGeom prst="rect">
            <a:avLst/>
          </a:prstGeom>
          <a:noFill/>
        </p:spPr>
        <p:txBody>
          <a:bodyPr wrap="square" lIns="0" tIns="0" rIns="0" bIns="0" anchor="ctr">
            <a:noAutofit/>
          </a:bodyPr>
          <a:lstStyle/>
          <a:p>
            <a:pPr algn="l"/>
            <a:r>
              <a:rPr lang="en-US" sz="750" b="1" i="0" dirty="0">
                <a:solidFill>
                  <a:srgbClr val="1A1A1E"/>
                </a:solidFill>
                <a:latin typeface="Inter"/>
              </a:rPr>
              <a:t>Runs offline: no external API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lang="en-US" sz="855" b="1" i="0" spc="21" dirty="0">
                <a:solidFill>
                  <a:srgbClr val="FFFFFF"/>
                </a:solidFill>
                <a:latin typeface="Inter"/>
              </a:rPr>
              <a:t>SAMSUNG SDS</a:t>
            </a:r>
            <a:r>
              <a:rPr lang="en-US" sz="855" b="0" i="0" spc="21" dirty="0">
                <a:solidFill>
                  <a:srgbClr val="B9C6DA"/>
                </a:solidFill>
                <a:latin typeface="Inter"/>
              </a:rPr>
              <a:t>   |   </a:t>
            </a:r>
            <a:r>
              <a:rPr lang="en-US" sz="855" b="1" i="0" spc="21" dirty="0">
                <a:solidFill>
                  <a:srgbClr val="B9C6DA"/>
                </a:solidFill>
                <a:latin typeface="Inter"/>
              </a:rPr>
              <a:t>LIVE DEMO  ·  THE AGENT AT WORK</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08 / 10</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What the operations team sees: the agent healing live.</a:t>
            </a:r>
          </a:p>
        </p:txBody>
      </p:sp>
      <p:sp>
        <p:nvSpPr>
          <p:cNvPr id="12" name="Video caption"/>
          <p:cNvSpPr txBox="1"/>
          <p:nvPr/>
        </p:nvSpPr>
        <p:spPr>
          <a:xfrm>
            <a:off x="667512" y="4480560"/>
            <a:ext cx="7808975" cy="182880"/>
          </a:xfrm>
          <a:prstGeom prst="rect">
            <a:avLst/>
          </a:prstGeom>
          <a:noFill/>
        </p:spPr>
        <p:txBody>
          <a:bodyPr wrap="square" lIns="0" tIns="0" rIns="0" bIns="0" anchor="t">
            <a:noAutofit/>
          </a:bodyPr>
          <a:lstStyle/>
          <a:p>
            <a:pPr algn="ctr"/>
            <a:r>
              <a:rPr sz="850" b="1" i="0" dirty="0">
                <a:solidFill>
                  <a:srgbClr val="1A1A1E"/>
                </a:solidFill>
                <a:latin typeface="Inter"/>
              </a:rPr>
              <a:t>Demo video. </a:t>
            </a:r>
            <a:r>
              <a:rPr sz="850" b="0" i="0" dirty="0">
                <a:solidFill>
                  <a:srgbClr val="4A5668"/>
                </a:solidFill>
                <a:latin typeface="Inter"/>
              </a:rPr>
              <a:t>Click to play: before the release, Healing Agent off, Healing Agent on.</a:t>
            </a:r>
          </a:p>
        </p:txBody>
      </p:sp>
      <p:pic>
        <p:nvPicPr>
          <p:cNvPr id="13" name="slide5-demo">
            <a:hlinkClick r:id="" action="ppaction://media"/>
            <a:extLst>
              <a:ext uri="{FF2B5EF4-FFF2-40B4-BE49-F238E27FC236}">
                <a16:creationId xmlns:a16="http://schemas.microsoft.com/office/drawing/2014/main" id="{C6C2A163-C662-7A10-BC86-F1D8F734C76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64639" y="1024128"/>
            <a:ext cx="6014720" cy="3383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2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bar"/>
          <p:cNvSpPr/>
          <p:nvPr/>
        </p:nvSpPr>
        <p:spPr>
          <a:xfrm>
            <a:off x="0" y="0"/>
            <a:ext cx="9144000" cy="26673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Header text"/>
          <p:cNvSpPr txBox="1"/>
          <p:nvPr/>
        </p:nvSpPr>
        <p:spPr>
          <a:xfrm>
            <a:off x="666598" y="80924"/>
            <a:ext cx="7616952" cy="182880"/>
          </a:xfrm>
          <a:prstGeom prst="rect">
            <a:avLst/>
          </a:prstGeom>
          <a:noFill/>
        </p:spPr>
        <p:txBody>
          <a:bodyPr wrap="square" lIns="0" tIns="0" rIns="0" bIns="0" anchor="t">
            <a:noAutofit/>
          </a:bodyPr>
          <a:lstStyle/>
          <a:p>
            <a:pPr algn="l"/>
            <a:r>
              <a:rPr sz="855" b="1" i="0" spc="21">
                <a:solidFill>
                  <a:srgbClr val="FFFFFF"/>
                </a:solidFill>
                <a:latin typeface="Inter"/>
              </a:rPr>
              <a:t>SAMSUNG SDS</a:t>
            </a:r>
            <a:r>
              <a:rPr sz="855" b="0" i="0" spc="21">
                <a:solidFill>
                  <a:srgbClr val="B9C6DA"/>
                </a:solidFill>
                <a:latin typeface="Inter"/>
              </a:rPr>
              <a:t>   |   </a:t>
            </a:r>
            <a:r>
              <a:rPr sz="855" b="1" i="0" spc="21">
                <a:solidFill>
                  <a:srgbClr val="B9C6DA"/>
                </a:solidFill>
                <a:latin typeface="Inter"/>
              </a:rPr>
              <a:t>BENEFITS  ·  BUSINESS &amp; TECHNICAL</a:t>
            </a:r>
          </a:p>
        </p:txBody>
      </p:sp>
      <p:sp>
        <p:nvSpPr>
          <p:cNvPr id="4" name="Template dash 1"/>
          <p:cNvSpPr/>
          <p:nvPr/>
        </p:nvSpPr>
        <p:spPr>
          <a:xfrm>
            <a:off x="666598" y="404805"/>
            <a:ext cx="300015" cy="3813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mplate dash 2"/>
          <p:cNvSpPr/>
          <p:nvPr/>
        </p:nvSpPr>
        <p:spPr>
          <a:xfrm>
            <a:off x="999988" y="404805"/>
            <a:ext cx="300015" cy="3813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mplate dash 3"/>
          <p:cNvSpPr/>
          <p:nvPr/>
        </p:nvSpPr>
        <p:spPr>
          <a:xfrm>
            <a:off x="1333378" y="404805"/>
            <a:ext cx="300015" cy="3813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mplate dash 4"/>
          <p:cNvSpPr/>
          <p:nvPr/>
        </p:nvSpPr>
        <p:spPr>
          <a:xfrm>
            <a:off x="1666768" y="404805"/>
            <a:ext cx="300015" cy="3813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nfidential"/>
          <p:cNvSpPr txBox="1"/>
          <p:nvPr/>
        </p:nvSpPr>
        <p:spPr>
          <a:xfrm>
            <a:off x="3143250" y="4934102"/>
            <a:ext cx="2857500" cy="137160"/>
          </a:xfrm>
          <a:prstGeom prst="rect">
            <a:avLst/>
          </a:prstGeom>
          <a:noFill/>
        </p:spPr>
        <p:txBody>
          <a:bodyPr wrap="square" lIns="0" tIns="0" rIns="0" bIns="0" anchor="t">
            <a:noAutofit/>
          </a:bodyPr>
          <a:lstStyle/>
          <a:p>
            <a:pPr algn="ctr"/>
            <a:r>
              <a:rPr sz="606" b="0" i="0" spc="57">
                <a:solidFill>
                  <a:srgbClr val="7A7F8A"/>
                </a:solidFill>
                <a:latin typeface="Inter"/>
              </a:rPr>
              <a:t>Confidential</a:t>
            </a:r>
          </a:p>
        </p:txBody>
      </p:sp>
      <p:sp>
        <p:nvSpPr>
          <p:cNvPr id="9" name="Page number"/>
          <p:cNvSpPr txBox="1"/>
          <p:nvPr/>
        </p:nvSpPr>
        <p:spPr>
          <a:xfrm>
            <a:off x="7315200" y="4753051"/>
            <a:ext cx="1161288" cy="109728"/>
          </a:xfrm>
          <a:prstGeom prst="rect">
            <a:avLst/>
          </a:prstGeom>
          <a:noFill/>
        </p:spPr>
        <p:txBody>
          <a:bodyPr wrap="square" lIns="0" tIns="0" rIns="0" bIns="0" anchor="t">
            <a:noAutofit/>
          </a:bodyPr>
          <a:lstStyle/>
          <a:p>
            <a:pPr algn="r"/>
            <a:r>
              <a:rPr lang="en-US" sz="534" b="0" i="0" spc="78" dirty="0">
                <a:solidFill>
                  <a:srgbClr val="7A7F8A"/>
                </a:solidFill>
                <a:latin typeface="Inter"/>
              </a:rPr>
              <a:t>PAGE 09 / 10</a:t>
            </a:r>
          </a:p>
        </p:txBody>
      </p:sp>
      <p:sp>
        <p:nvSpPr>
          <p:cNvPr id="10" name="Footer brand"/>
          <p:cNvSpPr txBox="1"/>
          <p:nvPr/>
        </p:nvSpPr>
        <p:spPr>
          <a:xfrm>
            <a:off x="5619902" y="4895698"/>
            <a:ext cx="2857500" cy="192024"/>
          </a:xfrm>
          <a:prstGeom prst="rect">
            <a:avLst/>
          </a:prstGeom>
          <a:noFill/>
        </p:spPr>
        <p:txBody>
          <a:bodyPr wrap="square" lIns="0" tIns="0" rIns="0" bIns="0" anchor="t">
            <a:noAutofit/>
          </a:bodyPr>
          <a:lstStyle/>
          <a:p>
            <a:pPr algn="r"/>
            <a:r>
              <a:rPr sz="855" b="1" i="0" spc="14">
                <a:solidFill>
                  <a:srgbClr val="1428A0"/>
                </a:solidFill>
                <a:latin typeface="Inter"/>
              </a:rPr>
              <a:t>SAMSUNG SDS</a:t>
            </a:r>
          </a:p>
        </p:txBody>
      </p:sp>
      <p:sp>
        <p:nvSpPr>
          <p:cNvPr id="11" name="Title"/>
          <p:cNvSpPr txBox="1"/>
          <p:nvPr/>
        </p:nvSpPr>
        <p:spPr>
          <a:xfrm>
            <a:off x="667512" y="548640"/>
            <a:ext cx="7808976" cy="384048"/>
          </a:xfrm>
          <a:prstGeom prst="rect">
            <a:avLst/>
          </a:prstGeom>
          <a:noFill/>
        </p:spPr>
        <p:txBody>
          <a:bodyPr wrap="square" lIns="0" tIns="0" rIns="0" bIns="0" anchor="t">
            <a:noAutofit/>
          </a:bodyPr>
          <a:lstStyle/>
          <a:p>
            <a:pPr algn="l"/>
            <a:r>
              <a:rPr sz="2000" b="1" i="0" spc="-60">
                <a:solidFill>
                  <a:srgbClr val="1A1A1E"/>
                </a:solidFill>
                <a:latin typeface="Inter"/>
              </a:rPr>
              <a:t>Business keeps running. Engineering stops chasing selectors.</a:t>
            </a:r>
          </a:p>
        </p:txBody>
      </p:sp>
      <p:sp>
        <p:nvSpPr>
          <p:cNvPr id="12" name="Rounded Rectangle 11"/>
          <p:cNvSpPr/>
          <p:nvPr/>
        </p:nvSpPr>
        <p:spPr>
          <a:xfrm>
            <a:off x="667512" y="1097280"/>
            <a:ext cx="3794760" cy="2944368"/>
          </a:xfrm>
          <a:prstGeom prst="roundRect">
            <a:avLst>
              <a:gd name="adj" fmla="val 4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86968" y="1280160"/>
            <a:ext cx="2743200" cy="146304"/>
          </a:xfrm>
          <a:prstGeom prst="rect">
            <a:avLst/>
          </a:prstGeom>
          <a:noFill/>
        </p:spPr>
        <p:txBody>
          <a:bodyPr wrap="square" lIns="0" tIns="0" rIns="0" bIns="0" anchor="t">
            <a:noAutofit/>
          </a:bodyPr>
          <a:lstStyle/>
          <a:p>
            <a:pPr algn="l"/>
            <a:r>
              <a:rPr sz="750" b="1" i="0" spc="90">
                <a:solidFill>
                  <a:srgbClr val="1428A0"/>
                </a:solidFill>
                <a:latin typeface="Inter"/>
              </a:rPr>
              <a:t>BUSINESS BENEFITS</a:t>
            </a:r>
          </a:p>
        </p:txBody>
      </p:sp>
      <p:sp>
        <p:nvSpPr>
          <p:cNvPr id="14" name="Oval 13"/>
          <p:cNvSpPr/>
          <p:nvPr/>
        </p:nvSpPr>
        <p:spPr>
          <a:xfrm>
            <a:off x="886968" y="1572768"/>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uMoon_w.png"/>
          <p:cNvPicPr>
            <a:picLocks noChangeAspect="1"/>
          </p:cNvPicPr>
          <p:nvPr/>
        </p:nvPicPr>
        <p:blipFill>
          <a:blip r:embed="rId3"/>
          <a:stretch>
            <a:fillRect/>
          </a:stretch>
        </p:blipFill>
        <p:spPr>
          <a:xfrm>
            <a:off x="979140" y="1664940"/>
            <a:ext cx="199705" cy="199705"/>
          </a:xfrm>
          <a:prstGeom prst="rect">
            <a:avLst/>
          </a:prstGeom>
        </p:spPr>
      </p:pic>
      <p:sp>
        <p:nvSpPr>
          <p:cNvPr id="16" name="TextBox 15"/>
          <p:cNvSpPr txBox="1"/>
          <p:nvPr/>
        </p:nvSpPr>
        <p:spPr>
          <a:xfrm>
            <a:off x="1417320" y="1664208"/>
            <a:ext cx="2880360" cy="219456"/>
          </a:xfrm>
          <a:prstGeom prst="rect">
            <a:avLst/>
          </a:prstGeom>
          <a:noFill/>
        </p:spPr>
        <p:txBody>
          <a:bodyPr wrap="square" lIns="0" tIns="0" rIns="0" bIns="0" anchor="t">
            <a:noAutofit/>
          </a:bodyPr>
          <a:lstStyle/>
          <a:p>
            <a:pPr algn="l"/>
            <a:r>
              <a:rPr sz="1200" b="1" i="0">
                <a:solidFill>
                  <a:srgbClr val="1A1A1E"/>
                </a:solidFill>
                <a:latin typeface="Inter"/>
              </a:rPr>
              <a:t>Overnight runs finish</a:t>
            </a:r>
          </a:p>
        </p:txBody>
      </p:sp>
      <p:sp>
        <p:nvSpPr>
          <p:cNvPr id="18" name="Oval 17"/>
          <p:cNvSpPr/>
          <p:nvPr/>
        </p:nvSpPr>
        <p:spPr>
          <a:xfrm>
            <a:off x="886968" y="2185416"/>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LuTicket_w.png"/>
          <p:cNvPicPr>
            <a:picLocks noChangeAspect="1"/>
          </p:cNvPicPr>
          <p:nvPr/>
        </p:nvPicPr>
        <p:blipFill>
          <a:blip r:embed="rId4"/>
          <a:stretch>
            <a:fillRect/>
          </a:stretch>
        </p:blipFill>
        <p:spPr>
          <a:xfrm>
            <a:off x="979140" y="2277588"/>
            <a:ext cx="199705" cy="199705"/>
          </a:xfrm>
          <a:prstGeom prst="rect">
            <a:avLst/>
          </a:prstGeom>
        </p:spPr>
      </p:pic>
      <p:sp>
        <p:nvSpPr>
          <p:cNvPr id="20" name="TextBox 19"/>
          <p:cNvSpPr txBox="1"/>
          <p:nvPr/>
        </p:nvSpPr>
        <p:spPr>
          <a:xfrm>
            <a:off x="1417320" y="2276856"/>
            <a:ext cx="2880360" cy="219456"/>
          </a:xfrm>
          <a:prstGeom prst="rect">
            <a:avLst/>
          </a:prstGeom>
          <a:noFill/>
        </p:spPr>
        <p:txBody>
          <a:bodyPr wrap="square" lIns="0" tIns="0" rIns="0" bIns="0" anchor="t">
            <a:noAutofit/>
          </a:bodyPr>
          <a:lstStyle/>
          <a:p>
            <a:pPr algn="l"/>
            <a:r>
              <a:rPr sz="1200" b="1" i="0">
                <a:solidFill>
                  <a:srgbClr val="1A1A1E"/>
                </a:solidFill>
                <a:latin typeface="Inter"/>
              </a:rPr>
              <a:t>Runtime healing: days to seconds</a:t>
            </a:r>
          </a:p>
        </p:txBody>
      </p:sp>
      <p:sp>
        <p:nvSpPr>
          <p:cNvPr id="22" name="Oval 21"/>
          <p:cNvSpPr/>
          <p:nvPr/>
        </p:nvSpPr>
        <p:spPr>
          <a:xfrm>
            <a:off x="886968" y="2798064"/>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LuIndianRupee_w.png"/>
          <p:cNvPicPr>
            <a:picLocks noChangeAspect="1"/>
          </p:cNvPicPr>
          <p:nvPr/>
        </p:nvPicPr>
        <p:blipFill>
          <a:blip r:embed="rId5"/>
          <a:stretch>
            <a:fillRect/>
          </a:stretch>
        </p:blipFill>
        <p:spPr>
          <a:xfrm>
            <a:off x="979140" y="2890236"/>
            <a:ext cx="199705" cy="199705"/>
          </a:xfrm>
          <a:prstGeom prst="rect">
            <a:avLst/>
          </a:prstGeom>
        </p:spPr>
      </p:pic>
      <p:sp>
        <p:nvSpPr>
          <p:cNvPr id="24" name="TextBox 23"/>
          <p:cNvSpPr txBox="1"/>
          <p:nvPr/>
        </p:nvSpPr>
        <p:spPr>
          <a:xfrm>
            <a:off x="1417320" y="2889503"/>
            <a:ext cx="2880360" cy="219456"/>
          </a:xfrm>
          <a:prstGeom prst="rect">
            <a:avLst/>
          </a:prstGeom>
          <a:noFill/>
        </p:spPr>
        <p:txBody>
          <a:bodyPr wrap="square" lIns="0" tIns="0" rIns="0" bIns="0" anchor="t">
            <a:noAutofit/>
          </a:bodyPr>
          <a:lstStyle/>
          <a:p>
            <a:pPr algn="l"/>
            <a:r>
              <a:rPr sz="1200" b="1" i="0" dirty="0">
                <a:solidFill>
                  <a:srgbClr val="1A1A1E"/>
                </a:solidFill>
                <a:latin typeface="Inter"/>
              </a:rPr>
              <a:t>~16,800 engineer-hours back a year</a:t>
            </a:r>
          </a:p>
        </p:txBody>
      </p:sp>
      <p:sp>
        <p:nvSpPr>
          <p:cNvPr id="26" name="Oval 25"/>
          <p:cNvSpPr/>
          <p:nvPr/>
        </p:nvSpPr>
        <p:spPr>
          <a:xfrm>
            <a:off x="886968" y="3410712"/>
            <a:ext cx="384048" cy="3840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LuClipboardCheck_w.png"/>
          <p:cNvPicPr>
            <a:picLocks noChangeAspect="1"/>
          </p:cNvPicPr>
          <p:nvPr/>
        </p:nvPicPr>
        <p:blipFill>
          <a:blip r:embed="rId6"/>
          <a:stretch>
            <a:fillRect/>
          </a:stretch>
        </p:blipFill>
        <p:spPr>
          <a:xfrm>
            <a:off x="979140" y="3502884"/>
            <a:ext cx="199705" cy="199705"/>
          </a:xfrm>
          <a:prstGeom prst="rect">
            <a:avLst/>
          </a:prstGeom>
        </p:spPr>
      </p:pic>
      <p:sp>
        <p:nvSpPr>
          <p:cNvPr id="28" name="TextBox 27"/>
          <p:cNvSpPr txBox="1"/>
          <p:nvPr/>
        </p:nvSpPr>
        <p:spPr>
          <a:xfrm>
            <a:off x="1417320" y="3502152"/>
            <a:ext cx="2880360" cy="219456"/>
          </a:xfrm>
          <a:prstGeom prst="rect">
            <a:avLst/>
          </a:prstGeom>
          <a:noFill/>
        </p:spPr>
        <p:txBody>
          <a:bodyPr wrap="square" lIns="0" tIns="0" rIns="0" bIns="0" anchor="t">
            <a:noAutofit/>
          </a:bodyPr>
          <a:lstStyle/>
          <a:p>
            <a:pPr algn="l"/>
            <a:r>
              <a:rPr sz="1200" b="1" i="0">
                <a:solidFill>
                  <a:srgbClr val="1A1A1E"/>
                </a:solidFill>
                <a:latin typeface="Inter"/>
              </a:rPr>
              <a:t>Every decision auditable</a:t>
            </a:r>
          </a:p>
        </p:txBody>
      </p:sp>
      <p:sp>
        <p:nvSpPr>
          <p:cNvPr id="30" name="Rounded Rectangle 29"/>
          <p:cNvSpPr/>
          <p:nvPr/>
        </p:nvSpPr>
        <p:spPr>
          <a:xfrm>
            <a:off x="4681728" y="1097280"/>
            <a:ext cx="3794760" cy="2944368"/>
          </a:xfrm>
          <a:prstGeom prst="roundRect">
            <a:avLst>
              <a:gd name="adj" fmla="val 4000"/>
            </a:avLst>
          </a:prstGeom>
          <a:solidFill>
            <a:srgbClr val="F4F6FA"/>
          </a:solidFill>
          <a:ln w="762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901184" y="1280160"/>
            <a:ext cx="2743200" cy="146304"/>
          </a:xfrm>
          <a:prstGeom prst="rect">
            <a:avLst/>
          </a:prstGeom>
          <a:noFill/>
        </p:spPr>
        <p:txBody>
          <a:bodyPr wrap="square" lIns="0" tIns="0" rIns="0" bIns="0" anchor="t">
            <a:noAutofit/>
          </a:bodyPr>
          <a:lstStyle/>
          <a:p>
            <a:pPr algn="l"/>
            <a:r>
              <a:rPr sz="750" b="1" i="0" spc="90">
                <a:solidFill>
                  <a:srgbClr val="4A6E24"/>
                </a:solidFill>
                <a:latin typeface="Inter"/>
              </a:rPr>
              <a:t>TECHNICAL BENEFITS</a:t>
            </a:r>
          </a:p>
        </p:txBody>
      </p:sp>
      <p:sp>
        <p:nvSpPr>
          <p:cNvPr id="32" name="Oval 31"/>
          <p:cNvSpPr/>
          <p:nvPr/>
        </p:nvSpPr>
        <p:spPr>
          <a:xfrm>
            <a:off x="4901184" y="1572768"/>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LuPuzzle_w.png"/>
          <p:cNvPicPr>
            <a:picLocks noChangeAspect="1"/>
          </p:cNvPicPr>
          <p:nvPr/>
        </p:nvPicPr>
        <p:blipFill>
          <a:blip r:embed="rId7"/>
          <a:stretch>
            <a:fillRect/>
          </a:stretch>
        </p:blipFill>
        <p:spPr>
          <a:xfrm>
            <a:off x="4993356" y="1664940"/>
            <a:ext cx="199705" cy="199705"/>
          </a:xfrm>
          <a:prstGeom prst="rect">
            <a:avLst/>
          </a:prstGeom>
        </p:spPr>
      </p:pic>
      <p:sp>
        <p:nvSpPr>
          <p:cNvPr id="34" name="TextBox 33"/>
          <p:cNvSpPr txBox="1"/>
          <p:nvPr/>
        </p:nvSpPr>
        <p:spPr>
          <a:xfrm>
            <a:off x="5431536" y="1664208"/>
            <a:ext cx="2880360" cy="219456"/>
          </a:xfrm>
          <a:prstGeom prst="rect">
            <a:avLst/>
          </a:prstGeom>
          <a:noFill/>
        </p:spPr>
        <p:txBody>
          <a:bodyPr wrap="square" lIns="0" tIns="0" rIns="0" bIns="0" anchor="t">
            <a:noAutofit/>
          </a:bodyPr>
          <a:lstStyle/>
          <a:p>
            <a:pPr algn="l"/>
            <a:r>
              <a:rPr sz="1200" b="1" i="0">
                <a:solidFill>
                  <a:srgbClr val="1A1A1E"/>
                </a:solidFill>
                <a:latin typeface="Inter"/>
              </a:rPr>
              <a:t>No rewrite: add one file</a:t>
            </a:r>
          </a:p>
        </p:txBody>
      </p:sp>
      <p:sp>
        <p:nvSpPr>
          <p:cNvPr id="36" name="Oval 35"/>
          <p:cNvSpPr/>
          <p:nvPr/>
        </p:nvSpPr>
        <p:spPr>
          <a:xfrm>
            <a:off x="4901184" y="2185416"/>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LuLayers_w.png"/>
          <p:cNvPicPr>
            <a:picLocks noChangeAspect="1"/>
          </p:cNvPicPr>
          <p:nvPr/>
        </p:nvPicPr>
        <p:blipFill>
          <a:blip r:embed="rId8"/>
          <a:stretch>
            <a:fillRect/>
          </a:stretch>
        </p:blipFill>
        <p:spPr>
          <a:xfrm>
            <a:off x="4993356" y="2277588"/>
            <a:ext cx="199705" cy="199705"/>
          </a:xfrm>
          <a:prstGeom prst="rect">
            <a:avLst/>
          </a:prstGeom>
        </p:spPr>
      </p:pic>
      <p:sp>
        <p:nvSpPr>
          <p:cNvPr id="38" name="TextBox 37"/>
          <p:cNvSpPr txBox="1"/>
          <p:nvPr/>
        </p:nvSpPr>
        <p:spPr>
          <a:xfrm>
            <a:off x="5431536" y="2276856"/>
            <a:ext cx="2880360" cy="219456"/>
          </a:xfrm>
          <a:prstGeom prst="rect">
            <a:avLst/>
          </a:prstGeom>
          <a:noFill/>
        </p:spPr>
        <p:txBody>
          <a:bodyPr wrap="square" lIns="0" tIns="0" rIns="0" bIns="0" anchor="t">
            <a:noAutofit/>
          </a:bodyPr>
          <a:lstStyle/>
          <a:p>
            <a:pPr algn="l"/>
            <a:r>
              <a:rPr sz="1200" b="1" i="0">
                <a:solidFill>
                  <a:srgbClr val="1A1A1E"/>
                </a:solidFill>
                <a:latin typeface="Inter"/>
              </a:rPr>
              <a:t>Works with Selenium &amp; Playwright</a:t>
            </a:r>
          </a:p>
        </p:txBody>
      </p:sp>
      <p:sp>
        <p:nvSpPr>
          <p:cNvPr id="40" name="Oval 39"/>
          <p:cNvSpPr/>
          <p:nvPr/>
        </p:nvSpPr>
        <p:spPr>
          <a:xfrm>
            <a:off x="4901184" y="2798064"/>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LuLock_w.png"/>
          <p:cNvPicPr>
            <a:picLocks noChangeAspect="1"/>
          </p:cNvPicPr>
          <p:nvPr/>
        </p:nvPicPr>
        <p:blipFill>
          <a:blip r:embed="rId9"/>
          <a:stretch>
            <a:fillRect/>
          </a:stretch>
        </p:blipFill>
        <p:spPr>
          <a:xfrm>
            <a:off x="4993356" y="2890236"/>
            <a:ext cx="199705" cy="199705"/>
          </a:xfrm>
          <a:prstGeom prst="rect">
            <a:avLst/>
          </a:prstGeom>
        </p:spPr>
      </p:pic>
      <p:sp>
        <p:nvSpPr>
          <p:cNvPr id="42" name="TextBox 41"/>
          <p:cNvSpPr txBox="1"/>
          <p:nvPr/>
        </p:nvSpPr>
        <p:spPr>
          <a:xfrm>
            <a:off x="5431536" y="2889503"/>
            <a:ext cx="2880360" cy="219456"/>
          </a:xfrm>
          <a:prstGeom prst="rect">
            <a:avLst/>
          </a:prstGeom>
          <a:noFill/>
        </p:spPr>
        <p:txBody>
          <a:bodyPr wrap="square" lIns="0" tIns="0" rIns="0" bIns="0" anchor="t">
            <a:noAutofit/>
          </a:bodyPr>
          <a:lstStyle/>
          <a:p>
            <a:pPr algn="l"/>
            <a:r>
              <a:rPr sz="1200" b="1" i="0" dirty="0">
                <a:solidFill>
                  <a:srgbClr val="1A1A1E"/>
                </a:solidFill>
                <a:latin typeface="Inter"/>
              </a:rPr>
              <a:t>AI cannot invent a selector</a:t>
            </a:r>
          </a:p>
        </p:txBody>
      </p:sp>
      <p:sp>
        <p:nvSpPr>
          <p:cNvPr id="44" name="Oval 43"/>
          <p:cNvSpPr/>
          <p:nvPr/>
        </p:nvSpPr>
        <p:spPr>
          <a:xfrm>
            <a:off x="4901184" y="3410712"/>
            <a:ext cx="384048" cy="384048"/>
          </a:xfrm>
          <a:prstGeom prst="ellipse">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LuShare2_w.png"/>
          <p:cNvPicPr>
            <a:picLocks noChangeAspect="1"/>
          </p:cNvPicPr>
          <p:nvPr/>
        </p:nvPicPr>
        <p:blipFill>
          <a:blip r:embed="rId10"/>
          <a:stretch>
            <a:fillRect/>
          </a:stretch>
        </p:blipFill>
        <p:spPr>
          <a:xfrm>
            <a:off x="4993356" y="3502884"/>
            <a:ext cx="199705" cy="199705"/>
          </a:xfrm>
          <a:prstGeom prst="rect">
            <a:avLst/>
          </a:prstGeom>
        </p:spPr>
      </p:pic>
      <p:sp>
        <p:nvSpPr>
          <p:cNvPr id="46" name="TextBox 45"/>
          <p:cNvSpPr txBox="1"/>
          <p:nvPr/>
        </p:nvSpPr>
        <p:spPr>
          <a:xfrm>
            <a:off x="5431536" y="3502152"/>
            <a:ext cx="2880360" cy="219456"/>
          </a:xfrm>
          <a:prstGeom prst="rect">
            <a:avLst/>
          </a:prstGeom>
          <a:noFill/>
        </p:spPr>
        <p:txBody>
          <a:bodyPr wrap="square" lIns="0" tIns="0" rIns="0" bIns="0" anchor="t">
            <a:noAutofit/>
          </a:bodyPr>
          <a:lstStyle/>
          <a:p>
            <a:pPr algn="l"/>
            <a:r>
              <a:rPr sz="1200" b="1" i="0">
                <a:solidFill>
                  <a:srgbClr val="1A1A1E"/>
                </a:solidFill>
                <a:latin typeface="Inter"/>
              </a:rPr>
              <a:t>One fix heals the whole fleet</a:t>
            </a:r>
          </a:p>
        </p:txBody>
      </p:sp>
      <p:sp>
        <p:nvSpPr>
          <p:cNvPr id="48" name="Rounded Rectangle 47"/>
          <p:cNvSpPr/>
          <p:nvPr/>
        </p:nvSpPr>
        <p:spPr>
          <a:xfrm>
            <a:off x="667512" y="4187952"/>
            <a:ext cx="7808976" cy="347472"/>
          </a:xfrm>
          <a:prstGeom prst="roundRect">
            <a:avLst>
              <a:gd name="adj" fmla="val 50000"/>
            </a:avLst>
          </a:prstGeom>
          <a:solidFill>
            <a:srgbClr val="ED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7512" y="4187952"/>
            <a:ext cx="7808976" cy="347472"/>
          </a:xfrm>
          <a:prstGeom prst="rect">
            <a:avLst/>
          </a:prstGeom>
          <a:noFill/>
        </p:spPr>
        <p:txBody>
          <a:bodyPr wrap="square" lIns="0" tIns="0" rIns="0" bIns="0" anchor="ctr">
            <a:noAutofit/>
          </a:bodyPr>
          <a:lstStyle/>
          <a:p>
            <a:pPr algn="ctr"/>
            <a:r>
              <a:rPr sz="850" b="1" i="0" dirty="0">
                <a:solidFill>
                  <a:srgbClr val="1A1A1E"/>
                </a:solidFill>
                <a:latin typeface="Inter"/>
              </a:rPr>
              <a:t>Also:  </a:t>
            </a:r>
            <a:r>
              <a:rPr lang="en-US" sz="850" b="0" i="0" dirty="0">
                <a:solidFill>
                  <a:srgbClr val="4A5668"/>
                </a:solidFill>
                <a:latin typeface="Inter"/>
              </a:rPr>
              <a:t>fails safe if the service is down   ·   open weights on our hardware   ·   nothing leaves the estate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p:cNvSpPr/>
          <p:nvPr/>
        </p:nvSpPr>
        <p:spPr>
          <a:xfrm>
            <a:off x="667512" y="1207008"/>
            <a:ext cx="3108960" cy="3273552"/>
          </a:xfrm>
          <a:prstGeom prst="roundRect">
            <a:avLst>
              <a:gd name="adj" fmla="val 6171"/>
            </a:avLst>
          </a:prstGeom>
          <a:solidFill>
            <a:srgbClr val="F4F6FA"/>
          </a:solidFill>
          <a:ln w="6787">
            <a:solidFill>
              <a:srgbClr val="C1702D"/>
            </a:solidFill>
            <a:prstDash val="dash"/>
          </a:ln>
        </p:spPr>
        <p:txBody>
          <a:bodyPr/>
          <a:lstStyle/>
          <a:p>
            <a:endParaRPr dirty="0"/>
          </a:p>
        </p:txBody>
      </p:sp>
      <p:sp>
        <p:nvSpPr>
          <p:cNvPr id="41" name="Rectangle 40"/>
          <p:cNvSpPr/>
          <p:nvPr/>
        </p:nvSpPr>
        <p:spPr>
          <a:xfrm>
            <a:off x="0" y="0"/>
            <a:ext cx="9144000" cy="266700"/>
          </a:xfrm>
          <a:prstGeom prst="rect">
            <a:avLst/>
          </a:prstGeom>
          <a:solidFill>
            <a:srgbClr val="1A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66750" y="80962"/>
            <a:ext cx="7620000" cy="194310"/>
          </a:xfrm>
          <a:prstGeom prst="rect">
            <a:avLst/>
          </a:prstGeom>
          <a:noFill/>
        </p:spPr>
        <p:txBody>
          <a:bodyPr wrap="none" lIns="0" tIns="0" rIns="0" bIns="0">
            <a:spAutoFit/>
          </a:bodyPr>
          <a:lstStyle/>
          <a:p>
            <a:pPr algn="l">
              <a:lnSpc>
                <a:spcPct val="100000"/>
              </a:lnSpc>
            </a:pPr>
            <a:r>
              <a:rPr sz="855" b="1" spc="21">
                <a:solidFill>
                  <a:srgbClr val="FFFFFF"/>
                </a:solidFill>
                <a:latin typeface="Inter"/>
              </a:rPr>
              <a:t>SAMSUNG SDS</a:t>
            </a:r>
            <a:r>
              <a:rPr sz="855" b="0" spc="21">
                <a:solidFill>
                  <a:srgbClr val="B9C6DA"/>
                </a:solidFill>
                <a:latin typeface="Inter"/>
              </a:rPr>
              <a:t>   |   </a:t>
            </a:r>
            <a:r>
              <a:rPr sz="855" b="1" spc="21">
                <a:solidFill>
                  <a:srgbClr val="B9C6DA"/>
                </a:solidFill>
                <a:latin typeface="Inter"/>
              </a:rPr>
              <a:t>COMMERCIAL CASE</a:t>
            </a:r>
          </a:p>
        </p:txBody>
      </p:sp>
      <p:sp>
        <p:nvSpPr>
          <p:cNvPr id="43" name="Rectangle 42"/>
          <p:cNvSpPr/>
          <p:nvPr/>
        </p:nvSpPr>
        <p:spPr>
          <a:xfrm>
            <a:off x="666750" y="404812"/>
            <a:ext cx="300038" cy="38100"/>
          </a:xfrm>
          <a:prstGeom prst="rect">
            <a:avLst/>
          </a:prstGeom>
          <a:solidFill>
            <a:srgbClr val="161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Rectangle 43"/>
          <p:cNvSpPr/>
          <p:nvPr/>
        </p:nvSpPr>
        <p:spPr>
          <a:xfrm>
            <a:off x="1000125" y="404812"/>
            <a:ext cx="300038" cy="38100"/>
          </a:xfrm>
          <a:prstGeom prst="rect">
            <a:avLst/>
          </a:prstGeom>
          <a:solidFill>
            <a:srgbClr val="2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ectangle 44"/>
          <p:cNvSpPr/>
          <p:nvPr/>
        </p:nvSpPr>
        <p:spPr>
          <a:xfrm>
            <a:off x="1333500" y="404812"/>
            <a:ext cx="300038" cy="38100"/>
          </a:xfrm>
          <a:prstGeom prst="rect">
            <a:avLst/>
          </a:prstGeom>
          <a:solidFill>
            <a:srgbClr val="5F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1666875" y="404812"/>
            <a:ext cx="300038" cy="38100"/>
          </a:xfrm>
          <a:prstGeom prst="rect">
            <a:avLst/>
          </a:prstGeom>
          <a:solidFill>
            <a:srgbClr val="C170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3143250" y="4933950"/>
            <a:ext cx="2857500" cy="137636"/>
          </a:xfrm>
          <a:prstGeom prst="rect">
            <a:avLst/>
          </a:prstGeom>
          <a:noFill/>
        </p:spPr>
        <p:txBody>
          <a:bodyPr wrap="none" lIns="0" tIns="0" rIns="0" bIns="0">
            <a:spAutoFit/>
          </a:bodyPr>
          <a:lstStyle/>
          <a:p>
            <a:pPr algn="ctr">
              <a:lnSpc>
                <a:spcPct val="100000"/>
              </a:lnSpc>
            </a:pPr>
            <a:r>
              <a:rPr sz="606" b="0" spc="57">
                <a:solidFill>
                  <a:srgbClr val="7A7F8A"/>
                </a:solidFill>
                <a:latin typeface="Inter"/>
              </a:rPr>
              <a:t>Confidential</a:t>
            </a:r>
          </a:p>
        </p:txBody>
      </p:sp>
      <p:sp>
        <p:nvSpPr>
          <p:cNvPr id="48" name="TextBox 47"/>
          <p:cNvSpPr txBox="1"/>
          <p:nvPr/>
        </p:nvSpPr>
        <p:spPr>
          <a:xfrm>
            <a:off x="7929215" y="4752975"/>
            <a:ext cx="548035" cy="82202"/>
          </a:xfrm>
          <a:prstGeom prst="rect">
            <a:avLst/>
          </a:prstGeom>
          <a:noFill/>
        </p:spPr>
        <p:txBody>
          <a:bodyPr wrap="none" lIns="0" tIns="0" rIns="0" bIns="0">
            <a:spAutoFit/>
          </a:bodyPr>
          <a:lstStyle/>
          <a:p>
            <a:pPr algn="r"/>
            <a:r>
              <a:rPr lang="en-US" sz="534" b="0" i="0" spc="78" dirty="0">
                <a:solidFill>
                  <a:srgbClr val="7A7F8A"/>
                </a:solidFill>
                <a:latin typeface="Inter"/>
              </a:rPr>
              <a:t>PAGE 10 / 10</a:t>
            </a:r>
          </a:p>
        </p:txBody>
      </p:sp>
      <p:sp>
        <p:nvSpPr>
          <p:cNvPr id="49" name="TextBox 48">
            <a:hlinkClick r:id="rId3" action="ppaction://hlinksldjump"/>
          </p:cNvPr>
          <p:cNvSpPr txBox="1"/>
          <p:nvPr/>
        </p:nvSpPr>
        <p:spPr>
          <a:xfrm>
            <a:off x="5619750" y="4895850"/>
            <a:ext cx="2857500" cy="194310"/>
          </a:xfrm>
          <a:prstGeom prst="rect">
            <a:avLst/>
          </a:prstGeom>
          <a:noFill/>
        </p:spPr>
        <p:txBody>
          <a:bodyPr wrap="none" lIns="0" tIns="0" rIns="0" bIns="0">
            <a:spAutoFit/>
          </a:bodyPr>
          <a:lstStyle/>
          <a:p>
            <a:pPr algn="r">
              <a:lnSpc>
                <a:spcPct val="100000"/>
              </a:lnSpc>
            </a:pPr>
            <a:r>
              <a:rPr sz="855" b="1" spc="14">
                <a:solidFill>
                  <a:srgbClr val="1428A0"/>
                </a:solidFill>
                <a:latin typeface="Inter"/>
              </a:rPr>
              <a:t>SAMSUNG SDS</a:t>
            </a:r>
          </a:p>
        </p:txBody>
      </p:sp>
      <p:sp>
        <p:nvSpPr>
          <p:cNvPr id="50" name="Title"/>
          <p:cNvSpPr txBox="1"/>
          <p:nvPr/>
        </p:nvSpPr>
        <p:spPr>
          <a:xfrm>
            <a:off x="667512" y="548640"/>
            <a:ext cx="7808975" cy="384048"/>
          </a:xfrm>
          <a:prstGeom prst="rect">
            <a:avLst/>
          </a:prstGeom>
          <a:noFill/>
        </p:spPr>
        <p:txBody>
          <a:bodyPr wrap="square" lIns="0" tIns="0" rIns="0" bIns="0" anchor="t">
            <a:noAutofit/>
          </a:bodyPr>
          <a:lstStyle/>
          <a:p>
            <a:pPr algn="l"/>
            <a:r>
              <a:rPr lang="en-US" sz="2000" b="1" i="0" spc="-60" dirty="0">
                <a:solidFill>
                  <a:srgbClr val="1A1A1E"/>
                </a:solidFill>
                <a:latin typeface="Inter"/>
              </a:rPr>
              <a:t>The Healing Agent gives back ~16,800 engineer-hours a year.</a:t>
            </a:r>
          </a:p>
        </p:txBody>
      </p:sp>
      <p:sp>
        <p:nvSpPr>
          <p:cNvPr id="51" name="Assumptions label"/>
          <p:cNvSpPr txBox="1"/>
          <p:nvPr/>
        </p:nvSpPr>
        <p:spPr>
          <a:xfrm>
            <a:off x="868680" y="1353312"/>
            <a:ext cx="2743200" cy="146304"/>
          </a:xfrm>
          <a:prstGeom prst="rect">
            <a:avLst/>
          </a:prstGeom>
          <a:noFill/>
        </p:spPr>
        <p:txBody>
          <a:bodyPr wrap="square" lIns="0" tIns="0" rIns="0" bIns="0" anchor="t">
            <a:noAutofit/>
          </a:bodyPr>
          <a:lstStyle/>
          <a:p>
            <a:pPr algn="l"/>
            <a:r>
              <a:rPr sz="750" b="1" i="0" spc="90">
                <a:solidFill>
                  <a:srgbClr val="9A5620"/>
                </a:solidFill>
                <a:latin typeface="Inter"/>
              </a:rPr>
              <a:t>THE MODEL  ·  FIVE ASSUMPTIONS</a:t>
            </a:r>
          </a:p>
        </p:txBody>
      </p:sp>
      <p:sp>
        <p:nvSpPr>
          <p:cNvPr id="53" name="Assumption value 1"/>
          <p:cNvSpPr txBox="1"/>
          <p:nvPr/>
        </p:nvSpPr>
        <p:spPr>
          <a:xfrm>
            <a:off x="868680" y="1682496"/>
            <a:ext cx="914400" cy="329184"/>
          </a:xfrm>
          <a:prstGeom prst="rect">
            <a:avLst/>
          </a:prstGeom>
          <a:noFill/>
        </p:spPr>
        <p:txBody>
          <a:bodyPr wrap="square" lIns="0" tIns="0" rIns="0" bIns="0" anchor="ctr">
            <a:spAutoFit/>
          </a:bodyPr>
          <a:lstStyle/>
          <a:p>
            <a:pPr algn="l"/>
            <a:r>
              <a:rPr sz="1600" b="1">
                <a:solidFill>
                  <a:srgbClr val="1A1A1E"/>
                </a:solidFill>
                <a:latin typeface="Inter"/>
              </a:rPr>
              <a:t>500+</a:t>
            </a:r>
          </a:p>
        </p:txBody>
      </p:sp>
      <p:sp>
        <p:nvSpPr>
          <p:cNvPr id="55" name="Assumption label 1"/>
          <p:cNvSpPr txBox="1"/>
          <p:nvPr/>
        </p:nvSpPr>
        <p:spPr>
          <a:xfrm>
            <a:off x="1783080" y="1682496"/>
            <a:ext cx="1874519" cy="329184"/>
          </a:xfrm>
          <a:prstGeom prst="rect">
            <a:avLst/>
          </a:prstGeom>
          <a:noFill/>
        </p:spPr>
        <p:txBody>
          <a:bodyPr wrap="square" lIns="0" tIns="0" rIns="0" bIns="0" anchor="ctr">
            <a:spAutoFit/>
          </a:bodyPr>
          <a:lstStyle/>
          <a:p>
            <a:pPr algn="l"/>
            <a:r>
              <a:rPr sz="950" b="0">
                <a:solidFill>
                  <a:srgbClr val="4A5668"/>
                </a:solidFill>
                <a:latin typeface="Inter"/>
              </a:rPr>
              <a:t>processes in scope</a:t>
            </a:r>
          </a:p>
        </p:txBody>
      </p:sp>
      <p:sp>
        <p:nvSpPr>
          <p:cNvPr id="57" name="Assumption value 2"/>
          <p:cNvSpPr txBox="1"/>
          <p:nvPr/>
        </p:nvSpPr>
        <p:spPr>
          <a:xfrm>
            <a:off x="868680" y="2212848"/>
            <a:ext cx="914400" cy="329184"/>
          </a:xfrm>
          <a:prstGeom prst="rect">
            <a:avLst/>
          </a:prstGeom>
          <a:noFill/>
        </p:spPr>
        <p:txBody>
          <a:bodyPr wrap="square" lIns="0" tIns="0" rIns="0" bIns="0" anchor="ctr">
            <a:spAutoFit/>
          </a:bodyPr>
          <a:lstStyle/>
          <a:p>
            <a:pPr algn="l"/>
            <a:r>
              <a:rPr sz="1600" b="1">
                <a:solidFill>
                  <a:srgbClr val="1A1A1E"/>
                </a:solidFill>
                <a:latin typeface="Inter"/>
              </a:rPr>
              <a:t>~40</a:t>
            </a:r>
          </a:p>
        </p:txBody>
      </p:sp>
      <p:sp>
        <p:nvSpPr>
          <p:cNvPr id="59" name="Assumption label 2"/>
          <p:cNvSpPr txBox="1"/>
          <p:nvPr/>
        </p:nvSpPr>
        <p:spPr>
          <a:xfrm>
            <a:off x="1783080" y="2212848"/>
            <a:ext cx="1874519" cy="329184"/>
          </a:xfrm>
          <a:prstGeom prst="rect">
            <a:avLst/>
          </a:prstGeom>
          <a:noFill/>
        </p:spPr>
        <p:txBody>
          <a:bodyPr wrap="square" lIns="0" tIns="0" rIns="0" bIns="0" anchor="ctr">
            <a:spAutoFit/>
          </a:bodyPr>
          <a:lstStyle/>
          <a:p>
            <a:pPr algn="l"/>
            <a:r>
              <a:rPr sz="950" b="0">
                <a:solidFill>
                  <a:srgbClr val="4A5668"/>
                </a:solidFill>
                <a:latin typeface="Inter"/>
              </a:rPr>
              <a:t>locators per process</a:t>
            </a:r>
          </a:p>
        </p:txBody>
      </p:sp>
      <p:sp>
        <p:nvSpPr>
          <p:cNvPr id="61" name="Assumption value 3"/>
          <p:cNvSpPr txBox="1"/>
          <p:nvPr/>
        </p:nvSpPr>
        <p:spPr>
          <a:xfrm>
            <a:off x="868680" y="2743200"/>
            <a:ext cx="914400" cy="329184"/>
          </a:xfrm>
          <a:prstGeom prst="rect">
            <a:avLst/>
          </a:prstGeom>
          <a:noFill/>
        </p:spPr>
        <p:txBody>
          <a:bodyPr wrap="square" lIns="0" tIns="0" rIns="0" bIns="0" anchor="ctr">
            <a:spAutoFit/>
          </a:bodyPr>
          <a:lstStyle/>
          <a:p>
            <a:pPr algn="l"/>
            <a:r>
              <a:rPr sz="1600" b="1">
                <a:solidFill>
                  <a:srgbClr val="1A1A1E"/>
                </a:solidFill>
                <a:latin typeface="Inter"/>
              </a:rPr>
              <a:t>8%</a:t>
            </a:r>
          </a:p>
        </p:txBody>
      </p:sp>
      <p:sp>
        <p:nvSpPr>
          <p:cNvPr id="63" name="Assumption label 3"/>
          <p:cNvSpPr txBox="1"/>
          <p:nvPr/>
        </p:nvSpPr>
        <p:spPr>
          <a:xfrm>
            <a:off x="1783080" y="2743200"/>
            <a:ext cx="1874519" cy="329184"/>
          </a:xfrm>
          <a:prstGeom prst="rect">
            <a:avLst/>
          </a:prstGeom>
          <a:noFill/>
        </p:spPr>
        <p:txBody>
          <a:bodyPr wrap="square" lIns="0" tIns="0" rIns="0" bIns="0" anchor="ctr">
            <a:spAutoFit/>
          </a:bodyPr>
          <a:lstStyle/>
          <a:p>
            <a:pPr algn="l"/>
            <a:r>
              <a:rPr sz="950" b="0">
                <a:solidFill>
                  <a:srgbClr val="4A5668"/>
                </a:solidFill>
                <a:latin typeface="Inter"/>
              </a:rPr>
              <a:t>break each quarter</a:t>
            </a:r>
          </a:p>
        </p:txBody>
      </p:sp>
      <p:sp>
        <p:nvSpPr>
          <p:cNvPr id="65" name="Assumption value 4"/>
          <p:cNvSpPr txBox="1"/>
          <p:nvPr/>
        </p:nvSpPr>
        <p:spPr>
          <a:xfrm>
            <a:off x="868680" y="3273552"/>
            <a:ext cx="914400" cy="329184"/>
          </a:xfrm>
          <a:prstGeom prst="rect">
            <a:avLst/>
          </a:prstGeom>
          <a:noFill/>
        </p:spPr>
        <p:txBody>
          <a:bodyPr wrap="square" lIns="0" tIns="0" rIns="0" bIns="0" anchor="ctr">
            <a:spAutoFit/>
          </a:bodyPr>
          <a:lstStyle/>
          <a:p>
            <a:pPr algn="l"/>
            <a:r>
              <a:rPr sz="1600" b="1">
                <a:solidFill>
                  <a:srgbClr val="1A1A1E"/>
                </a:solidFill>
                <a:latin typeface="Inter"/>
              </a:rPr>
              <a:t>3.5 h</a:t>
            </a:r>
          </a:p>
        </p:txBody>
      </p:sp>
      <p:sp>
        <p:nvSpPr>
          <p:cNvPr id="67" name="Assumption label 4"/>
          <p:cNvSpPr txBox="1"/>
          <p:nvPr/>
        </p:nvSpPr>
        <p:spPr>
          <a:xfrm>
            <a:off x="1783080" y="3273552"/>
            <a:ext cx="1874519" cy="329184"/>
          </a:xfrm>
          <a:prstGeom prst="rect">
            <a:avLst/>
          </a:prstGeom>
          <a:noFill/>
        </p:spPr>
        <p:txBody>
          <a:bodyPr wrap="square" lIns="0" tIns="0" rIns="0" bIns="0" anchor="ctr">
            <a:spAutoFit/>
          </a:bodyPr>
          <a:lstStyle/>
          <a:p>
            <a:pPr algn="l"/>
            <a:r>
              <a:rPr sz="950" b="0">
                <a:solidFill>
                  <a:srgbClr val="4A5668"/>
                </a:solidFill>
                <a:latin typeface="Inter"/>
              </a:rPr>
              <a:t>engineer time per fix</a:t>
            </a:r>
          </a:p>
        </p:txBody>
      </p:sp>
      <p:sp>
        <p:nvSpPr>
          <p:cNvPr id="69" name="Assumption value 5"/>
          <p:cNvSpPr txBox="1"/>
          <p:nvPr/>
        </p:nvSpPr>
        <p:spPr>
          <a:xfrm>
            <a:off x="868680" y="3803904"/>
            <a:ext cx="914400" cy="329184"/>
          </a:xfrm>
          <a:prstGeom prst="rect">
            <a:avLst/>
          </a:prstGeom>
          <a:noFill/>
        </p:spPr>
        <p:txBody>
          <a:bodyPr wrap="square" lIns="0" tIns="0" rIns="0" bIns="0" anchor="ctr">
            <a:spAutoFit/>
          </a:bodyPr>
          <a:lstStyle/>
          <a:p>
            <a:pPr algn="l"/>
            <a:r>
              <a:rPr sz="1600" b="1">
                <a:solidFill>
                  <a:srgbClr val="1A1A1E"/>
                </a:solidFill>
                <a:latin typeface="Inter"/>
              </a:rPr>
              <a:t>75%</a:t>
            </a:r>
          </a:p>
        </p:txBody>
      </p:sp>
      <p:sp>
        <p:nvSpPr>
          <p:cNvPr id="71" name="Assumption label 5"/>
          <p:cNvSpPr txBox="1"/>
          <p:nvPr/>
        </p:nvSpPr>
        <p:spPr>
          <a:xfrm>
            <a:off x="1783080" y="3803904"/>
            <a:ext cx="1874519" cy="329184"/>
          </a:xfrm>
          <a:prstGeom prst="rect">
            <a:avLst/>
          </a:prstGeom>
          <a:noFill/>
        </p:spPr>
        <p:txBody>
          <a:bodyPr wrap="square" lIns="0" tIns="0" rIns="0" bIns="0" anchor="ctr">
            <a:spAutoFit/>
          </a:bodyPr>
          <a:lstStyle/>
          <a:p>
            <a:pPr algn="l"/>
            <a:r>
              <a:rPr sz="950" b="0">
                <a:solidFill>
                  <a:srgbClr val="4A5668"/>
                </a:solidFill>
                <a:latin typeface="Inter"/>
              </a:rPr>
              <a:t>healed without a person</a:t>
            </a:r>
          </a:p>
        </p:txBody>
      </p:sp>
      <p:sp>
        <p:nvSpPr>
          <p:cNvPr id="73" name="Result card 1"/>
          <p:cNvSpPr/>
          <p:nvPr/>
        </p:nvSpPr>
        <p:spPr>
          <a:xfrm>
            <a:off x="4023360" y="1207008"/>
            <a:ext cx="4453128" cy="841248"/>
          </a:xfrm>
          <a:prstGeom prst="roundRect">
            <a:avLst>
              <a:gd name="adj" fmla="val 10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Result value 1"/>
          <p:cNvSpPr txBox="1"/>
          <p:nvPr/>
        </p:nvSpPr>
        <p:spPr>
          <a:xfrm>
            <a:off x="4251960" y="1207008"/>
            <a:ext cx="1600200" cy="841248"/>
          </a:xfrm>
          <a:prstGeom prst="rect">
            <a:avLst/>
          </a:prstGeom>
          <a:noFill/>
        </p:spPr>
        <p:txBody>
          <a:bodyPr wrap="square" lIns="0" tIns="0" rIns="0" bIns="0" anchor="ctr">
            <a:spAutoFit/>
          </a:bodyPr>
          <a:lstStyle/>
          <a:p>
            <a:pPr algn="l"/>
            <a:r>
              <a:rPr sz="2400" b="1">
                <a:solidFill>
                  <a:srgbClr val="1A1A1E"/>
                </a:solidFill>
                <a:latin typeface="Inter"/>
              </a:rPr>
              <a:t>6,400</a:t>
            </a:r>
          </a:p>
        </p:txBody>
      </p:sp>
      <p:sp>
        <p:nvSpPr>
          <p:cNvPr id="77" name="Result label 1"/>
          <p:cNvSpPr txBox="1"/>
          <p:nvPr/>
        </p:nvSpPr>
        <p:spPr>
          <a:xfrm>
            <a:off x="5897880" y="1426464"/>
            <a:ext cx="2468880" cy="219456"/>
          </a:xfrm>
          <a:prstGeom prst="rect">
            <a:avLst/>
          </a:prstGeom>
          <a:noFill/>
        </p:spPr>
        <p:txBody>
          <a:bodyPr wrap="square" lIns="0" tIns="0" rIns="0" bIns="0" anchor="t">
            <a:spAutoFit/>
          </a:bodyPr>
          <a:lstStyle/>
          <a:p>
            <a:pPr algn="l"/>
            <a:r>
              <a:rPr sz="1050" b="1">
                <a:solidFill>
                  <a:srgbClr val="1A1A1E"/>
                </a:solidFill>
                <a:latin typeface="Inter"/>
              </a:rPr>
              <a:t>selector breaks a year</a:t>
            </a:r>
          </a:p>
        </p:txBody>
      </p:sp>
      <p:sp>
        <p:nvSpPr>
          <p:cNvPr id="79" name="Result formula 1"/>
          <p:cNvSpPr txBox="1"/>
          <p:nvPr/>
        </p:nvSpPr>
        <p:spPr>
          <a:xfrm>
            <a:off x="5897880" y="1664208"/>
            <a:ext cx="2468880" cy="182880"/>
          </a:xfrm>
          <a:prstGeom prst="rect">
            <a:avLst/>
          </a:prstGeom>
          <a:noFill/>
        </p:spPr>
        <p:txBody>
          <a:bodyPr wrap="square" lIns="0" tIns="0" rIns="0" bIns="0" anchor="t">
            <a:spAutoFit/>
          </a:bodyPr>
          <a:lstStyle/>
          <a:p>
            <a:pPr algn="l"/>
            <a:r>
              <a:rPr sz="750" b="0">
                <a:solidFill>
                  <a:srgbClr val="4A5668"/>
                </a:solidFill>
                <a:latin typeface="JetBrains Mono"/>
              </a:rPr>
              <a:t>500 × 40 × 8% × 4 quarters</a:t>
            </a:r>
          </a:p>
        </p:txBody>
      </p:sp>
      <p:sp>
        <p:nvSpPr>
          <p:cNvPr id="81" name="Result card 2"/>
          <p:cNvSpPr/>
          <p:nvPr/>
        </p:nvSpPr>
        <p:spPr>
          <a:xfrm>
            <a:off x="4023360" y="2185416"/>
            <a:ext cx="4453128" cy="841248"/>
          </a:xfrm>
          <a:prstGeom prst="roundRect">
            <a:avLst>
              <a:gd name="adj" fmla="val 10000"/>
            </a:avLst>
          </a:prstGeom>
          <a:solidFill>
            <a:srgbClr val="F4F6FA"/>
          </a:solidFill>
          <a:ln w="9525">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Result value 2"/>
          <p:cNvSpPr txBox="1"/>
          <p:nvPr/>
        </p:nvSpPr>
        <p:spPr>
          <a:xfrm>
            <a:off x="4251960" y="2185416"/>
            <a:ext cx="1600200" cy="841248"/>
          </a:xfrm>
          <a:prstGeom prst="rect">
            <a:avLst/>
          </a:prstGeom>
          <a:noFill/>
        </p:spPr>
        <p:txBody>
          <a:bodyPr wrap="square" lIns="0" tIns="0" rIns="0" bIns="0" anchor="ctr">
            <a:spAutoFit/>
          </a:bodyPr>
          <a:lstStyle/>
          <a:p>
            <a:pPr algn="l"/>
            <a:r>
              <a:rPr sz="2400" b="1">
                <a:solidFill>
                  <a:srgbClr val="1A1A1E"/>
                </a:solidFill>
                <a:latin typeface="Inter"/>
              </a:rPr>
              <a:t>22,400</a:t>
            </a:r>
          </a:p>
        </p:txBody>
      </p:sp>
      <p:sp>
        <p:nvSpPr>
          <p:cNvPr id="85" name="Result label 2"/>
          <p:cNvSpPr txBox="1"/>
          <p:nvPr/>
        </p:nvSpPr>
        <p:spPr>
          <a:xfrm>
            <a:off x="5897880" y="2404872"/>
            <a:ext cx="2468880" cy="219456"/>
          </a:xfrm>
          <a:prstGeom prst="rect">
            <a:avLst/>
          </a:prstGeom>
          <a:noFill/>
        </p:spPr>
        <p:txBody>
          <a:bodyPr wrap="square" lIns="0" tIns="0" rIns="0" bIns="0" anchor="t">
            <a:spAutoFit/>
          </a:bodyPr>
          <a:lstStyle/>
          <a:p>
            <a:pPr algn="l"/>
            <a:r>
              <a:rPr sz="1050" b="1">
                <a:solidFill>
                  <a:srgbClr val="1A1A1E"/>
                </a:solidFill>
                <a:latin typeface="Inter"/>
              </a:rPr>
              <a:t>engineer-hours spent today</a:t>
            </a:r>
          </a:p>
        </p:txBody>
      </p:sp>
      <p:sp>
        <p:nvSpPr>
          <p:cNvPr id="87" name="Result formula 2"/>
          <p:cNvSpPr txBox="1"/>
          <p:nvPr/>
        </p:nvSpPr>
        <p:spPr>
          <a:xfrm>
            <a:off x="5897880" y="2642616"/>
            <a:ext cx="2468880" cy="182880"/>
          </a:xfrm>
          <a:prstGeom prst="rect">
            <a:avLst/>
          </a:prstGeom>
          <a:noFill/>
        </p:spPr>
        <p:txBody>
          <a:bodyPr wrap="square" lIns="0" tIns="0" rIns="0" bIns="0" anchor="t">
            <a:spAutoFit/>
          </a:bodyPr>
          <a:lstStyle/>
          <a:p>
            <a:pPr algn="l"/>
            <a:r>
              <a:rPr sz="750" b="0">
                <a:solidFill>
                  <a:srgbClr val="4A5668"/>
                </a:solidFill>
                <a:latin typeface="JetBrains Mono"/>
              </a:rPr>
              <a:t>6,400 × 3.5 h</a:t>
            </a:r>
          </a:p>
        </p:txBody>
      </p:sp>
      <p:sp>
        <p:nvSpPr>
          <p:cNvPr id="89" name="Result card 3"/>
          <p:cNvSpPr/>
          <p:nvPr/>
        </p:nvSpPr>
        <p:spPr>
          <a:xfrm>
            <a:off x="4023360" y="3163824"/>
            <a:ext cx="4453128" cy="1316736"/>
          </a:xfrm>
          <a:prstGeom prst="roundRect">
            <a:avLst>
              <a:gd name="adj" fmla="val 10000"/>
            </a:avLst>
          </a:prstGeom>
          <a:solidFill>
            <a:srgbClr val="4A6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Result value 3"/>
          <p:cNvSpPr txBox="1"/>
          <p:nvPr/>
        </p:nvSpPr>
        <p:spPr>
          <a:xfrm>
            <a:off x="4251960" y="3163824"/>
            <a:ext cx="1920240" cy="1316736"/>
          </a:xfrm>
          <a:prstGeom prst="rect">
            <a:avLst/>
          </a:prstGeom>
          <a:noFill/>
        </p:spPr>
        <p:txBody>
          <a:bodyPr wrap="square" lIns="0" tIns="0" rIns="0" bIns="0" anchor="ctr">
            <a:spAutoFit/>
          </a:bodyPr>
          <a:lstStyle/>
          <a:p>
            <a:pPr algn="l"/>
            <a:r>
              <a:rPr sz="3400" b="1">
                <a:solidFill>
                  <a:srgbClr val="FFFFFF"/>
                </a:solidFill>
                <a:latin typeface="Inter"/>
              </a:rPr>
              <a:t>16,800</a:t>
            </a:r>
          </a:p>
        </p:txBody>
      </p:sp>
      <p:sp>
        <p:nvSpPr>
          <p:cNvPr id="93" name="Result label 3"/>
          <p:cNvSpPr txBox="1"/>
          <p:nvPr/>
        </p:nvSpPr>
        <p:spPr>
          <a:xfrm>
            <a:off x="5897880" y="3547872"/>
            <a:ext cx="2468880" cy="274320"/>
          </a:xfrm>
          <a:prstGeom prst="rect">
            <a:avLst/>
          </a:prstGeom>
          <a:noFill/>
        </p:spPr>
        <p:txBody>
          <a:bodyPr wrap="square" lIns="0" tIns="0" rIns="0" bIns="0" anchor="t">
            <a:spAutoFit/>
          </a:bodyPr>
          <a:lstStyle/>
          <a:p>
            <a:pPr algn="l"/>
            <a:r>
              <a:rPr sz="1200" b="1">
                <a:solidFill>
                  <a:srgbClr val="FFFFFF"/>
                </a:solidFill>
                <a:latin typeface="Inter"/>
              </a:rPr>
              <a:t>engineer-hours saved a year</a:t>
            </a:r>
          </a:p>
        </p:txBody>
      </p:sp>
      <p:sp>
        <p:nvSpPr>
          <p:cNvPr id="95" name="Result formula 3"/>
          <p:cNvSpPr txBox="1"/>
          <p:nvPr/>
        </p:nvSpPr>
        <p:spPr>
          <a:xfrm>
            <a:off x="5897880" y="3895344"/>
            <a:ext cx="2468880" cy="182880"/>
          </a:xfrm>
          <a:prstGeom prst="rect">
            <a:avLst/>
          </a:prstGeom>
          <a:noFill/>
        </p:spPr>
        <p:txBody>
          <a:bodyPr wrap="square" lIns="0" tIns="0" rIns="0" bIns="0" anchor="t">
            <a:spAutoFit/>
          </a:bodyPr>
          <a:lstStyle/>
          <a:p>
            <a:pPr algn="l"/>
            <a:r>
              <a:rPr sz="800" b="0">
                <a:solidFill>
                  <a:srgbClr val="DDE8CF"/>
                </a:solidFill>
                <a:latin typeface="JetBrains Mono"/>
              </a:rPr>
              <a:t>22,400 h × 75% healed</a:t>
            </a:r>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1183</TotalTime>
  <Words>3116</Words>
  <Application>Microsoft Office PowerPoint</Application>
  <PresentationFormat>On-screen Show (16:9)</PresentationFormat>
  <Paragraphs>341</Paragraphs>
  <Slides>10</Slides>
  <Notes>10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Inter</vt:lpstr>
      <vt:lpstr>Arial</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Tushar Agrawal</cp:lastModifiedBy>
  <cp:revision>82</cp:revision>
  <dcterms:created xsi:type="dcterms:W3CDTF">2026-09-07T12:54:47Z</dcterms:created>
  <dcterms:modified xsi:type="dcterms:W3CDTF">2026-10-21T12:09:51Z</dcterms:modified>
</cp:coreProperties>
</file>